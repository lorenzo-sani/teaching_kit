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9"/>
  </p:notesMasterIdLst>
  <p:handoutMasterIdLst>
    <p:handoutMasterId r:id="rId10"/>
  </p:handoutMasterIdLst>
  <p:sldIdLst>
    <p:sldId id="289" r:id="rId2"/>
    <p:sldId id="290" r:id="rId3"/>
    <p:sldId id="291" r:id="rId4"/>
    <p:sldId id="295" r:id="rId5"/>
    <p:sldId id="296" r:id="rId6"/>
    <p:sldId id="297" r:id="rId7"/>
    <p:sldId id="2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ory" id="{5B76C388-05C0-458F-BDC2-CBA8585B64FC}">
          <p14:sldIdLst>
            <p14:sldId id="289"/>
            <p14:sldId id="290"/>
            <p14:sldId id="291"/>
            <p14:sldId id="295"/>
            <p14:sldId id="296"/>
            <p14:sldId id="297"/>
            <p14:sldId id="298"/>
          </p14:sldIdLst>
        </p14:section>
        <p14:section name="Exercise" id="{67C09E00-28A5-460B-BAEF-ECF2DD88539B}">
          <p14:sldIdLst/>
        </p14:section>
        <p14:section name="Credits" id="{F6CADD49-E24E-442F-AC70-821AB5C0C4A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3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2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8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ETSAP =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Technology</a:t>
            </a:r>
            <a:r>
              <a:rPr lang="fr-FR" baseline="0" dirty="0"/>
              <a:t> </a:t>
            </a:r>
            <a:r>
              <a:rPr lang="fr-FR" baseline="0" dirty="0" err="1"/>
              <a:t>Systems</a:t>
            </a:r>
            <a:r>
              <a:rPr lang="fr-FR" baseline="0" dirty="0"/>
              <a:t> </a:t>
            </a:r>
            <a:r>
              <a:rPr lang="fr-FR" baseline="0" dirty="0" err="1"/>
              <a:t>Analysis</a:t>
            </a:r>
            <a:r>
              <a:rPr lang="fr-FR" baseline="0" dirty="0"/>
              <a:t> Program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75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OCGT Open Cycle </a:t>
            </a:r>
            <a:r>
              <a:rPr lang="fr-FR" dirty="0" err="1"/>
              <a:t>Gas</a:t>
            </a:r>
            <a:r>
              <a:rPr lang="fr-FR" dirty="0"/>
              <a:t> Turbine</a:t>
            </a:r>
          </a:p>
          <a:p>
            <a:r>
              <a:rPr lang="fr-FR" dirty="0"/>
              <a:t>CCGT </a:t>
            </a:r>
            <a:r>
              <a:rPr lang="fr-FR" dirty="0" err="1"/>
              <a:t>Combined</a:t>
            </a:r>
            <a:r>
              <a:rPr lang="fr-FR" dirty="0"/>
              <a:t> Cycle </a:t>
            </a:r>
            <a:r>
              <a:rPr lang="fr-FR" dirty="0" err="1"/>
              <a:t>Gas</a:t>
            </a:r>
            <a:r>
              <a:rPr lang="fr-FR" dirty="0"/>
              <a:t> Turbine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97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80195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84075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529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6061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579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15256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6524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4619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a-etsap.org/index.php/energy-technology-data/energy-supply-technologies-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a-etsap.org/index.php/energy-technology-data/energy-supply-technologies-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a-etsap.org/index.php/energy-technology-data/energy-supply-technologies-dat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a-etsap.org/index.php/energy-technology-data/energy-supply-technologies-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power plants in the 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124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79967" y="4759891"/>
            <a:ext cx="1782631" cy="7640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power plants in the 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937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966451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379178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193" y="2015925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Coal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2008900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Coal-fired Power Plant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19C9976-1CB3-4FFE-9D8A-0A504DE3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868" y="2901440"/>
            <a:ext cx="2153231" cy="7994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3268" y="3316365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F4447E15-5DB6-4DCF-9C4C-4D045EE9D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099" y="332006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4659CB31-B616-4A6D-A3B0-2BAC409C0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358" y="2890169"/>
            <a:ext cx="16210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Biomass/Waste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986527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85393C16-4F67-4900-ABBB-A3C765BDD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8007" y="2943263"/>
            <a:ext cx="19051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Biomass-fired Power Plant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0F920EC-D984-4F8A-8CAB-7CB50BDD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1" y="4758816"/>
            <a:ext cx="2177778" cy="68475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" name="Line 4">
            <a:extLst>
              <a:ext uri="{FF2B5EF4-FFF2-40B4-BE49-F238E27FC236}">
                <a16:creationId xmlns:a16="http://schemas.microsoft.com/office/drawing/2014/main" id="{7997E0C2-9FC9-4AF3-A2C4-7651AB301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8721" y="510537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51083872-0AA8-4CC3-92A7-2820B3731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2482" y="4672601"/>
            <a:ext cx="215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Heavy fuel oil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885FB838-C542-42F3-BBE9-862D611D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10" y="4774503"/>
            <a:ext cx="20799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Oil-fired Power Plant</a:t>
            </a: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F2466DF8-4609-4A1C-8E14-B35B846C3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099" y="511277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D978C91-6DF8-449E-95EF-4BD1B4F95D0B}"/>
              </a:ext>
            </a:extLst>
          </p:cNvPr>
          <p:cNvSpPr txBox="1">
            <a:spLocks/>
          </p:cNvSpPr>
          <p:nvPr/>
        </p:nvSpPr>
        <p:spPr>
          <a:xfrm>
            <a:off x="833283" y="1589243"/>
            <a:ext cx="2539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i="1" dirty="0"/>
              <a:t>Examples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38574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A19C9976-1CB3-4FFE-9D8A-0A504DE3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430" y="3817926"/>
            <a:ext cx="2163669" cy="7994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830" y="423285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F4447E15-5DB6-4DCF-9C4C-4D045EE9D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423655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4659CB31-B616-4A6D-A3B0-2BAC409C0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070" y="3806655"/>
            <a:ext cx="16210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Natural gas</a:t>
            </a:r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85393C16-4F67-4900-ABBB-A3C765BDD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569" y="3859749"/>
            <a:ext cx="19051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Natural gas-fired Power Plant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20F920EC-D984-4F8A-8CAB-7CB50BDD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935" y="5587620"/>
            <a:ext cx="2177778" cy="68475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" name="Line 4">
            <a:extLst>
              <a:ext uri="{FF2B5EF4-FFF2-40B4-BE49-F238E27FC236}">
                <a16:creationId xmlns:a16="http://schemas.microsoft.com/office/drawing/2014/main" id="{7997E0C2-9FC9-4AF3-A2C4-7651AB301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3335" y="593417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6">
            <a:extLst>
              <a:ext uri="{FF2B5EF4-FFF2-40B4-BE49-F238E27FC236}">
                <a16:creationId xmlns:a16="http://schemas.microsoft.com/office/drawing/2014/main" id="{51083872-0AA8-4CC3-92A7-2820B3731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078" y="5501405"/>
            <a:ext cx="11259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Diesel</a:t>
            </a:r>
          </a:p>
        </p:txBody>
      </p:sp>
      <p:sp>
        <p:nvSpPr>
          <p:cNvPr id="39" name="Text Box 8">
            <a:extLst>
              <a:ext uri="{FF2B5EF4-FFF2-40B4-BE49-F238E27FC236}">
                <a16:creationId xmlns:a16="http://schemas.microsoft.com/office/drawing/2014/main" id="{885FB838-C542-42F3-BBE9-862D611D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724" y="5603307"/>
            <a:ext cx="20799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Diesel-fired Power Plant / Engine</a:t>
            </a:r>
          </a:p>
        </p:txBody>
      </p:sp>
      <p:sp>
        <p:nvSpPr>
          <p:cNvPr id="40" name="Line 5">
            <a:extLst>
              <a:ext uri="{FF2B5EF4-FFF2-40B4-BE49-F238E27FC236}">
                <a16:creationId xmlns:a16="http://schemas.microsoft.com/office/drawing/2014/main" id="{F2466DF8-4609-4A1C-8E14-B35B846C3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2713" y="594157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2939208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3826956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665" y="4720360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5557140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2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657975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070702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193" y="1707449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Coal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1700424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Coal-fired Power Plant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678051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07726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739479"/>
              </p:ext>
            </p:extLst>
          </p:nvPr>
        </p:nvGraphicFramePr>
        <p:xfrm>
          <a:off x="3673771" y="2608964"/>
          <a:ext cx="4120000" cy="3708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81879">
                  <a:extLst>
                    <a:ext uri="{9D8B030D-6E8A-4147-A177-3AD203B41FA5}">
                      <a16:colId xmlns:a16="http://schemas.microsoft.com/office/drawing/2014/main" val="357745841"/>
                    </a:ext>
                  </a:extLst>
                </a:gridCol>
                <a:gridCol w="2038121">
                  <a:extLst>
                    <a:ext uri="{9D8B030D-6E8A-4147-A177-3AD203B41FA5}">
                      <a16:colId xmlns:a16="http://schemas.microsoft.com/office/drawing/2014/main" val="326818686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sv-SE" dirty="0"/>
                        <a:t>Best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Available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Technology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355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2200 $/kW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0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VOM and FOM </a:t>
                      </a:r>
                      <a:r>
                        <a:rPr lang="sv-SE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88</a:t>
                      </a:r>
                      <a:r>
                        <a:rPr lang="sv-SE" baseline="0" dirty="0"/>
                        <a:t> $/kW/a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66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Capacity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Factor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75-80%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357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Efficiency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46%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9137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="1" dirty="0" err="1"/>
                        <a:t>Integrated</a:t>
                      </a:r>
                      <a:r>
                        <a:rPr lang="sv-SE" b="1" baseline="0" dirty="0"/>
                        <a:t> </a:t>
                      </a:r>
                      <a:r>
                        <a:rPr lang="sv-SE" b="1" baseline="0" dirty="0" err="1"/>
                        <a:t>Gasification</a:t>
                      </a:r>
                      <a:r>
                        <a:rPr lang="sv-SE" b="1" baseline="0" dirty="0"/>
                        <a:t> </a:t>
                      </a:r>
                      <a:r>
                        <a:rPr lang="sv-SE" b="1" baseline="0" dirty="0" err="1"/>
                        <a:t>Combined</a:t>
                      </a:r>
                      <a:r>
                        <a:rPr lang="sv-SE" b="1" baseline="0" dirty="0"/>
                        <a:t> </a:t>
                      </a:r>
                      <a:r>
                        <a:rPr lang="sv-SE" b="1" baseline="0" dirty="0" err="1"/>
                        <a:t>Cycle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40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3700 $/kW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28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VOM and FOM </a:t>
                      </a:r>
                      <a:r>
                        <a:rPr lang="sv-SE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148 $/kW/a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485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Capacity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Factor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75-80%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8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Efficiency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46%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59804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21422" y="5938065"/>
            <a:ext cx="162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Source: </a:t>
            </a:r>
            <a:r>
              <a:rPr lang="sv-SE" b="1" dirty="0">
                <a:hlinkClick r:id="rId3"/>
              </a:rPr>
              <a:t>ETSAP</a:t>
            </a:r>
            <a:r>
              <a:rPr lang="sv-SE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characteristics of thermal power plants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049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702045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114772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375" y="1751519"/>
            <a:ext cx="13324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Natural gas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1744494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Natural gas-fired Power Plant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722121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12133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72081"/>
              </p:ext>
            </p:extLst>
          </p:nvPr>
        </p:nvGraphicFramePr>
        <p:xfrm>
          <a:off x="3757819" y="2605448"/>
          <a:ext cx="4120000" cy="3708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60000">
                  <a:extLst>
                    <a:ext uri="{9D8B030D-6E8A-4147-A177-3AD203B41FA5}">
                      <a16:colId xmlns:a16="http://schemas.microsoft.com/office/drawing/2014/main" val="357745841"/>
                    </a:ext>
                  </a:extLst>
                </a:gridCol>
                <a:gridCol w="2060000">
                  <a:extLst>
                    <a:ext uri="{9D8B030D-6E8A-4147-A177-3AD203B41FA5}">
                      <a16:colId xmlns:a16="http://schemas.microsoft.com/office/drawing/2014/main" val="411686412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sv-SE" dirty="0" err="1"/>
                        <a:t>OCGTs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87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900</a:t>
                      </a:r>
                      <a:r>
                        <a:rPr lang="sv-SE" baseline="0" dirty="0"/>
                        <a:t> $/kW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0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VOM and</a:t>
                      </a:r>
                      <a:r>
                        <a:rPr lang="sv-SE" baseline="0" dirty="0"/>
                        <a:t> FOM </a:t>
                      </a:r>
                      <a:r>
                        <a:rPr lang="sv-SE" baseline="0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36 $/kW/a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66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Lifetime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30 </a:t>
                      </a:r>
                      <a:r>
                        <a:rPr lang="sv-SE" dirty="0" err="1"/>
                        <a:t>years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68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Efficiency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35-42%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71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sv-SE" b="1" dirty="0" err="1"/>
                        <a:t>CCGTs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52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1100</a:t>
                      </a:r>
                      <a:r>
                        <a:rPr lang="sv-SE" baseline="0" dirty="0"/>
                        <a:t> $/kW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VOM and FOM </a:t>
                      </a:r>
                      <a:r>
                        <a:rPr lang="sv-SE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44</a:t>
                      </a:r>
                      <a:r>
                        <a:rPr lang="sv-SE" baseline="0" dirty="0"/>
                        <a:t> $/kW/a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2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Lifetime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30 </a:t>
                      </a:r>
                      <a:r>
                        <a:rPr lang="sv-SE" dirty="0" err="1"/>
                        <a:t>years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50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Efficiency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52-60%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7236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35480" y="5944516"/>
            <a:ext cx="162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Source: </a:t>
            </a:r>
            <a:r>
              <a:rPr lang="sv-SE" b="1" dirty="0">
                <a:hlinkClick r:id="rId3"/>
              </a:rPr>
              <a:t>ETSAP</a:t>
            </a:r>
            <a:r>
              <a:rPr lang="sv-SE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characteristics of thermal power plants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954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889332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302059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789" y="1926280"/>
            <a:ext cx="1544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Heavy fuel oil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1931781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Oil-fired Power Plant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909408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789" y="2308620"/>
            <a:ext cx="1717535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187960"/>
              </p:ext>
            </p:extLst>
          </p:nvPr>
        </p:nvGraphicFramePr>
        <p:xfrm>
          <a:off x="3741857" y="3726154"/>
          <a:ext cx="4120000" cy="2595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60000">
                  <a:extLst>
                    <a:ext uri="{9D8B030D-6E8A-4147-A177-3AD203B41FA5}">
                      <a16:colId xmlns:a16="http://schemas.microsoft.com/office/drawing/2014/main" val="357745841"/>
                    </a:ext>
                  </a:extLst>
                </a:gridCol>
                <a:gridCol w="2060000">
                  <a:extLst>
                    <a:ext uri="{9D8B030D-6E8A-4147-A177-3AD203B41FA5}">
                      <a16:colId xmlns:a16="http://schemas.microsoft.com/office/drawing/2014/main" val="411686412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sv-SE" dirty="0"/>
                        <a:t>HFO</a:t>
                      </a:r>
                      <a:r>
                        <a:rPr lang="sv-SE" baseline="0" dirty="0"/>
                        <a:t> Gas </a:t>
                      </a:r>
                      <a:r>
                        <a:rPr lang="sv-SE" baseline="0" dirty="0" err="1"/>
                        <a:t>Turbines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87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aseline="0" dirty="0"/>
                        <a:t>1490 $/kW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0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Efficiency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71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sv-SE" b="1" dirty="0"/>
                        <a:t>Diesel</a:t>
                      </a:r>
                      <a:r>
                        <a:rPr lang="sv-SE" b="1" baseline="0" dirty="0"/>
                        <a:t> generators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52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780</a:t>
                      </a:r>
                      <a:r>
                        <a:rPr lang="sv-SE" baseline="0" dirty="0"/>
                        <a:t> $/kW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FOM </a:t>
                      </a:r>
                      <a:r>
                        <a:rPr lang="sv-SE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aseline="0" dirty="0"/>
                        <a:t>8 $/kW/a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2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Efficiency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72369"/>
                  </a:ext>
                </a:extLst>
              </a:tr>
            </a:tbl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20F920EC-D984-4F8A-8CAB-7CB50BDD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409" y="2854989"/>
            <a:ext cx="2177778" cy="68475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" name="Line 4">
            <a:extLst>
              <a:ext uri="{FF2B5EF4-FFF2-40B4-BE49-F238E27FC236}">
                <a16:creationId xmlns:a16="http://schemas.microsoft.com/office/drawing/2014/main" id="{7997E0C2-9FC9-4AF3-A2C4-7651AB301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809" y="3201543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51083872-0AA8-4CC3-92A7-2820B3731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8552" y="2768774"/>
            <a:ext cx="11259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Diesel</a:t>
            </a: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885FB838-C542-42F3-BBE9-862D611D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4198" y="2870676"/>
            <a:ext cx="20799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Diesel-fired Power Plant / Engine</a:t>
            </a:r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F2466DF8-4609-4A1C-8E14-B35B846C3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0187" y="3208947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753" y="2824509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5480" y="5952702"/>
            <a:ext cx="162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Source: </a:t>
            </a:r>
            <a:r>
              <a:rPr lang="sv-SE" b="1" dirty="0">
                <a:hlinkClick r:id="rId2"/>
              </a:rPr>
              <a:t>ETSAP</a:t>
            </a:r>
            <a:r>
              <a:rPr lang="sv-SE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characteristics of thermal power plants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244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966451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379178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528" y="2015925"/>
            <a:ext cx="10054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Biomass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2008900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Biomass-fired Power Plant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986527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38574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3741857" y="3167864"/>
          <a:ext cx="4120000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60000">
                  <a:extLst>
                    <a:ext uri="{9D8B030D-6E8A-4147-A177-3AD203B41FA5}">
                      <a16:colId xmlns:a16="http://schemas.microsoft.com/office/drawing/2014/main" val="357745841"/>
                    </a:ext>
                  </a:extLst>
                </a:gridCol>
                <a:gridCol w="2060000">
                  <a:extLst>
                    <a:ext uri="{9D8B030D-6E8A-4147-A177-3AD203B41FA5}">
                      <a16:colId xmlns:a16="http://schemas.microsoft.com/office/drawing/2014/main" val="411686412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sv-SE" dirty="0"/>
                        <a:t>Biomass CHP plant</a:t>
                      </a:r>
                      <a:endParaRPr lang="sv-SE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87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</a:t>
                      </a:r>
                      <a:r>
                        <a:rPr lang="sv-SE" baseline="0" dirty="0"/>
                        <a:t> </a:t>
                      </a:r>
                      <a:r>
                        <a:rPr lang="sv-SE" baseline="0" dirty="0" err="1"/>
                        <a:t>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aseline="0" dirty="0"/>
                        <a:t>3000-6000 $/kW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0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FOM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100</a:t>
                      </a:r>
                      <a:r>
                        <a:rPr lang="sv-SE" baseline="0" dirty="0"/>
                        <a:t> $/kW/a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7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Fuel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aseline="0" dirty="0"/>
                        <a:t>30-50 $/MWh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Electric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16-36%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Totall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aseline="0" dirty="0"/>
                        <a:t>40-85%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2188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14481" y="5023572"/>
            <a:ext cx="162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Source: </a:t>
            </a:r>
            <a:r>
              <a:rPr lang="sv-SE" b="1" dirty="0">
                <a:hlinkClick r:id="rId2"/>
              </a:rPr>
              <a:t>ETSAP</a:t>
            </a:r>
            <a:r>
              <a:rPr lang="sv-SE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characteristics of thermal power plants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666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10553</TotalTime>
  <Words>291</Words>
  <Application>Microsoft Office PowerPoint</Application>
  <PresentationFormat>Widescreen</PresentationFormat>
  <Paragraphs>127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KTH-OpTIMUS-DFID</vt:lpstr>
      <vt:lpstr>Thermal power plants in the RES</vt:lpstr>
      <vt:lpstr>Thermal power plants in the RES</vt:lpstr>
      <vt:lpstr>PowerPoint Presentation</vt:lpstr>
      <vt:lpstr>Sample characteristics of thermal power plants</vt:lpstr>
      <vt:lpstr>Sample characteristics of thermal power plants</vt:lpstr>
      <vt:lpstr>Sample characteristics of thermal power plants</vt:lpstr>
      <vt:lpstr>Sample characteristics of thermal power plants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167</cp:revision>
  <dcterms:created xsi:type="dcterms:W3CDTF">2017-06-07T13:22:49Z</dcterms:created>
  <dcterms:modified xsi:type="dcterms:W3CDTF">2020-04-03T11:20:08Z</dcterms:modified>
</cp:coreProperties>
</file>