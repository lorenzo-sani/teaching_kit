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6"/>
  </p:notesMasterIdLst>
  <p:handoutMasterIdLst>
    <p:handoutMasterId r:id="rId7"/>
  </p:handoutMasterIdLst>
  <p:sldIdLst>
    <p:sldId id="303" r:id="rId2"/>
    <p:sldId id="304" r:id="rId3"/>
    <p:sldId id="313" r:id="rId4"/>
    <p:sldId id="30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3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2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8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80195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84075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529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6061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579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15256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6524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4619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transmission &amp; distribution grid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819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95559" y="1439487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5006" y="1444884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Primary</a:t>
            </a:r>
            <a:endParaRPr lang="sv-SE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5391150" y="144697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 err="1"/>
              <a:t>Secondary</a:t>
            </a:r>
            <a:endParaRPr lang="sv-SE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798230" y="1449060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Final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79" y="1749816"/>
            <a:ext cx="6035929" cy="497165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228004" y="2292263"/>
            <a:ext cx="1400348" cy="17661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transmission &amp; distribution grid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612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16148"/>
            <a:ext cx="10515600" cy="474020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</a:t>
            </a:r>
            <a:r>
              <a:rPr lang="en-US" dirty="0" err="1"/>
              <a:t>OSeMOSYS</a:t>
            </a:r>
            <a:r>
              <a:rPr lang="en-US" dirty="0"/>
              <a:t>, t</a:t>
            </a:r>
            <a:r>
              <a:rPr lang="en-US" dirty="0" smtClean="0"/>
              <a:t>hermal </a:t>
            </a:r>
            <a:r>
              <a:rPr lang="en-US" dirty="0"/>
              <a:t>p</a:t>
            </a:r>
            <a:r>
              <a:rPr lang="en-US" dirty="0" smtClean="0"/>
              <a:t>ower </a:t>
            </a:r>
            <a:r>
              <a:rPr lang="en-US" dirty="0"/>
              <a:t>p</a:t>
            </a:r>
            <a:r>
              <a:rPr lang="en-US" dirty="0" smtClean="0"/>
              <a:t>lants are characterized </a:t>
            </a:r>
            <a:r>
              <a:rPr lang="en-US" dirty="0"/>
              <a:t>by </a:t>
            </a:r>
            <a:r>
              <a:rPr lang="en-US" dirty="0" smtClean="0"/>
              <a:t>the following </a:t>
            </a:r>
            <a:r>
              <a:rPr lang="en-US" dirty="0"/>
              <a:t>parameters</a:t>
            </a:r>
            <a:r>
              <a:rPr lang="en-US" dirty="0" smtClean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InputActivityRatio</a:t>
            </a:r>
            <a:r>
              <a:rPr lang="sv-SE" sz="2400" dirty="0" smtClean="0"/>
              <a:t>: </a:t>
            </a:r>
            <a:r>
              <a:rPr lang="en-US" sz="2400" dirty="0"/>
              <a:t>defines the rate of fuel consumed (i.e. </a:t>
            </a:r>
            <a:r>
              <a:rPr lang="en-US" sz="2400" dirty="0" smtClean="0"/>
              <a:t>Electricity)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OutputActivityRatio</a:t>
            </a:r>
            <a:r>
              <a:rPr lang="en-US" sz="2400" dirty="0" smtClean="0"/>
              <a:t>: </a:t>
            </a:r>
            <a:r>
              <a:rPr lang="en-US" sz="2400" dirty="0"/>
              <a:t>defines the rate of fuel provided (i.e. </a:t>
            </a:r>
            <a:r>
              <a:rPr lang="en-US" sz="2400" dirty="0" smtClean="0"/>
              <a:t>Electricity)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CapitalCost</a:t>
            </a:r>
            <a:r>
              <a:rPr lang="en-US" sz="2400" b="1" dirty="0" smtClean="0"/>
              <a:t> [M$/GW or $/kW]</a:t>
            </a:r>
            <a:r>
              <a:rPr lang="en-US" sz="2400" dirty="0" smtClean="0"/>
              <a:t>: </a:t>
            </a:r>
            <a:r>
              <a:rPr lang="en-US" sz="2400" dirty="0"/>
              <a:t>defines the overnight investment cost of the </a:t>
            </a:r>
            <a:r>
              <a:rPr lang="en-US" sz="2400" dirty="0" smtClean="0"/>
              <a:t>network grid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FixedCost</a:t>
            </a:r>
            <a:r>
              <a:rPr lang="en-US" sz="2400" b="1" dirty="0" smtClean="0"/>
              <a:t> </a:t>
            </a:r>
            <a:r>
              <a:rPr lang="en-US" sz="2400" b="1" dirty="0"/>
              <a:t>[M$/GW or $/kW]</a:t>
            </a:r>
            <a:r>
              <a:rPr lang="en-US" sz="2400" dirty="0" smtClean="0"/>
              <a:t>: </a:t>
            </a:r>
            <a:r>
              <a:rPr lang="en-US" sz="2400" dirty="0"/>
              <a:t>defines the fixed Operation &amp; Maintenance cost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err="1" smtClean="0"/>
              <a:t>VariableCost</a:t>
            </a:r>
            <a:r>
              <a:rPr lang="en-US" sz="2400" b="1" dirty="0" smtClean="0"/>
              <a:t> [M$/</a:t>
            </a:r>
            <a:r>
              <a:rPr lang="en-US" sz="2400" b="1" dirty="0" err="1" smtClean="0"/>
              <a:t>GWh</a:t>
            </a:r>
            <a:r>
              <a:rPr lang="en-US" sz="2400" b="1" dirty="0" smtClean="0"/>
              <a:t>]</a:t>
            </a:r>
            <a:r>
              <a:rPr lang="fr-FR" sz="2400" dirty="0" smtClean="0"/>
              <a:t>: </a:t>
            </a:r>
            <a:r>
              <a:rPr lang="fr-FR" sz="2400" dirty="0" err="1" smtClean="0"/>
              <a:t>defines</a:t>
            </a:r>
            <a:r>
              <a:rPr lang="fr-FR" sz="2400" dirty="0" smtClean="0"/>
              <a:t> the variable </a:t>
            </a:r>
            <a:r>
              <a:rPr lang="fr-FR" sz="2400" dirty="0" err="1" smtClean="0"/>
              <a:t>costs</a:t>
            </a:r>
            <a:r>
              <a:rPr lang="fr-FR" sz="2400" dirty="0" smtClean="0"/>
              <a:t> of the network </a:t>
            </a:r>
            <a:r>
              <a:rPr lang="fr-FR" sz="2400" dirty="0" err="1" smtClean="0"/>
              <a:t>grid</a:t>
            </a:r>
            <a:endParaRPr lang="fr-FR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sz="2400" b="1" dirty="0" err="1" smtClean="0"/>
              <a:t>OperationalLife</a:t>
            </a:r>
            <a:r>
              <a:rPr lang="sv-SE" sz="2400" b="1" dirty="0" smtClean="0"/>
              <a:t> [yr]</a:t>
            </a:r>
            <a:r>
              <a:rPr lang="sv-SE" sz="2400" dirty="0" smtClean="0"/>
              <a:t>: </a:t>
            </a:r>
            <a:r>
              <a:rPr lang="en-US" sz="2400" dirty="0"/>
              <a:t>defines the lifetime of the </a:t>
            </a:r>
            <a:r>
              <a:rPr lang="en-US" sz="2400" dirty="0" smtClean="0"/>
              <a:t>technology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Transmission &amp; Distribution grid </a:t>
            </a:r>
            <a:br>
              <a:rPr lang="en-US" dirty="0"/>
            </a:br>
            <a:r>
              <a:rPr lang="en-US" dirty="0"/>
              <a:t>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496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8200" y="3023136"/>
            <a:ext cx="10515600" cy="3278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</a:t>
            </a:r>
            <a:r>
              <a:rPr lang="en-US" sz="2400" dirty="0" err="1"/>
              <a:t>OSeMOSYS</a:t>
            </a:r>
            <a:r>
              <a:rPr lang="en-US" sz="2400" dirty="0"/>
              <a:t>, the transmission &amp; distribution grid is mainly characterized by the following parameters:</a:t>
            </a:r>
          </a:p>
          <a:p>
            <a:pPr lvl="1"/>
            <a:r>
              <a:rPr lang="en-US" b="1" dirty="0" err="1">
                <a:sym typeface="Wingdings" panose="05000000000000000000" pitchFamily="2" charset="2"/>
              </a:rPr>
              <a:t>OutputActivityRatio</a:t>
            </a:r>
            <a:r>
              <a:rPr lang="en-US" b="1" dirty="0">
                <a:sym typeface="Wingdings" panose="05000000000000000000" pitchFamily="2" charset="2"/>
              </a:rPr>
              <a:t>: </a:t>
            </a:r>
            <a:r>
              <a:rPr lang="en-US" dirty="0">
                <a:sym typeface="Wingdings" panose="05000000000000000000" pitchFamily="2" charset="2"/>
              </a:rPr>
              <a:t>always one output - </a:t>
            </a:r>
            <a:r>
              <a:rPr lang="en-US" b="1" dirty="0">
                <a:sym typeface="Wingdings" panose="05000000000000000000" pitchFamily="2" charset="2"/>
              </a:rPr>
              <a:t>electricity</a:t>
            </a:r>
          </a:p>
          <a:p>
            <a:pPr lvl="1"/>
            <a:r>
              <a:rPr lang="en-US" b="1" dirty="0" err="1">
                <a:sym typeface="Wingdings" panose="05000000000000000000" pitchFamily="2" charset="2"/>
              </a:rPr>
              <a:t>InputActivityRatio</a:t>
            </a:r>
            <a:r>
              <a:rPr lang="en-US" b="1" dirty="0">
                <a:sym typeface="Wingdings" panose="05000000000000000000" pitchFamily="2" charset="2"/>
              </a:rPr>
              <a:t>: </a:t>
            </a:r>
            <a:r>
              <a:rPr lang="en-US" dirty="0">
                <a:sym typeface="Wingdings" panose="05000000000000000000" pitchFamily="2" charset="2"/>
              </a:rPr>
              <a:t>always one input – </a:t>
            </a:r>
            <a:r>
              <a:rPr lang="en-US" b="1" dirty="0">
                <a:sym typeface="Wingdings" panose="05000000000000000000" pitchFamily="2" charset="2"/>
              </a:rPr>
              <a:t>electricity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e.g.	</a:t>
            </a:r>
            <a:r>
              <a:rPr lang="en-US" sz="2400" dirty="0" err="1">
                <a:sym typeface="Wingdings" panose="05000000000000000000" pitchFamily="2" charset="2"/>
              </a:rPr>
              <a:t>InputActivityRatio</a:t>
            </a:r>
            <a:r>
              <a:rPr lang="en-US" sz="2400" dirty="0">
                <a:sym typeface="Wingdings" panose="05000000000000000000" pitchFamily="2" charset="2"/>
              </a:rPr>
              <a:t> – Electricity – 1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</a:t>
            </a:r>
            <a:r>
              <a:rPr lang="en-US" sz="2400" dirty="0" err="1">
                <a:sym typeface="Wingdings" panose="05000000000000000000" pitchFamily="2" charset="2"/>
              </a:rPr>
              <a:t>OutputActivityRatio</a:t>
            </a:r>
            <a:r>
              <a:rPr lang="en-US" sz="2400" dirty="0">
                <a:sym typeface="Wingdings" panose="05000000000000000000" pitchFamily="2" charset="2"/>
              </a:rPr>
              <a:t> – Electricity – 0.95 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Meaning that </a:t>
            </a:r>
            <a:r>
              <a:rPr lang="en-US" sz="2400" i="1" dirty="0">
                <a:sym typeface="Wingdings" panose="05000000000000000000" pitchFamily="2" charset="2"/>
              </a:rPr>
              <a:t>for 1 energy unit of electricity fed to the grid by power plants, 0.95 is delivered to final consumers </a:t>
            </a:r>
            <a:r>
              <a:rPr lang="en-US" sz="2400" b="1" i="1" dirty="0">
                <a:sym typeface="Wingdings" panose="05000000000000000000" pitchFamily="2" charset="2"/>
              </a:rPr>
              <a:t>due to losses</a:t>
            </a:r>
          </a:p>
          <a:p>
            <a:pPr marL="0" indent="0">
              <a:buNone/>
            </a:pPr>
            <a:endParaRPr lang="en-US" sz="2400" b="1" dirty="0">
              <a:sym typeface="Wingdings" panose="05000000000000000000" pitchFamily="2" charset="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5A308-5E4F-4E88-B982-F221FABB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22" y="1966451"/>
            <a:ext cx="2177777" cy="7821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8229FD2F-F1C4-48DD-9EB9-99B60ED0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7661" y="2379178"/>
            <a:ext cx="1371600" cy="656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9E9CEE1C-05E2-4987-8AD7-E29C95378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7304" y="1978347"/>
            <a:ext cx="14468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Electricity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9F6E5E95-AA92-42B2-85E1-6E98B2996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615" y="2008900"/>
            <a:ext cx="20924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Transmission &amp; Distribution grid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68F25C3-D02E-452F-AA02-55FCBD22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278" y="1986527"/>
            <a:ext cx="13795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Electricity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126DA1C3-E870-469B-B19A-AC8B5791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5724" y="238574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Transmission &amp; Distribution grid </a:t>
            </a:r>
            <a:br>
              <a:rPr lang="en-US" dirty="0"/>
            </a:br>
            <a:r>
              <a:rPr lang="en-US" dirty="0"/>
              <a:t>in </a:t>
            </a:r>
            <a:r>
              <a:rPr lang="en-US" dirty="0" err="1"/>
              <a:t>OSeMOSYS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696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10553</TotalTime>
  <Words>219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KTH-OpTIMUS-DFID</vt:lpstr>
      <vt:lpstr>Defining the transmission &amp; distribution grid</vt:lpstr>
      <vt:lpstr>Defining the transmission &amp; distribution grid</vt:lpstr>
      <vt:lpstr>Defining the Transmission &amp; Distribution grid  in OSeMOSYS</vt:lpstr>
      <vt:lpstr>Defining the Transmission &amp; Distribution grid  in OSeMOSYS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167</cp:revision>
  <dcterms:created xsi:type="dcterms:W3CDTF">2017-06-07T13:22:49Z</dcterms:created>
  <dcterms:modified xsi:type="dcterms:W3CDTF">2020-04-03T11:21:30Z</dcterms:modified>
</cp:coreProperties>
</file>