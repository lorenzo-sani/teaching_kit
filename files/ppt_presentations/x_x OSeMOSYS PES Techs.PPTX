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9"/>
  </p:notesMasterIdLst>
  <p:handoutMasterIdLst>
    <p:handoutMasterId r:id="rId10"/>
  </p:handoutMasterIdLst>
  <p:sldIdLst>
    <p:sldId id="303" r:id="rId2"/>
    <p:sldId id="325" r:id="rId3"/>
    <p:sldId id="304" r:id="rId4"/>
    <p:sldId id="302" r:id="rId5"/>
    <p:sldId id="306" r:id="rId6"/>
    <p:sldId id="310" r:id="rId7"/>
    <p:sldId id="3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?? </a:t>
            </a:r>
            <a:r>
              <a:rPr lang="en-US" b="1" dirty="0" err="1" smtClean="0"/>
              <a:t>TotalAnnualMaxCapacity</a:t>
            </a:r>
            <a:r>
              <a:rPr lang="en-US" b="1" dirty="0" smtClean="0"/>
              <a:t> [GW]</a:t>
            </a:r>
            <a:r>
              <a:rPr lang="en-US" dirty="0" smtClean="0"/>
              <a:t>: defines the maximum annual rate of production 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1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15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84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B11823-BC5F-4211-AE81-7CA4ECD95B34}"/>
              </a:ext>
            </a:extLst>
          </p:cNvPr>
          <p:cNvSpPr/>
          <p:nvPr/>
        </p:nvSpPr>
        <p:spPr>
          <a:xfrm>
            <a:off x="1877986" y="1439487"/>
            <a:ext cx="2481072" cy="52819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15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08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Domestic extraction / production of fuels;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Import of fuels;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Fuels can be: coal, oil, oil products, natural gas, LNG, uranium, biomass,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13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pc="0" dirty="0"/>
              <a:t>They are typically represented in the Reference Energy System by a technology with </a:t>
            </a:r>
            <a:r>
              <a:rPr lang="en-US" b="1" spc="0" dirty="0"/>
              <a:t>only outputs </a:t>
            </a:r>
            <a:r>
              <a:rPr lang="en-US" spc="0" dirty="0"/>
              <a:t>(no inputs).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46046F-D0BD-430F-A310-DAC11EDA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554" y="3106992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4C3FA2E9-985D-4C46-A1CE-12C070AB3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9554" y="3716592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8B29D35-4B73-4A03-8A74-C9F06FD32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586" y="3198167"/>
            <a:ext cx="7649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Coal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D647917-2EBA-4977-829E-201C1A255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471" y="3462592"/>
            <a:ext cx="20697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Coal extraction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90BB6B9-5B21-48D4-8B16-77B9E979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470" y="4724399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B28F0615-7E13-4C7D-9947-2D95CEA9E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470" y="533399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0E151AC4-D294-4EF4-A653-8969B54DF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502" y="4815574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Natural gas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25687329-A454-467F-8AAC-931D8B2E3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243" y="5079999"/>
            <a:ext cx="2489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Natural gas import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5C5A4F5-066E-45B6-A72E-8D0E655A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80129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7" name="Line 5">
            <a:extLst>
              <a:ext uri="{FF2B5EF4-FFF2-40B4-BE49-F238E27FC236}">
                <a16:creationId xmlns:a16="http://schemas.microsoft.com/office/drawing/2014/main" id="{B75C1805-4DE0-4D3D-AD1E-BAC15D295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418972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E963136A-AEF7-4141-831B-44E3A866F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0032" y="3671304"/>
            <a:ext cx="23818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Biomass</a:t>
            </a: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E0C79032-8857-4851-BF38-DCCDE843C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158" y="3736463"/>
            <a:ext cx="21286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Biomass production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84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3A7A64-B1B6-4007-BBDF-552A9032C019}"/>
              </a:ext>
            </a:extLst>
          </p:cNvPr>
          <p:cNvSpPr txBox="1">
            <a:spLocks/>
          </p:cNvSpPr>
          <p:nvPr/>
        </p:nvSpPr>
        <p:spPr>
          <a:xfrm>
            <a:off x="838200" y="1919035"/>
            <a:ext cx="10515600" cy="4437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pc="-150" dirty="0"/>
              <a:t>In </a:t>
            </a:r>
            <a:r>
              <a:rPr lang="en-US" spc="-150" dirty="0" err="1"/>
              <a:t>OSeMOSYS</a:t>
            </a:r>
            <a:r>
              <a:rPr lang="en-US" spc="-150" dirty="0"/>
              <a:t>, they are characterized </a:t>
            </a:r>
            <a:r>
              <a:rPr lang="en-US" spc="-150" dirty="0" smtClean="0"/>
              <a:t>by </a:t>
            </a:r>
            <a:r>
              <a:rPr lang="en-US" spc="-150" dirty="0"/>
              <a:t>these parameters:</a:t>
            </a:r>
          </a:p>
          <a:p>
            <a:r>
              <a:rPr lang="en-US" sz="2600" b="1" spc="-150" dirty="0" err="1" smtClean="0"/>
              <a:t>OutputActivityRatio</a:t>
            </a:r>
            <a:r>
              <a:rPr lang="en-US" sz="2600" spc="-150" dirty="0" smtClean="0"/>
              <a:t>: </a:t>
            </a:r>
            <a:r>
              <a:rPr lang="en-US" sz="2600" spc="-150" dirty="0"/>
              <a:t>defines which fuel is provided and at what </a:t>
            </a:r>
            <a:r>
              <a:rPr lang="en-US" sz="2600" spc="-150" dirty="0" smtClean="0"/>
              <a:t>rate.</a:t>
            </a:r>
            <a:endParaRPr lang="en-US" sz="2600" spc="-150" dirty="0"/>
          </a:p>
          <a:p>
            <a:r>
              <a:rPr lang="en-US" sz="2600" b="1" spc="-150" dirty="0" err="1" smtClean="0"/>
              <a:t>VariableCost</a:t>
            </a:r>
            <a:r>
              <a:rPr lang="en-US" sz="2600" b="1" spc="-150" dirty="0"/>
              <a:t> [M$/PJ or M$/</a:t>
            </a:r>
            <a:r>
              <a:rPr lang="en-US" sz="2600" b="1" spc="-150" dirty="0" err="1"/>
              <a:t>GWh</a:t>
            </a:r>
            <a:r>
              <a:rPr lang="en-US" sz="2600" b="1" spc="-150" dirty="0"/>
              <a:t>]</a:t>
            </a:r>
            <a:r>
              <a:rPr lang="en-US" sz="2600" spc="-150" dirty="0" smtClean="0"/>
              <a:t>: </a:t>
            </a:r>
            <a:r>
              <a:rPr lang="en-US" sz="2600" spc="-150" dirty="0"/>
              <a:t>cost of extraction or of </a:t>
            </a:r>
            <a:r>
              <a:rPr lang="en-US" sz="2600" spc="-150" dirty="0" smtClean="0"/>
              <a:t>import.</a:t>
            </a:r>
            <a:endParaRPr lang="en-US" sz="2600" spc="-150" dirty="0"/>
          </a:p>
          <a:p>
            <a:r>
              <a:rPr lang="en-US" sz="2600" b="1" spc="-150" dirty="0" err="1" smtClean="0"/>
              <a:t>TotalTechnologyAnnualActivityUpperLimit</a:t>
            </a:r>
            <a:r>
              <a:rPr lang="en-US" sz="2600" b="1" spc="-150" dirty="0" smtClean="0"/>
              <a:t> or </a:t>
            </a:r>
            <a:r>
              <a:rPr lang="en-US" sz="2600" b="1" spc="-150" dirty="0" err="1" smtClean="0"/>
              <a:t>TotalTechnologyModelPeriodActivityUpperLimit</a:t>
            </a:r>
            <a:r>
              <a:rPr lang="en-US" sz="2600" b="1" spc="-150" dirty="0" smtClean="0"/>
              <a:t> [PJ or </a:t>
            </a:r>
            <a:r>
              <a:rPr lang="en-US" sz="2600" b="1" spc="-150" dirty="0" err="1" smtClean="0"/>
              <a:t>GWh</a:t>
            </a:r>
            <a:r>
              <a:rPr lang="en-US" sz="2600" b="1" spc="-150" dirty="0" smtClean="0"/>
              <a:t>]</a:t>
            </a:r>
            <a:r>
              <a:rPr lang="en-US" sz="2600" spc="-150" dirty="0" smtClean="0"/>
              <a:t>: define </a:t>
            </a:r>
            <a:r>
              <a:rPr lang="en-US" sz="2600" spc="-150" dirty="0"/>
              <a:t>the level of proven reserves available for extraction, or the maximum quantity that can be </a:t>
            </a:r>
            <a:r>
              <a:rPr lang="en-US" sz="2600" spc="-150" dirty="0" smtClean="0"/>
              <a:t>imported.</a:t>
            </a:r>
            <a:endParaRPr lang="en-US" sz="2600" spc="-15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435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3A7A64-B1B6-4007-BBDF-552A9032C019}"/>
              </a:ext>
            </a:extLst>
          </p:cNvPr>
          <p:cNvSpPr txBox="1">
            <a:spLocks/>
          </p:cNvSpPr>
          <p:nvPr/>
        </p:nvSpPr>
        <p:spPr>
          <a:xfrm>
            <a:off x="838200" y="1919035"/>
            <a:ext cx="10515600" cy="4437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pc="-150" dirty="0"/>
              <a:t>In </a:t>
            </a:r>
            <a:r>
              <a:rPr lang="en-US" spc="-150" dirty="0" err="1"/>
              <a:t>OSeMOSYS</a:t>
            </a:r>
            <a:r>
              <a:rPr lang="en-US" spc="-150" dirty="0"/>
              <a:t>, they are characterized mostly by these parameters:</a:t>
            </a:r>
          </a:p>
          <a:p>
            <a:r>
              <a:rPr lang="en-US" sz="2600" b="1" spc="-150" dirty="0" err="1"/>
              <a:t>OutputActivityRatio</a:t>
            </a:r>
            <a:r>
              <a:rPr lang="en-US" sz="2600" spc="-150" dirty="0"/>
              <a:t>: defines which fuel is provided and at what </a:t>
            </a:r>
            <a:r>
              <a:rPr lang="en-US" sz="2600" spc="-150" dirty="0" smtClean="0"/>
              <a:t>rate.</a:t>
            </a:r>
            <a:endParaRPr lang="en-US" sz="2600" spc="-150" dirty="0"/>
          </a:p>
          <a:p>
            <a:r>
              <a:rPr lang="en-US" sz="2600" b="1" spc="-150" dirty="0" err="1" smtClean="0"/>
              <a:t>VariableCost</a:t>
            </a:r>
            <a:r>
              <a:rPr lang="en-US" sz="2600" b="1" spc="-150" dirty="0" smtClean="0"/>
              <a:t> [M$/PJ or M$/</a:t>
            </a:r>
            <a:r>
              <a:rPr lang="en-US" sz="2600" b="1" spc="-150" dirty="0" err="1" smtClean="0"/>
              <a:t>GWh</a:t>
            </a:r>
            <a:r>
              <a:rPr lang="en-US" sz="2600" b="1" spc="-150" dirty="0" smtClean="0"/>
              <a:t>]</a:t>
            </a:r>
            <a:r>
              <a:rPr lang="en-US" sz="2600" spc="-150" dirty="0" smtClean="0"/>
              <a:t>: </a:t>
            </a:r>
            <a:r>
              <a:rPr lang="en-US" sz="2600" spc="-150" dirty="0"/>
              <a:t>cost of extraction or of </a:t>
            </a:r>
            <a:r>
              <a:rPr lang="en-US" sz="2600" spc="-150" dirty="0" smtClean="0"/>
              <a:t>import.</a:t>
            </a:r>
            <a:endParaRPr lang="en-US" sz="2600" spc="-150" dirty="0"/>
          </a:p>
          <a:p>
            <a:r>
              <a:rPr lang="en-US" sz="2600" b="1" spc="-150" dirty="0" err="1" smtClean="0">
                <a:solidFill>
                  <a:srgbClr val="FF0000"/>
                </a:solidFill>
              </a:rPr>
              <a:t>TotalTechnologyAnnualActivityUpperLimit</a:t>
            </a:r>
            <a:r>
              <a:rPr lang="en-US" sz="2600" b="1" spc="-150" dirty="0" smtClean="0">
                <a:solidFill>
                  <a:srgbClr val="FF0000"/>
                </a:solidFill>
              </a:rPr>
              <a:t> or </a:t>
            </a:r>
            <a:r>
              <a:rPr lang="en-US" sz="2600" b="1" spc="-150" dirty="0" err="1" smtClean="0">
                <a:solidFill>
                  <a:srgbClr val="FF0000"/>
                </a:solidFill>
              </a:rPr>
              <a:t>TotalTechnologyModelPeriodActivityUpperLimit</a:t>
            </a:r>
            <a:r>
              <a:rPr lang="en-US" sz="2600" b="1" spc="-150" dirty="0" smtClean="0">
                <a:solidFill>
                  <a:srgbClr val="FF0000"/>
                </a:solidFill>
              </a:rPr>
              <a:t> [PJ or </a:t>
            </a:r>
            <a:r>
              <a:rPr lang="en-US" sz="2600" b="1" spc="-150" dirty="0" err="1" smtClean="0">
                <a:solidFill>
                  <a:srgbClr val="FF0000"/>
                </a:solidFill>
              </a:rPr>
              <a:t>GWh</a:t>
            </a:r>
            <a:r>
              <a:rPr lang="en-US" sz="2600" b="1" spc="-150" dirty="0" smtClean="0">
                <a:solidFill>
                  <a:srgbClr val="FF0000"/>
                </a:solidFill>
              </a:rPr>
              <a:t>]</a:t>
            </a:r>
            <a:r>
              <a:rPr lang="en-US" sz="2600" spc="-150" dirty="0" smtClean="0"/>
              <a:t>: define </a:t>
            </a:r>
            <a:r>
              <a:rPr lang="en-US" sz="2600" spc="-150" dirty="0"/>
              <a:t>the level of proven reserves available for extraction, or the maximum quantity that can be </a:t>
            </a:r>
            <a:r>
              <a:rPr lang="en-US" sz="2600" spc="-150" dirty="0" smtClean="0"/>
              <a:t>imported.</a:t>
            </a:r>
            <a:endParaRPr lang="en-US" sz="2600" spc="-15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600" spc="-15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600" spc="-150" dirty="0"/>
          </a:p>
          <a:p>
            <a:pPr marL="0" indent="0">
              <a:buFont typeface="Arial" panose="020B0604020202020204" pitchFamily="34" charset="0"/>
              <a:buNone/>
            </a:pPr>
            <a:endParaRPr lang="en-US" spc="-15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083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3A7A64-B1B6-4007-BBDF-552A9032C019}"/>
              </a:ext>
            </a:extLst>
          </p:cNvPr>
          <p:cNvSpPr txBox="1">
            <a:spLocks/>
          </p:cNvSpPr>
          <p:nvPr/>
        </p:nvSpPr>
        <p:spPr>
          <a:xfrm>
            <a:off x="838200" y="1919035"/>
            <a:ext cx="10515600" cy="4437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Examples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TotalTechnologyModelPeriodActivityUpperLimit</a:t>
            </a:r>
            <a:r>
              <a:rPr lang="en-US" b="1" dirty="0" smtClean="0">
                <a:solidFill>
                  <a:srgbClr val="FF0000"/>
                </a:solidFill>
              </a:rPr>
              <a:t> [PJ or </a:t>
            </a:r>
            <a:r>
              <a:rPr lang="en-US" b="1" dirty="0" err="1" smtClean="0">
                <a:solidFill>
                  <a:srgbClr val="FF0000"/>
                </a:solidFill>
              </a:rPr>
              <a:t>GWh</a:t>
            </a:r>
            <a:r>
              <a:rPr lang="en-US" b="1" dirty="0" smtClean="0">
                <a:solidFill>
                  <a:srgbClr val="FF0000"/>
                </a:solidFill>
              </a:rPr>
              <a:t>]</a:t>
            </a:r>
            <a:r>
              <a:rPr lang="en-US" dirty="0" smtClean="0"/>
              <a:t>: define </a:t>
            </a:r>
            <a:r>
              <a:rPr lang="en-US" dirty="0"/>
              <a:t>the </a:t>
            </a:r>
            <a:r>
              <a:rPr lang="en-US" b="1" dirty="0"/>
              <a:t>level of proven reserves </a:t>
            </a:r>
            <a:r>
              <a:rPr lang="en-US" dirty="0"/>
              <a:t>available for extraction, or the maximum quantity that can be </a:t>
            </a:r>
            <a:r>
              <a:rPr lang="en-US" dirty="0" smtClean="0"/>
              <a:t>imported, across the entire modelling period.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TotalTechnologyModelPeriodActivityUpperLimit</a:t>
            </a:r>
            <a:r>
              <a:rPr lang="en-US" b="1" dirty="0" smtClean="0"/>
              <a:t> </a:t>
            </a:r>
            <a:r>
              <a:rPr lang="en-US" b="1" dirty="0"/>
              <a:t>= 100,000 PJ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9BDE60-7151-458E-ADAC-D0882A08D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3712" y="3944273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6C634A17-04DB-4424-81F8-424DC39CA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0712" y="4553873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65A9389-BC9D-4DE0-9D45-C06EECD7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744" y="4035448"/>
            <a:ext cx="1909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Natural gas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D873032A-19F1-462F-9155-5DECB509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629" y="4123601"/>
            <a:ext cx="19688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Gas extraction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Mozambique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BC4B4D-34B6-4114-AC6D-02D03FF049F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19765" y="3983437"/>
          <a:ext cx="417598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5983">
                  <a:extLst>
                    <a:ext uri="{9D8B030D-6E8A-4147-A177-3AD203B41FA5}">
                      <a16:colId xmlns:a16="http://schemas.microsoft.com/office/drawing/2014/main" val="395387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sz="2400" dirty="0"/>
                        <a:t>Mozambique – Natural Gas proven reserves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87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sz="2400" dirty="0"/>
                        <a:t>100,000 PJ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18341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14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23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308</Words>
  <Application>Microsoft Office PowerPoint</Application>
  <PresentationFormat>Widescreen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KTH-OpTIMUS-DFID</vt:lpstr>
      <vt:lpstr>Primary energy supply technologies</vt:lpstr>
      <vt:lpstr>Primary energy supply technologies</vt:lpstr>
      <vt:lpstr>Primary energy supply technologies</vt:lpstr>
      <vt:lpstr>Primary energy supply technologies</vt:lpstr>
      <vt:lpstr>Primary energy supply technologies</vt:lpstr>
      <vt:lpstr>Primary energy supply technologies</vt:lpstr>
      <vt:lpstr>Primary energy supply technologies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120</cp:revision>
  <dcterms:created xsi:type="dcterms:W3CDTF">2017-06-07T13:22:49Z</dcterms:created>
  <dcterms:modified xsi:type="dcterms:W3CDTF">2020-04-02T17:02:48Z</dcterms:modified>
</cp:coreProperties>
</file>