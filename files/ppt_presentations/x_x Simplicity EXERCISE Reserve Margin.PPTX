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ie9cXJhKAcvk5aRGOnobtHDka+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E1D51B-67C6-4659-ACAD-171406E61F87}">
  <a:tblStyle styleId="{1EE1D51B-67C6-4659-ACAD-171406E61F87}" styleName="Table_0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6540606-1534-434B-83BF-B05BCBD212AB}" styleName="Table_1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6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3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7" name="Google Shape;43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/>
              <a:t>Mention that the peak demand coincides with the peak generation of PV, hence the allocation of capacity credits despite it not being dispatchable. </a:t>
            </a:r>
            <a:endParaRPr/>
          </a:p>
        </p:txBody>
      </p:sp>
      <p:sp>
        <p:nvSpPr>
          <p:cNvPr id="438" name="Google Shape;438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0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28" name="Google Shape;28;p30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ngelog and attribution">
  <p:cSld name="Changelog and attribu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1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aphicFrame>
        <p:nvGraphicFramePr>
          <p:cNvPr id="32" name="Google Shape;32;p31"/>
          <p:cNvGraphicFramePr/>
          <p:nvPr/>
        </p:nvGraphicFramePr>
        <p:xfrm>
          <a:off x="838200" y="16160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{1EE1D51B-67C6-4659-ACAD-171406E61F87}</a:tableStyleId>
              </a:tblPr>
              <a:tblGrid>
                <a:gridCol w="14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Date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Author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Reviewer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Reviser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Google Shape;33;p31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correctly reference this work, please use the following:</a:t>
            </a:r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body" idx="2"/>
          </p:nvPr>
        </p:nvSpPr>
        <p:spPr>
          <a:xfrm>
            <a:off x="1935480" y="1051561"/>
            <a:ext cx="941832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5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3"/>
          </p:nvPr>
        </p:nvSpPr>
        <p:spPr>
          <a:xfrm>
            <a:off x="1935480" y="1051561"/>
            <a:ext cx="941832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body" idx="2"/>
          </p:nvPr>
        </p:nvSpPr>
        <p:spPr>
          <a:xfrm>
            <a:off x="839788" y="2609087"/>
            <a:ext cx="5157787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6"/>
          <p:cNvSpPr txBox="1">
            <a:spLocks noGrp="1"/>
          </p:cNvSpPr>
          <p:nvPr>
            <p:ph type="body" idx="3"/>
          </p:nvPr>
        </p:nvSpPr>
        <p:spPr>
          <a:xfrm>
            <a:off x="6172200" y="1618488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body" idx="4"/>
          </p:nvPr>
        </p:nvSpPr>
        <p:spPr>
          <a:xfrm>
            <a:off x="6172200" y="2609087"/>
            <a:ext cx="5183188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9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9"/>
          <p:cNvSpPr txBox="1">
            <a:spLocks noGrp="1"/>
          </p:cNvSpPr>
          <p:nvPr>
            <p:ph type="body" idx="1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6" name="Google Shape;86;p39"/>
          <p:cNvSpPr txBox="1">
            <a:spLocks noGrp="1"/>
          </p:cNvSpPr>
          <p:nvPr>
            <p:ph type="body" idx="2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0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0"/>
          <p:cNvSpPr>
            <a:spLocks noGrp="1"/>
          </p:cNvSpPr>
          <p:nvPr>
            <p:ph type="pic" idx="2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40"/>
          <p:cNvSpPr txBox="1">
            <a:spLocks noGrp="1"/>
          </p:cNvSpPr>
          <p:nvPr>
            <p:ph type="body" idx="1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1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1"/>
          <p:cNvSpPr txBox="1">
            <a:spLocks noGrp="1"/>
          </p:cNvSpPr>
          <p:nvPr>
            <p:ph type="body" idx="1"/>
          </p:nvPr>
        </p:nvSpPr>
        <p:spPr>
          <a:xfrm rot="5400000">
            <a:off x="3820633" y="-1366284"/>
            <a:ext cx="4550734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4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01" name="Google Shape;101;p41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4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4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07" name="Google Shape;107;p42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3"/>
          <p:cNvSpPr txBox="1"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3"/>
          <p:cNvSpPr txBox="1"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2" name="Google Shape;112;p43"/>
          <p:cNvSpPr>
            <a:spLocks noGrp="1"/>
          </p:cNvSpPr>
          <p:nvPr>
            <p:ph type="pic" idx="2"/>
          </p:nvPr>
        </p:nvSpPr>
        <p:spPr>
          <a:xfrm>
            <a:off x="11006139" y="6054725"/>
            <a:ext cx="347661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43"/>
          <p:cNvSpPr txBox="1">
            <a:spLocks noGrp="1"/>
          </p:cNvSpPr>
          <p:nvPr>
            <p:ph type="body" idx="3"/>
          </p:nvPr>
        </p:nvSpPr>
        <p:spPr>
          <a:xfrm>
            <a:off x="838200" y="6054725"/>
            <a:ext cx="10515600" cy="202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4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15" name="Google Shape;115;p43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43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9000">
              <a:srgbClr val="FDFDFD"/>
            </a:gs>
            <a:gs pos="100000">
              <a:srgbClr val="E7E6E6">
                <a:alpha val="49803"/>
              </a:srgbClr>
            </a:gs>
          </a:gsLst>
          <a:lin ang="189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2" name="Google Shape;12;p28"/>
          <p:cNvCxnSpPr/>
          <p:nvPr/>
        </p:nvCxnSpPr>
        <p:spPr>
          <a:xfrm>
            <a:off x="838200" y="6323905"/>
            <a:ext cx="10515600" cy="0"/>
          </a:xfrm>
          <a:prstGeom prst="straightConnector1">
            <a:avLst/>
          </a:prstGeom>
          <a:noFill/>
          <a:ln w="19050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" name="Google Shape;13;p28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235457" y="331676"/>
            <a:ext cx="1118343" cy="43891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4" name="Google Shape;14;p28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504458" y="844271"/>
            <a:ext cx="580339" cy="64008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1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By the end of this exercise you will be able to: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/>
              <a:t>Define a requirement for capacity reserve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/>
              <a:t>Define the fuel for which capacity reserve is needed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/>
              <a:t>Define capacity credits for each technology type</a:t>
            </a:r>
            <a:endParaRPr/>
          </a:p>
        </p:txBody>
      </p:sp>
      <p:sp>
        <p:nvSpPr>
          <p:cNvPr id="410" name="Google Shape;410;p21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Exercise - Learning Objectives</a:t>
            </a:r>
            <a:endParaRPr/>
          </a:p>
        </p:txBody>
      </p:sp>
      <p:sp>
        <p:nvSpPr>
          <p:cNvPr id="411" name="Google Shape;411;p2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2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81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The first step is to decide to what level the reserve margin should be set.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Input a </a:t>
            </a:r>
            <a:r>
              <a:rPr lang="sv-SE" i="1"/>
              <a:t>ReserveMargin</a:t>
            </a:r>
            <a:r>
              <a:rPr lang="sv-SE"/>
              <a:t> of </a:t>
            </a:r>
            <a:r>
              <a:rPr lang="sv-SE" b="1"/>
              <a:t>1.18</a:t>
            </a:r>
            <a:r>
              <a:rPr lang="sv-SE"/>
              <a:t> for all years, indicating that there should be enough capacity reserve to satisfy a theoretical demand level at least 18% above the annual peak demand.</a:t>
            </a:r>
            <a:endParaRPr/>
          </a:p>
        </p:txBody>
      </p:sp>
      <p:sp>
        <p:nvSpPr>
          <p:cNvPr id="417" name="Google Shape;417;p22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Defining reserve margin requirements</a:t>
            </a:r>
            <a:endParaRPr/>
          </a:p>
        </p:txBody>
      </p:sp>
      <p:sp>
        <p:nvSpPr>
          <p:cNvPr id="418" name="Google Shape;418;p2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2</a:t>
            </a:fld>
            <a:endParaRPr/>
          </a:p>
        </p:txBody>
      </p:sp>
      <p:pic>
        <p:nvPicPr>
          <p:cNvPr id="419" name="Google Shape;41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0850" y="2233285"/>
            <a:ext cx="8650300" cy="2331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3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The following parameters should be taken into account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ReserveMarginTagFuel: </a:t>
            </a:r>
            <a:r>
              <a:rPr lang="sv-SE"/>
              <a:t>defines the fuel for which we would like to have adequate capacity reserve.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ReserveMarginTagTechnology</a:t>
            </a:r>
            <a:r>
              <a:rPr lang="sv-SE"/>
              <a:t>: defines the level at which each technology can contribute to the capacity reserve. A value of 1 indicates 100% contribution of a technology’s capacity, while 0 indicates a 0% contribution. Typically, dispatchable thermal power plants and storage options have a contribution of 100%, while non-dispatchable technologies (e.g. Wind and Solar PV) contribute based on their respective availability. </a:t>
            </a:r>
            <a:endParaRPr/>
          </a:p>
        </p:txBody>
      </p:sp>
      <p:sp>
        <p:nvSpPr>
          <p:cNvPr id="425" name="Google Shape;425;p23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Implementing a capacity reserve</a:t>
            </a:r>
            <a:endParaRPr/>
          </a:p>
        </p:txBody>
      </p:sp>
      <p:sp>
        <p:nvSpPr>
          <p:cNvPr id="426" name="Google Shape;426;p2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4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Since the FUEL </a:t>
            </a:r>
            <a:r>
              <a:rPr lang="sv-SE" b="1"/>
              <a:t>SEC_EL </a:t>
            </a:r>
            <a:r>
              <a:rPr lang="sv-SE"/>
              <a:t>represents electricity being generated by the power plants, we can indicate that the reserve margin needed is at this level.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ReserveMarginTagFuel: </a:t>
            </a:r>
            <a:r>
              <a:rPr lang="sv-SE"/>
              <a:t>Insert the following values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432" name="Google Shape;432;p24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Implementing a capacity reserve</a:t>
            </a:r>
            <a:endParaRPr/>
          </a:p>
        </p:txBody>
      </p:sp>
      <p:sp>
        <p:nvSpPr>
          <p:cNvPr id="433" name="Google Shape;433;p2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4</a:t>
            </a:fld>
            <a:endParaRPr/>
          </a:p>
        </p:txBody>
      </p:sp>
      <p:graphicFrame>
        <p:nvGraphicFramePr>
          <p:cNvPr id="434" name="Google Shape;434;p24"/>
          <p:cNvGraphicFramePr/>
          <p:nvPr/>
        </p:nvGraphicFramePr>
        <p:xfrm>
          <a:off x="2650670" y="31920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{C6540606-1534-434B-83BF-B05BCBD212AB}</a:tableStyleId>
              </a:tblPr>
              <a:tblGrid>
                <a:gridCol w="68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Fuel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SEC_EL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SEC_EL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2040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SEC_EL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5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The final step is to define the contribution of each technology (i.e. capacity credit) to satisfying the reserve margin. 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ReserveMarginTagTechnology: </a:t>
            </a:r>
            <a:r>
              <a:rPr lang="sv-SE"/>
              <a:t>Insert the following for 2014-2040.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441" name="Google Shape;441;p25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Implementing a capacity reserve</a:t>
            </a:r>
            <a:endParaRPr/>
          </a:p>
        </p:txBody>
      </p:sp>
      <p:sp>
        <p:nvSpPr>
          <p:cNvPr id="442" name="Google Shape;442;p2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5</a:t>
            </a:fld>
            <a:endParaRPr/>
          </a:p>
        </p:txBody>
      </p:sp>
      <p:graphicFrame>
        <p:nvGraphicFramePr>
          <p:cNvPr id="443" name="Google Shape;443;p25"/>
          <p:cNvGraphicFramePr/>
          <p:nvPr/>
        </p:nvGraphicFramePr>
        <p:xfrm>
          <a:off x="1361548" y="297275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{1EE1D51B-67C6-4659-ACAD-171406E61F87}</a:tableStyleId>
              </a:tblPr>
              <a:tblGrid>
                <a:gridCol w="251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>
                          <a:solidFill>
                            <a:schemeClr val="dk1"/>
                          </a:solidFill>
                        </a:rPr>
                        <a:t>Technology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>
                          <a:solidFill>
                            <a:schemeClr val="dk1"/>
                          </a:solidFill>
                        </a:rPr>
                        <a:t>2014-2040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/>
                        <a:t>NGCC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/>
                        <a:t>SOLPV1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/>
                        <a:t>0.1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/>
                        <a:t>SOLPV2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/>
                        <a:t>WIND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/>
                        <a:t>0.05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/>
                        <a:t>HYD1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/>
                        <a:t>0.4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/>
                        <a:t>HYD2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/>
                        <a:t>BACKSTOP1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/>
                        <a:t>BACKSTOP2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0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44" name="Google Shape;44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30757" y="3420619"/>
            <a:ext cx="5223043" cy="2177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07658" y="1567280"/>
            <a:ext cx="8576881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6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Run the model and check the results!</a:t>
            </a:r>
            <a:endParaRPr/>
          </a:p>
        </p:txBody>
      </p:sp>
      <p:sp>
        <p:nvSpPr>
          <p:cNvPr id="451" name="Google Shape;451;p2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6</a:t>
            </a:fld>
            <a:endParaRPr/>
          </a:p>
        </p:txBody>
      </p:sp>
      <p:pic>
        <p:nvPicPr>
          <p:cNvPr id="452" name="Google Shape;452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12765" y="2748714"/>
            <a:ext cx="7431371" cy="3790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7"/>
          <p:cNvSpPr txBox="1">
            <a:spLocks noGrp="1"/>
          </p:cNvSpPr>
          <p:nvPr>
            <p:ph type="body" idx="1"/>
          </p:nvPr>
        </p:nvSpPr>
        <p:spPr>
          <a:xfrm>
            <a:off x="838200" y="4592548"/>
            <a:ext cx="10515600" cy="176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v-SE" sz="2000" i="1"/>
              <a:t>To correctly reference this work, please use the following: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v-SE" sz="2000"/>
              <a:t>Taliotis, C., Gardumi, F., Shivakumar, A., Sridharan, V., Ramos, E., Beltramo, A., Rogner, H., Howells, M., 2018. </a:t>
            </a:r>
            <a:r>
              <a:rPr lang="sv-SE" sz="2000" i="1"/>
              <a:t>Implementing capacity reserve in OSeMOSYS</a:t>
            </a:r>
            <a:r>
              <a:rPr lang="sv-SE" sz="2000"/>
              <a:t>,</a:t>
            </a:r>
            <a:r>
              <a:rPr lang="sv-SE" sz="2000" i="1"/>
              <a:t> </a:t>
            </a:r>
            <a:r>
              <a:rPr lang="sv-SE" sz="2000"/>
              <a:t>KTH-Desa and OpTIMUS.community.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v-SE" sz="2000"/>
              <a:t>Available at: (URL). [Access date]</a:t>
            </a: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v-SE" sz="2000"/>
              <a:t>DOI: 10.5281/zenodo.2068953</a:t>
            </a:r>
            <a:endParaRPr/>
          </a:p>
        </p:txBody>
      </p:sp>
      <p:sp>
        <p:nvSpPr>
          <p:cNvPr id="458" name="Google Shape;458;p27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Changelog and Attribution</a:t>
            </a:r>
            <a:endParaRPr/>
          </a:p>
        </p:txBody>
      </p:sp>
      <p:graphicFrame>
        <p:nvGraphicFramePr>
          <p:cNvPr id="459" name="Google Shape;459;p27"/>
          <p:cNvGraphicFramePr/>
          <p:nvPr/>
        </p:nvGraphicFramePr>
        <p:xfrm>
          <a:off x="838200" y="161614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{1EE1D51B-67C6-4659-ACAD-171406E61F87}</a:tableStyleId>
              </a:tblPr>
              <a:tblGrid>
                <a:gridCol w="14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Date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Author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Reviewer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Reviser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2018-06-12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Taliotis, C., Gardumi, F., Shivakumar, A., Sridharan, V., Ramos, E., Beltramo, A., Rogner, H., Howells, M.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Howells, M., Beltramo, A.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/>
                        <a:t>Gardumi, F., Taliotis, 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0" name="Google Shape;460;p2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sv-SE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Widescreen</PresentationFormat>
  <Paragraphs>123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KTH-OpTIMUS-DFID</vt:lpstr>
      <vt:lpstr>Exercise - Learning Objectives</vt:lpstr>
      <vt:lpstr>Defining reserve margin requirements</vt:lpstr>
      <vt:lpstr>Implementing a capacity reserve</vt:lpstr>
      <vt:lpstr>Implementing a capacity reserve</vt:lpstr>
      <vt:lpstr>Implementing a capacity reserve</vt:lpstr>
      <vt:lpstr>Run the model and check the results!</vt:lpstr>
      <vt:lpstr>Changelog and Attribution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 - Learning Objectives</dc:title>
  <dc:creator>Ioannis Pappis</dc:creator>
  <cp:lastModifiedBy>Francesco Gardumi</cp:lastModifiedBy>
  <cp:revision>1</cp:revision>
  <dcterms:created xsi:type="dcterms:W3CDTF">2017-06-07T13:22:49Z</dcterms:created>
  <dcterms:modified xsi:type="dcterms:W3CDTF">2020-04-03T11:18:36Z</dcterms:modified>
</cp:coreProperties>
</file>