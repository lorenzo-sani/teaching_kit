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3"/>
  </p:notesMasterIdLst>
  <p:handoutMasterIdLst>
    <p:handoutMasterId r:id="rId14"/>
  </p:handoutMasterIdLst>
  <p:sldIdLst>
    <p:sldId id="271" r:id="rId2"/>
    <p:sldId id="272" r:id="rId3"/>
    <p:sldId id="273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4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1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1T00:28:06.615" idx="1">
    <p:pos x="4466" y="2236"/>
    <p:text>Not really sure it is clear, what do you mean with Rate of fuel provided?</p:text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D9AE-465E-40C1-9573-3C535D2D702B}"/>
              </a:ext>
            </a:extLst>
          </p:cNvPr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3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Energy Modelling Platform for Africa - 14-29 January 2019 University of Cape Town (South Africa)</a:t>
            </a:r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158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6228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170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2020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651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30033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3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935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59936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40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78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1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4135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89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this exercise you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technologies representing domestic production of energy commodities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technologies representing import of energy commodities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Learning Objectives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76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1" name="Group 60"/>
          <p:cNvGrpSpPr/>
          <p:nvPr/>
        </p:nvGrpSpPr>
        <p:grpSpPr>
          <a:xfrm>
            <a:off x="2299490" y="621895"/>
            <a:ext cx="7570987" cy="6042931"/>
            <a:chOff x="1859055" y="400958"/>
            <a:chExt cx="7570987" cy="6042931"/>
          </a:xfrm>
        </p:grpSpPr>
        <p:sp>
          <p:nvSpPr>
            <p:cNvPr id="9" name="Rounded Rectangle 8"/>
            <p:cNvSpPr/>
            <p:nvPr/>
          </p:nvSpPr>
          <p:spPr>
            <a:xfrm>
              <a:off x="1859055" y="2653395"/>
              <a:ext cx="1265143" cy="904341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Natural Gas Imports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859055" y="1221118"/>
              <a:ext cx="1265143" cy="904341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Natural Gas Production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 rot="2514107">
              <a:off x="2711182" y="696101"/>
              <a:ext cx="1261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Natural Gas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3476288" y="1093908"/>
              <a:ext cx="0" cy="5334101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947076" y="1093908"/>
              <a:ext cx="0" cy="534827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4352794" y="3123600"/>
              <a:ext cx="1265143" cy="598021"/>
            </a:xfrm>
            <a:prstGeom prst="rect">
              <a:avLst/>
            </a:pr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Wind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5961593" y="2393123"/>
              <a:ext cx="63737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352794" y="4200164"/>
              <a:ext cx="1265143" cy="598021"/>
            </a:xfrm>
            <a:prstGeom prst="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New CCGT/GT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5634989" y="4504092"/>
              <a:ext cx="32660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6" idx="1"/>
            </p:cNvCxnSpPr>
            <p:nvPr/>
          </p:nvCxnSpPr>
          <p:spPr>
            <a:xfrm>
              <a:off x="3476288" y="4499174"/>
              <a:ext cx="876506" cy="1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4352796" y="1093908"/>
              <a:ext cx="1265143" cy="598021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Hydro run-of-river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52795" y="2125459"/>
              <a:ext cx="1265143" cy="598021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Hydro Dam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5623945" y="1388000"/>
              <a:ext cx="326603" cy="491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5634990" y="3404568"/>
              <a:ext cx="326603" cy="491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8367979" y="1093908"/>
              <a:ext cx="0" cy="532363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 rot="2514107">
              <a:off x="7246820" y="579304"/>
              <a:ext cx="17866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Demand for electrified population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605350" y="1093908"/>
              <a:ext cx="1265143" cy="904341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Transmission &amp; Distribution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5614087" y="2398743"/>
              <a:ext cx="326603" cy="491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7870493" y="1546078"/>
              <a:ext cx="497486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7896074" y="4574376"/>
              <a:ext cx="966113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6605350" y="3180724"/>
              <a:ext cx="1265143" cy="797461"/>
            </a:xfrm>
            <a:prstGeom prst="rect">
              <a:avLst/>
            </a:prstGeom>
            <a:noFill/>
            <a:ln w="25400">
              <a:solidFill>
                <a:srgbClr val="F5EA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Dist. Solar PV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7885973" y="3579454"/>
              <a:ext cx="9762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6605350" y="4175646"/>
              <a:ext cx="1265143" cy="797461"/>
            </a:xfrm>
            <a:prstGeom prst="rect">
              <a:avLst/>
            </a:prstGeom>
            <a:noFill/>
            <a:ln w="25400">
              <a:solidFill>
                <a:srgbClr val="F5EA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Dist. Solar PV with battery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8863279" y="1093908"/>
              <a:ext cx="0" cy="53341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6605350" y="2114299"/>
              <a:ext cx="1265143" cy="904341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Grid Expansion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5961593" y="1388000"/>
              <a:ext cx="640286" cy="421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7871586" y="2566469"/>
              <a:ext cx="992786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 rot="2514107">
              <a:off x="8200163" y="400958"/>
              <a:ext cx="1229879" cy="60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/>
                <a:t>Demand for future connections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605350" y="5129934"/>
              <a:ext cx="1265143" cy="59802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Backstop 1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605349" y="5845868"/>
              <a:ext cx="1265143" cy="59802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Backstop 2</a:t>
              </a: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7917551" y="5415103"/>
              <a:ext cx="448241" cy="0"/>
            </a:xfrm>
            <a:prstGeom prst="straightConnector1">
              <a:avLst/>
            </a:prstGeom>
            <a:ln w="254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7917551" y="6137055"/>
              <a:ext cx="944636" cy="1"/>
            </a:xfrm>
            <a:prstGeom prst="straightConnector1">
              <a:avLst/>
            </a:prstGeom>
            <a:ln w="254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3131371" y="3105626"/>
              <a:ext cx="344917" cy="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3124198" y="1673288"/>
              <a:ext cx="344917" cy="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757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310507" y="2753145"/>
            <a:ext cx="1265143" cy="904341"/>
          </a:xfrm>
          <a:prstGeom prst="round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Natural Gas Imports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0507" y="1320868"/>
            <a:ext cx="1265143" cy="904341"/>
          </a:xfrm>
          <a:prstGeom prst="round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Natural Gas Production</a:t>
            </a:r>
          </a:p>
        </p:txBody>
      </p:sp>
      <p:sp>
        <p:nvSpPr>
          <p:cNvPr id="11" name="TextBox 10"/>
          <p:cNvSpPr txBox="1"/>
          <p:nvPr/>
        </p:nvSpPr>
        <p:spPr>
          <a:xfrm rot="2514107">
            <a:off x="3162634" y="795851"/>
            <a:ext cx="126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Natural Gas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927740" y="1193658"/>
            <a:ext cx="0" cy="5334101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398528" y="1193658"/>
            <a:ext cx="0" cy="5348271"/>
          </a:xfrm>
          <a:prstGeom prst="line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804246" y="3223350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Wind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413045" y="2492873"/>
            <a:ext cx="637370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804246" y="4299914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New CCGT/GT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086441" y="4603842"/>
            <a:ext cx="326604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6" idx="1"/>
          </p:cNvCxnSpPr>
          <p:nvPr/>
        </p:nvCxnSpPr>
        <p:spPr>
          <a:xfrm>
            <a:off x="3927740" y="4598924"/>
            <a:ext cx="876506" cy="1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804248" y="1193658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Hydro run-of-river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4247" y="2225209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Hydro Dam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6075397" y="1487750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086442" y="3504318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819431" y="1193658"/>
            <a:ext cx="0" cy="5323638"/>
          </a:xfrm>
          <a:prstGeom prst="line">
            <a:avLst/>
          </a:prstGeom>
          <a:ln w="2540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2514107">
            <a:off x="7698272" y="712101"/>
            <a:ext cx="1786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2">
                    <a:lumMod val="75000"/>
                  </a:schemeClr>
                </a:solidFill>
              </a:rPr>
              <a:t>Demand for electrified population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6802" y="1193658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Transmission &amp; Distribution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6065539" y="2498493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8321945" y="1645828"/>
            <a:ext cx="497486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347526" y="4674126"/>
            <a:ext cx="966113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056802" y="3280474"/>
            <a:ext cx="1265143" cy="79746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Dist. Solar PV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8337425" y="3679204"/>
            <a:ext cx="976214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56802" y="4275396"/>
            <a:ext cx="1265143" cy="79746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Dist. Solar PV with battery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9314731" y="1193658"/>
            <a:ext cx="0" cy="5334101"/>
          </a:xfrm>
          <a:prstGeom prst="line">
            <a:avLst/>
          </a:prstGeom>
          <a:ln w="2540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56802" y="2214049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Grid Expansion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413045" y="1487750"/>
            <a:ext cx="640286" cy="4216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323038" y="2666219"/>
            <a:ext cx="992786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2514107">
            <a:off x="8651615" y="533755"/>
            <a:ext cx="1229879" cy="60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2">
                    <a:lumMod val="75000"/>
                  </a:schemeClr>
                </a:solidFill>
              </a:rPr>
              <a:t>Demand for future connections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56802" y="5229684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alpha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Backstop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6801" y="5945618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alpha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Backstop 2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8369003" y="5514853"/>
            <a:ext cx="448241" cy="0"/>
          </a:xfrm>
          <a:prstGeom prst="straightConnector1">
            <a:avLst/>
          </a:prstGeom>
          <a:ln w="25400">
            <a:solidFill>
              <a:schemeClr val="accent1">
                <a:alpha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8369003" y="6236805"/>
            <a:ext cx="944636" cy="1"/>
          </a:xfrm>
          <a:prstGeom prst="straightConnector1">
            <a:avLst/>
          </a:prstGeom>
          <a:ln w="25400">
            <a:solidFill>
              <a:schemeClr val="accent1">
                <a:alpha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582823" y="3205376"/>
            <a:ext cx="344917" cy="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75650" y="1773038"/>
            <a:ext cx="344917" cy="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86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first step in defining the supply of energy forms is the creation of the respective fuels. In this example, we will look at </a:t>
            </a:r>
            <a:r>
              <a:rPr lang="en-US" b="1" dirty="0"/>
              <a:t>natural gas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new FUEL called </a:t>
            </a:r>
            <a:r>
              <a:rPr lang="en-US" b="1" dirty="0"/>
              <a:t>Gas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primary energy forms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455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Then, we have to create a TECHNOLOGY called </a:t>
            </a:r>
            <a:r>
              <a:rPr lang="en-US" b="1" dirty="0" err="1"/>
              <a:t>GasExtraction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order to represent the technology appropriately, the following parameters have to be taken into account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defines the fuel provided (in this case Gas)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VariableCost</a:t>
            </a:r>
            <a:r>
              <a:rPr lang="en-US" dirty="0"/>
              <a:t>: defines the cost of extraction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TotalTechnologyModelPeriodActivityUpperLimit</a:t>
            </a:r>
            <a:r>
              <a:rPr lang="en-US" dirty="0"/>
              <a:t>: defines the level of proven gas reserves that are available for extraction throughout the entire model period (we will express it in PJ)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TotalAnnualMaxCapacity</a:t>
            </a:r>
            <a:r>
              <a:rPr lang="en-US" dirty="0"/>
              <a:t>: defines the maximum annual rate of production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supply</a:t>
            </a:r>
            <a:endParaRPr lang="fr-FR" dirty="0"/>
          </a:p>
        </p:txBody>
      </p:sp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93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GasExtraction</a:t>
            </a:r>
            <a:r>
              <a:rPr lang="en-US" b="1" dirty="0"/>
              <a:t>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Gas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038813"/>
              </p:ext>
            </p:extLst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supply</a:t>
            </a:r>
            <a:endParaRPr lang="fr-FR" dirty="0"/>
          </a:p>
        </p:txBody>
      </p:sp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18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GasExtraction</a:t>
            </a:r>
            <a:r>
              <a:rPr lang="en-US" b="1" dirty="0"/>
              <a:t>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VariableCost</a:t>
            </a:r>
            <a:r>
              <a:rPr lang="en-US" i="1" dirty="0"/>
              <a:t>: </a:t>
            </a:r>
            <a:r>
              <a:rPr lang="en-US" dirty="0"/>
              <a:t>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221917"/>
              </p:ext>
            </p:extLst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7.5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supply</a:t>
            </a:r>
            <a:endParaRPr lang="fr-FR" dirty="0"/>
          </a:p>
        </p:txBody>
      </p:sp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43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GasExtraction</a:t>
            </a:r>
            <a:r>
              <a:rPr lang="en-US" b="1" dirty="0"/>
              <a:t>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TotalAnnualMaxCapacity</a:t>
            </a:r>
            <a:r>
              <a:rPr lang="en-US" i="1" dirty="0"/>
              <a:t>: </a:t>
            </a:r>
            <a:r>
              <a:rPr lang="en-US" dirty="0"/>
              <a:t>Insert the following values to limit the production of natural gas.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 err="1"/>
              <a:t>TotalTechnologyModelPeriodActivityUpperLimit</a:t>
            </a:r>
            <a:r>
              <a:rPr lang="en-US" i="1" dirty="0"/>
              <a:t> </a:t>
            </a:r>
            <a:r>
              <a:rPr lang="en-US" dirty="0"/>
              <a:t> can be set to </a:t>
            </a:r>
            <a:r>
              <a:rPr lang="en-US" b="1" dirty="0"/>
              <a:t>125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04016"/>
              </p:ext>
            </p:extLst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GasEx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GasEx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GasEx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supply</a:t>
            </a:r>
            <a:endParaRPr lang="fr-FR" dirty="0"/>
          </a:p>
        </p:txBody>
      </p:sp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97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Then, we have to create a TECHNOLOGY called </a:t>
            </a:r>
            <a:r>
              <a:rPr lang="en-US" b="1" dirty="0" err="1"/>
              <a:t>GasImport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order to represent the technology appropriately, the following parameters have to be taken into account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defines the rate of fuel provided (in this case Gas)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VariableCost</a:t>
            </a:r>
            <a:r>
              <a:rPr lang="en-US" dirty="0"/>
              <a:t>: defines the cost of extraction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supply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728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GasImport</a:t>
            </a:r>
            <a:r>
              <a:rPr lang="en-US" b="1" dirty="0"/>
              <a:t> </a:t>
            </a:r>
            <a:r>
              <a:rPr lang="en-US" dirty="0"/>
              <a:t>technology</a:t>
            </a:r>
            <a:r>
              <a:rPr lang="en-US" dirty="0" smtClean="0"/>
              <a:t>, </a:t>
            </a:r>
            <a:r>
              <a:rPr lang="en-US" dirty="0"/>
              <a:t>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Gas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supply</a:t>
            </a:r>
            <a:endParaRPr lang="fr-FR" dirty="0"/>
          </a:p>
        </p:txBody>
      </p:sp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914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GasImport</a:t>
            </a:r>
            <a:r>
              <a:rPr lang="en-US" b="1" dirty="0"/>
              <a:t>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VariableCost</a:t>
            </a:r>
            <a:r>
              <a:rPr lang="en-US" i="1" dirty="0"/>
              <a:t>: </a:t>
            </a:r>
            <a:r>
              <a:rPr lang="en-US" dirty="0"/>
              <a:t>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9713"/>
              </p:ext>
            </p:extLst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8.5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9.5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10.5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supply</a:t>
            </a:r>
            <a:endParaRPr lang="fr-FR" dirty="0"/>
          </a:p>
        </p:txBody>
      </p:sp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291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759</Words>
  <Application>Microsoft Office PowerPoint</Application>
  <PresentationFormat>Widescreen</PresentationFormat>
  <Paragraphs>384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KTH-OpTIMUS-DFID</vt:lpstr>
      <vt:lpstr>Exercise - Learning Objectives</vt:lpstr>
      <vt:lpstr>PowerPoint Presentation</vt:lpstr>
      <vt:lpstr>PowerPoint Presentation</vt:lpstr>
      <vt:lpstr>Defining primary energy forms</vt:lpstr>
      <vt:lpstr>Defining characteristics of the supply</vt:lpstr>
      <vt:lpstr>Defining characteristics of the supply</vt:lpstr>
      <vt:lpstr>Defining characteristics of the supply</vt:lpstr>
      <vt:lpstr>Defining characteristics of the supply</vt:lpstr>
      <vt:lpstr>Defining characteristics of the supply</vt:lpstr>
      <vt:lpstr>Defining characteristics of the supply</vt:lpstr>
      <vt:lpstr>Defining characteristics of the supply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120</cp:revision>
  <dcterms:created xsi:type="dcterms:W3CDTF">2017-06-07T13:22:49Z</dcterms:created>
  <dcterms:modified xsi:type="dcterms:W3CDTF">2020-04-02T17:03:17Z</dcterms:modified>
</cp:coreProperties>
</file>