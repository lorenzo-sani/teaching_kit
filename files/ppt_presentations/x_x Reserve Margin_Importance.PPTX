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e9cXJhKAcvk5aRGOnobtHDka+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E1D51B-67C6-4659-ACAD-171406E61F87}">
  <a:tblStyle styleId="{1EE1D51B-67C6-4659-ACAD-171406E61F87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540606-1534-434B-83BF-B05BCBD212AB}" styleName="Table_1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36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Need to consider requirement for Reserve Margin in long-term energy planning</a:t>
            </a:r>
            <a:endParaRPr/>
          </a:p>
        </p:txBody>
      </p:sp>
      <p:sp>
        <p:nvSpPr>
          <p:cNvPr id="334" name="Google Shape;33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Need to consider requirement for Reserve Margin in long-term energy planning</a:t>
            </a:r>
            <a:endParaRPr/>
          </a:p>
        </p:txBody>
      </p:sp>
      <p:sp>
        <p:nvSpPr>
          <p:cNvPr id="342" name="Google Shape;34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Need to consider requirement for Reserve Margin in long-term energy planning</a:t>
            </a:r>
            <a:endParaRPr/>
          </a:p>
        </p:txBody>
      </p:sp>
      <p:sp>
        <p:nvSpPr>
          <p:cNvPr id="350" name="Google Shape;35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The figure shows 3 days in South Africa. Blue is total load in MW (secondary y axis), red shows wind generation in MW (primary y axis). Note the difference in scale between the two y axes. </a:t>
            </a:r>
            <a:endParaRPr/>
          </a:p>
        </p:txBody>
      </p:sp>
      <p:sp>
        <p:nvSpPr>
          <p:cNvPr id="374" name="Google Shape;37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aphicFrame>
        <p:nvGraphicFramePr>
          <p:cNvPr id="32" name="Google Shape;32;p3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{1EE1D51B-67C6-4659-ACAD-171406E61F87}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Google Shape;33;p3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1935480" y="1051561"/>
            <a:ext cx="941832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3"/>
          </p:nvPr>
        </p:nvSpPr>
        <p:spPr>
          <a:xfrm>
            <a:off x="1935480" y="1051561"/>
            <a:ext cx="941832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1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07" name="Google Shape;107;p42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"/>
          <p:cNvSpPr txBox="1"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3"/>
          <p:cNvSpPr txBox="1"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43"/>
          <p:cNvSpPr>
            <a:spLocks noGrp="1"/>
          </p:cNvSpPr>
          <p:nvPr>
            <p:ph type="pic" idx="2"/>
          </p:nvPr>
        </p:nvSpPr>
        <p:spPr>
          <a:xfrm>
            <a:off x="11006139" y="6054725"/>
            <a:ext cx="347661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43"/>
          <p:cNvSpPr txBox="1">
            <a:spLocks noGrp="1"/>
          </p:cNvSpPr>
          <p:nvPr>
            <p:ph type="body" idx="3"/>
          </p:nvPr>
        </p:nvSpPr>
        <p:spPr>
          <a:xfrm>
            <a:off x="838200" y="6054725"/>
            <a:ext cx="10515600" cy="202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4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5" name="Google Shape;115;p43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4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28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13;p2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235457" y="331676"/>
            <a:ext cx="1118343" cy="43891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4" name="Google Shape;14;p2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504458" y="844271"/>
            <a:ext cx="580339" cy="64008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ia.gov/todayinenergy/detail.php?id=6510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asaproject.info/docs/WindCapacityCreditFeb2011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ena.org/DocumentDownloads/Publications/SAPP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51560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Reserve Margin is planned </a:t>
            </a:r>
            <a:r>
              <a:rPr lang="sv-SE" b="1"/>
              <a:t>excess of supply capacity </a:t>
            </a:r>
            <a:r>
              <a:rPr lang="sv-SE"/>
              <a:t>that is installed in comparison to the peak load (i.e. in MW).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It avoids shortages in power supply due to unforeseen demand peaks or due to sudden lack of renewable supply.</a:t>
            </a:r>
            <a:endParaRPr/>
          </a:p>
        </p:txBody>
      </p:sp>
      <p:sp>
        <p:nvSpPr>
          <p:cNvPr id="337" name="Google Shape;337;p12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Reserve Margin</a:t>
            </a:r>
            <a:endParaRPr/>
          </a:p>
        </p:txBody>
      </p:sp>
      <p:sp>
        <p:nvSpPr>
          <p:cNvPr id="338" name="Google Shape;338;p1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51560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In mathematical terms, it is defined as </a:t>
            </a:r>
            <a:r>
              <a:rPr lang="sv-SE" b="1"/>
              <a:t>difference between the total generation capacity and expected peak demand of the year</a:t>
            </a:r>
            <a:r>
              <a:rPr lang="sv-SE"/>
              <a:t>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	Available Reserve Margin (MW) = Α - Β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	Available Reserve Margin (%) = (Α - Β) x 100 / Β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v-SE" sz="2400"/>
              <a:t>Where:    Α = Total Generation Capacity (MW)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v-SE" sz="2400"/>
              <a:t>	  Β = Expected Peak Demand (MW)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45" name="Google Shape;345;p13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Reserve Margin</a:t>
            </a:r>
            <a:endParaRPr/>
          </a:p>
        </p:txBody>
      </p:sp>
      <p:sp>
        <p:nvSpPr>
          <p:cNvPr id="346" name="Google Shape;346;p1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51560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Reserve Margin is a way of ensuring reliability by avoiding shortages in power supply – aim for a higher supply than what may be expected. However this cannot always be ensured: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v-SE" sz="2800"/>
              <a:t>Projecting future electricity demand is difficult</a:t>
            </a:r>
            <a:endParaRPr/>
          </a:p>
          <a:p>
            <a:pPr marL="114300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v-SE" sz="2800"/>
              <a:t>Commissioning of new power plants may take several years </a:t>
            </a:r>
            <a:endParaRPr/>
          </a:p>
        </p:txBody>
      </p:sp>
      <p:sp>
        <p:nvSpPr>
          <p:cNvPr id="353" name="Google Shape;353;p14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Importance of Reserve Margin</a:t>
            </a:r>
            <a:endParaRPr/>
          </a:p>
        </p:txBody>
      </p:sp>
      <p:sp>
        <p:nvSpPr>
          <p:cNvPr id="354" name="Google Shape;354;p1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Importance of Reserve Margin</a:t>
            </a:r>
            <a:endParaRPr/>
          </a:p>
        </p:txBody>
      </p:sp>
      <p:sp>
        <p:nvSpPr>
          <p:cNvPr id="360" name="Google Shape;360;p1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  <p:pic>
        <p:nvPicPr>
          <p:cNvPr id="361" name="Google Shape;361;p15" descr="map of Regional reserve margin estimates and targets for summer 2012, as described in the article text"/>
          <p:cNvPicPr preferRelativeResize="0"/>
          <p:nvPr/>
        </p:nvPicPr>
        <p:blipFill rotWithShape="1">
          <a:blip r:embed="rId3">
            <a:alphaModFix/>
          </a:blip>
          <a:srcRect t="5634"/>
          <a:stretch/>
        </p:blipFill>
        <p:spPr>
          <a:xfrm>
            <a:off x="818744" y="1766455"/>
            <a:ext cx="8060871" cy="450447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5"/>
          <p:cNvSpPr/>
          <p:nvPr/>
        </p:nvSpPr>
        <p:spPr>
          <a:xfrm>
            <a:off x="8879615" y="5686156"/>
            <a:ext cx="258929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 </a:t>
            </a:r>
            <a:r>
              <a:rPr lang="sv-SE" sz="16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U.S. Energy Information Administration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8967355" y="1787236"/>
            <a:ext cx="2386444" cy="144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Regional reserve margin estimates and targets for summer 2012.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51560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Not all technologies can contribute to the Reserve Margin to the same degree. 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457200" lvl="0" indent="-4572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Dispatchable</a:t>
            </a:r>
            <a:r>
              <a:rPr lang="sv-SE"/>
              <a:t> technologies (e.g. gas turbines, coal power plants, storage options etc) typically can contribute up to 100% of their capacity. </a:t>
            </a:r>
            <a:endParaRPr/>
          </a:p>
          <a:p>
            <a:pPr marL="457200" lvl="0" indent="-4572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Non-dispatchable</a:t>
            </a:r>
            <a:r>
              <a:rPr lang="sv-SE"/>
              <a:t> technologies (e.g. Solar PV, wind turbine etc) contribute to a significantly lower degree in the absence of storage; this varies according to the respective resource availability.</a:t>
            </a:r>
            <a:endParaRPr/>
          </a:p>
          <a:p>
            <a:pPr marL="457200" lvl="0" indent="-2794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Capacity Credits: measure to what extent each technology can contribute 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to the Reserve Margin</a:t>
            </a:r>
            <a:endParaRPr/>
          </a:p>
        </p:txBody>
      </p:sp>
      <p:sp>
        <p:nvSpPr>
          <p:cNvPr id="369" name="Google Shape;369;p16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Capacity Credits</a:t>
            </a:r>
            <a:endParaRPr/>
          </a:p>
        </p:txBody>
      </p:sp>
      <p:sp>
        <p:nvSpPr>
          <p:cNvPr id="370" name="Google Shape;370;p1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Yearly Wind Generation Variability </a:t>
            </a:r>
            <a:br>
              <a:rPr lang="sv-SE"/>
            </a:br>
            <a:r>
              <a:rPr lang="sv-SE"/>
              <a:t>(e.g. South Africa)</a:t>
            </a:r>
            <a:endParaRPr/>
          </a:p>
        </p:txBody>
      </p:sp>
      <p:sp>
        <p:nvSpPr>
          <p:cNvPr id="377" name="Google Shape;377;p1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6</a:t>
            </a:fld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9100261" y="5948106"/>
            <a:ext cx="21669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sv-S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sv-SE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GIZ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2031" y="1584761"/>
            <a:ext cx="6898986" cy="495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Yearly Wind Generation Variability </a:t>
            </a:r>
            <a:br>
              <a:rPr lang="sv-SE"/>
            </a:br>
            <a:r>
              <a:rPr lang="sv-SE"/>
              <a:t>(e.g. Cyprus)</a:t>
            </a:r>
            <a:endParaRPr/>
          </a:p>
        </p:txBody>
      </p:sp>
      <p:sp>
        <p:nvSpPr>
          <p:cNvPr id="385" name="Google Shape;385;p1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7</a:t>
            </a:fld>
            <a:endParaRPr/>
          </a:p>
        </p:txBody>
      </p:sp>
      <p:pic>
        <p:nvPicPr>
          <p:cNvPr id="386" name="Google Shape;38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971" y="1634325"/>
            <a:ext cx="7723413" cy="45468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8"/>
          <p:cNvSpPr/>
          <p:nvPr/>
        </p:nvSpPr>
        <p:spPr>
          <a:xfrm>
            <a:off x="9186809" y="4897877"/>
            <a:ext cx="216699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sv-S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Transmission System Operator - Cyprus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Capacity Credits for Wind</a:t>
            </a:r>
            <a:endParaRPr/>
          </a:p>
        </p:txBody>
      </p:sp>
      <p:sp>
        <p:nvSpPr>
          <p:cNvPr id="393" name="Google Shape;393;p1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8</a:t>
            </a:fld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9116786" y="5969156"/>
            <a:ext cx="238814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sv-S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sv-SE" sz="16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IRENA, 2014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20/01/2019</a:t>
            </a:r>
            <a:endParaRPr sz="1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928" y="1507767"/>
            <a:ext cx="8268858" cy="5107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Widescreen</PresentationFormat>
  <Paragraphs>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KTH-OpTIMUS-DFID</vt:lpstr>
      <vt:lpstr>Reserve Margin</vt:lpstr>
      <vt:lpstr>Reserve Margin</vt:lpstr>
      <vt:lpstr>Importance of Reserve Margin</vt:lpstr>
      <vt:lpstr>Importance of Reserve Margin</vt:lpstr>
      <vt:lpstr>Capacity Credits</vt:lpstr>
      <vt:lpstr>Yearly Wind Generation Variability  (e.g. South Africa)</vt:lpstr>
      <vt:lpstr>Yearly Wind Generation Variability  (e.g. Cyprus)</vt:lpstr>
      <vt:lpstr>Capacity Credits for Wind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Reserve Margin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2020-04-03T11:17:48Z</dcterms:modified>
</cp:coreProperties>
</file>