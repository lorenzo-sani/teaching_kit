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2"/>
  </p:notesMasterIdLst>
  <p:handoutMasterIdLst>
    <p:handoutMasterId r:id="rId13"/>
  </p:handoutMasterIdLst>
  <p:sldIdLst>
    <p:sldId id="281" r:id="rId2"/>
    <p:sldId id="270" r:id="rId3"/>
    <p:sldId id="271" r:id="rId4"/>
    <p:sldId id="272" r:id="rId5"/>
    <p:sldId id="273" r:id="rId6"/>
    <p:sldId id="276" r:id="rId7"/>
    <p:sldId id="277" r:id="rId8"/>
    <p:sldId id="278" r:id="rId9"/>
    <p:sldId id="279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3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2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8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CapacityToActivityUnit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GW (installed capacity) x 8760 h/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8760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GWh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Activity per year = 31.536 PJ</a:t>
            </a:r>
          </a:p>
          <a:p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CapacityToActivityUnit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TotMaxCapacity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GW * 8760h * 1yr *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ConversionUnit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(PJ/GW) → (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a conversion factor)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8760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GWh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31.536 PJ</a:t>
            </a:r>
            <a:endParaRPr lang="fr-F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53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CapacityToActivityUnit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GW (installed capacity) x 8760 h/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8760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GWh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Activity per year = 31.536 PJ</a:t>
            </a:r>
          </a:p>
          <a:p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CapacityToActivityUnit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TotMaxCapacity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GW * 8760h * 1yr *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ConversionUnit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(PJ/GW) → (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a conversion factor)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8760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GWh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31.536 PJ</a:t>
            </a:r>
            <a:endParaRPr lang="fr-F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72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73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46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0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80195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3984075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47529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60618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4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57956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4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15256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96524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5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1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4619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51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4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6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exercise you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Define </a:t>
            </a:r>
            <a:r>
              <a:rPr lang="en-US" dirty="0"/>
              <a:t>the already existing grid network taking centrally generated electricity and distributing it to the final consumer level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future expansions of the grid network to enable increased access to </a:t>
            </a:r>
            <a:r>
              <a:rPr lang="en-US" dirty="0" smtClean="0"/>
              <a:t>electricity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Learning Objectives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324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</a:t>
            </a:r>
            <a:r>
              <a:rPr lang="en-US" dirty="0"/>
              <a:t>c</a:t>
            </a:r>
            <a:r>
              <a:rPr lang="en-US" dirty="0" smtClean="0"/>
              <a:t>reate </a:t>
            </a:r>
            <a:r>
              <a:rPr lang="en-US" dirty="0"/>
              <a:t>a TECHNOLOGY called </a:t>
            </a:r>
            <a:r>
              <a:rPr lang="en-US" b="1" dirty="0"/>
              <a:t>TD </a:t>
            </a:r>
            <a:r>
              <a:rPr lang="en-US" dirty="0"/>
              <a:t>(i.e. Transmission &amp; Distribution).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following parameters are taken into account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InputActivityRatio</a:t>
            </a:r>
            <a:r>
              <a:rPr lang="en-US" i="1" dirty="0"/>
              <a:t>: </a:t>
            </a:r>
            <a:r>
              <a:rPr lang="en-US" dirty="0"/>
              <a:t>defines the rate of fuel consumed (i.e. Gas)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OutputActivityRatio</a:t>
            </a:r>
            <a:r>
              <a:rPr lang="en-US" i="1" dirty="0"/>
              <a:t>: </a:t>
            </a:r>
            <a:r>
              <a:rPr lang="en-US" dirty="0"/>
              <a:t>defines the rate of fuel provided (i.e. Electricity)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FixedCost</a:t>
            </a:r>
            <a:r>
              <a:rPr lang="en-US" dirty="0"/>
              <a:t>: defines the fixed Operation &amp; Maintenance cost ($M/GW or $/kW)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OperationalLife</a:t>
            </a:r>
            <a:r>
              <a:rPr lang="en-US" dirty="0"/>
              <a:t>: </a:t>
            </a:r>
            <a:r>
              <a:rPr lang="en-US" dirty="0" smtClean="0"/>
              <a:t>defines the lifetime of the technology (in years)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 smtClean="0"/>
              <a:t>CapacitytoActivityUnit</a:t>
            </a:r>
            <a:r>
              <a:rPr lang="en-US" dirty="0" smtClean="0"/>
              <a:t>: defines how much activity can occur by one unit of capacity in one year (in this case we are using GW for capacity and PJ for energy, thus 1 GW can provide 31.536 PJ annually)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grid network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095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0697"/>
            <a:ext cx="10515600" cy="4306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/>
              <a:t>TD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InputActivityRatio</a:t>
            </a:r>
            <a:r>
              <a:rPr lang="en-US" i="1" dirty="0"/>
              <a:t>: </a:t>
            </a:r>
            <a:r>
              <a:rPr lang="en-US" dirty="0"/>
              <a:t>Choose the </a:t>
            </a:r>
            <a:r>
              <a:rPr lang="en-US" b="1" dirty="0"/>
              <a:t>SEC_EL</a:t>
            </a:r>
            <a:r>
              <a:rPr lang="en-US" dirty="0"/>
              <a:t> fuel and insert the following for mode of operation 1.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33093"/>
              </p:ext>
            </p:extLst>
          </p:nvPr>
        </p:nvGraphicFramePr>
        <p:xfrm>
          <a:off x="2650670" y="3297979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grid network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666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8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/>
              <a:t>TD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OutputActivityRatio</a:t>
            </a:r>
            <a:r>
              <a:rPr lang="en-US" i="1" dirty="0"/>
              <a:t>: </a:t>
            </a:r>
            <a:r>
              <a:rPr lang="en-US" dirty="0"/>
              <a:t>Choose the </a:t>
            </a:r>
            <a:r>
              <a:rPr lang="en-US" b="1" dirty="0"/>
              <a:t>FEL1</a:t>
            </a:r>
            <a:r>
              <a:rPr lang="en-US" dirty="0"/>
              <a:t> fuel and insert the following for mode of operation 1.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Note that Input/</a:t>
            </a:r>
            <a:r>
              <a:rPr lang="en-US" dirty="0" err="1"/>
              <a:t>OutputActivityRatio</a:t>
            </a:r>
            <a:r>
              <a:rPr lang="en-US" dirty="0"/>
              <a:t> define efficiency: </a:t>
            </a:r>
            <a:r>
              <a:rPr lang="en-US" i="1" dirty="0"/>
              <a:t>95%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72411"/>
              </p:ext>
            </p:extLst>
          </p:nvPr>
        </p:nvGraphicFramePr>
        <p:xfrm>
          <a:off x="2525268" y="331128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grid network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663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1329"/>
            <a:ext cx="10515600" cy="43806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dirty="0"/>
              <a:t>For the </a:t>
            </a:r>
            <a:r>
              <a:rPr lang="en-US" sz="3000" b="1" dirty="0"/>
              <a:t>TD </a:t>
            </a:r>
            <a:r>
              <a:rPr lang="en-US" sz="3000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i="1" dirty="0" err="1"/>
              <a:t>FixedCost</a:t>
            </a:r>
            <a:r>
              <a:rPr lang="en-US" sz="3000" i="1" dirty="0"/>
              <a:t>: </a:t>
            </a:r>
            <a:r>
              <a:rPr lang="en-US" sz="3000" dirty="0"/>
              <a:t>Insert the following values. </a:t>
            </a:r>
          </a:p>
          <a:p>
            <a:endParaRPr lang="en-US" sz="3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</a:t>
            </a:r>
            <a:r>
              <a:rPr lang="en-US" sz="3000" i="1" dirty="0" err="1"/>
              <a:t>OperationalLife</a:t>
            </a:r>
            <a:r>
              <a:rPr lang="en-US" sz="3000" dirty="0"/>
              <a:t> can be set to </a:t>
            </a:r>
            <a:r>
              <a:rPr lang="en-US" sz="3000" b="1" dirty="0"/>
              <a:t>50 </a:t>
            </a:r>
            <a:r>
              <a:rPr lang="en-US" sz="3000" dirty="0"/>
              <a:t>years, while the </a:t>
            </a:r>
            <a:r>
              <a:rPr lang="en-US" sz="3000" dirty="0" err="1"/>
              <a:t>CapacitytoActivityUnit</a:t>
            </a:r>
            <a:r>
              <a:rPr lang="en-US" sz="3000" dirty="0"/>
              <a:t> can be set to </a:t>
            </a:r>
            <a:r>
              <a:rPr lang="en-US" sz="3000" b="1" dirty="0"/>
              <a:t>31.536</a:t>
            </a:r>
            <a:r>
              <a:rPr lang="en-US" sz="30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519262"/>
              </p:ext>
            </p:extLst>
          </p:nvPr>
        </p:nvGraphicFramePr>
        <p:xfrm>
          <a:off x="2525268" y="284396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TD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TD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TD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grid network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5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7614"/>
            <a:ext cx="10515600" cy="48891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continue to create a TECHNOLOGY called </a:t>
            </a:r>
            <a:r>
              <a:rPr lang="en-US" b="1" dirty="0" err="1"/>
              <a:t>GridExp</a:t>
            </a:r>
            <a:r>
              <a:rPr lang="en-US" b="1" dirty="0"/>
              <a:t> </a:t>
            </a:r>
            <a:r>
              <a:rPr lang="en-US" dirty="0"/>
              <a:t>(i.e. Grid Expansion for the purpose of increasing electricity access).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following parameters are taken into account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InputActivityRatio</a:t>
            </a:r>
            <a:r>
              <a:rPr lang="en-US" i="1" dirty="0"/>
              <a:t>: </a:t>
            </a:r>
            <a:r>
              <a:rPr lang="en-US" dirty="0"/>
              <a:t>defines the rate of fuel consumed (i.e. Gas)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OutputActivityRatio</a:t>
            </a:r>
            <a:r>
              <a:rPr lang="en-US" i="1" dirty="0"/>
              <a:t>: </a:t>
            </a:r>
            <a:r>
              <a:rPr lang="en-US" dirty="0"/>
              <a:t>defines the rate of fuel provided (i.e. Electricity)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FixedCost</a:t>
            </a:r>
            <a:r>
              <a:rPr lang="en-US" dirty="0"/>
              <a:t>: defines the fixed Operation &amp; Maintenance cost ($M/GW or $/kW)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CapitalCost</a:t>
            </a:r>
            <a:r>
              <a:rPr lang="en-US" dirty="0"/>
              <a:t>: defines the overnight investment cost ($M/GW or $/kW)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OperationalLife</a:t>
            </a:r>
            <a:r>
              <a:rPr lang="en-US" dirty="0"/>
              <a:t>: defines the lifetime of the technology (in years)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CapacitytoActivityUnit</a:t>
            </a:r>
            <a:r>
              <a:rPr lang="en-US" dirty="0"/>
              <a:t>: defines how much activity can occur by one unit of capacity in one year (in this case we are using GW for capacity and PJ for energy, thus 1 GW can provide 31.536 PJ annually)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an expansion of the grid network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10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0697"/>
            <a:ext cx="10515600" cy="4306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 err="1"/>
              <a:t>GridExp</a:t>
            </a:r>
            <a:r>
              <a:rPr lang="en-US" b="1" dirty="0"/>
              <a:t>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InputActivityRatio</a:t>
            </a:r>
            <a:r>
              <a:rPr lang="en-US" i="1" dirty="0"/>
              <a:t>: </a:t>
            </a:r>
            <a:r>
              <a:rPr lang="en-US" dirty="0"/>
              <a:t>Choose the </a:t>
            </a:r>
            <a:r>
              <a:rPr lang="en-US" b="1" dirty="0"/>
              <a:t>SEC_EL</a:t>
            </a:r>
            <a:r>
              <a:rPr lang="en-US" dirty="0"/>
              <a:t> fuel and insert the following for mode of operation 1.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071986"/>
              </p:ext>
            </p:extLst>
          </p:nvPr>
        </p:nvGraphicFramePr>
        <p:xfrm>
          <a:off x="2525268" y="3392620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grid network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586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8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 err="1"/>
              <a:t>GridExp</a:t>
            </a:r>
            <a:r>
              <a:rPr lang="en-US" b="1" dirty="0"/>
              <a:t>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OutputActivityRatio</a:t>
            </a:r>
            <a:r>
              <a:rPr lang="en-US" i="1" dirty="0"/>
              <a:t>: </a:t>
            </a:r>
            <a:r>
              <a:rPr lang="en-US" dirty="0"/>
              <a:t>Choose the </a:t>
            </a:r>
            <a:r>
              <a:rPr lang="en-US" b="1" dirty="0"/>
              <a:t>FEL2</a:t>
            </a:r>
            <a:r>
              <a:rPr lang="en-US" dirty="0"/>
              <a:t> fuel and insert the following for mode of operation 1.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Note that Input/</a:t>
            </a:r>
            <a:r>
              <a:rPr lang="en-US" dirty="0" err="1"/>
              <a:t>OutputActivityRatio</a:t>
            </a:r>
            <a:r>
              <a:rPr lang="en-US" dirty="0"/>
              <a:t> define efficiency: </a:t>
            </a:r>
            <a:r>
              <a:rPr lang="en-US" i="1" dirty="0"/>
              <a:t>82%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74"/>
              </p:ext>
            </p:extLst>
          </p:nvPr>
        </p:nvGraphicFramePr>
        <p:xfrm>
          <a:off x="2525268" y="3332545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0.82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grid network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808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1329"/>
            <a:ext cx="10515600" cy="42955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dirty="0"/>
              <a:t>For the </a:t>
            </a:r>
            <a:r>
              <a:rPr lang="en-US" sz="3000" b="1" dirty="0" err="1"/>
              <a:t>GridExp</a:t>
            </a:r>
            <a:r>
              <a:rPr lang="en-US" sz="3000" b="1" dirty="0"/>
              <a:t> </a:t>
            </a:r>
            <a:r>
              <a:rPr lang="en-US" sz="3000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i="1" dirty="0" err="1"/>
              <a:t>FixedCost</a:t>
            </a:r>
            <a:r>
              <a:rPr lang="en-US" sz="3000" i="1" dirty="0"/>
              <a:t>: </a:t>
            </a:r>
            <a:r>
              <a:rPr lang="en-US" sz="3000" dirty="0"/>
              <a:t>Insert the following values.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</a:t>
            </a:r>
            <a:r>
              <a:rPr lang="en-US" sz="3000" i="1" dirty="0" err="1"/>
              <a:t>OperationalLife</a:t>
            </a:r>
            <a:r>
              <a:rPr lang="en-US" sz="3000" dirty="0"/>
              <a:t> can be set to </a:t>
            </a:r>
            <a:r>
              <a:rPr lang="en-US" sz="3000" b="1" dirty="0"/>
              <a:t>50 </a:t>
            </a:r>
            <a:r>
              <a:rPr lang="en-US" sz="3000" dirty="0"/>
              <a:t>years, while the </a:t>
            </a:r>
            <a:r>
              <a:rPr lang="en-US" sz="3000" dirty="0" err="1"/>
              <a:t>CapacitytoActivityUnit</a:t>
            </a:r>
            <a:r>
              <a:rPr lang="en-US" sz="3000" dirty="0"/>
              <a:t> can be set to </a:t>
            </a:r>
            <a:r>
              <a:rPr lang="en-US" sz="3000" b="1" dirty="0"/>
              <a:t>31.536</a:t>
            </a:r>
            <a:r>
              <a:rPr lang="en-US" sz="30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953522"/>
              </p:ext>
            </p:extLst>
          </p:nvPr>
        </p:nvGraphicFramePr>
        <p:xfrm>
          <a:off x="2525268" y="2841653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3775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594357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 err="1">
                          <a:effectLst/>
                        </a:rPr>
                        <a:t>GridExp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 err="1">
                          <a:effectLst/>
                        </a:rPr>
                        <a:t>GridExp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 err="1">
                          <a:effectLst/>
                        </a:rPr>
                        <a:t>GridExp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0.96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grid network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45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9647"/>
            <a:ext cx="10515600" cy="4437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 err="1"/>
              <a:t>GridExp</a:t>
            </a:r>
            <a:r>
              <a:rPr lang="en-US" b="1" dirty="0"/>
              <a:t>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CapitalCost</a:t>
            </a:r>
            <a:r>
              <a:rPr lang="en-US" i="1" dirty="0"/>
              <a:t>: </a:t>
            </a:r>
            <a:r>
              <a:rPr lang="en-US" dirty="0"/>
              <a:t>Insert the following values.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Note that this is a simplification, based on assumptions! Grid expansion cost typically depends on the distance (hence the importance of geospatial electrification toolkits – e.g. </a:t>
            </a:r>
            <a:r>
              <a:rPr lang="en-US" sz="2000" dirty="0" err="1"/>
              <a:t>OnSSET</a:t>
            </a:r>
            <a:r>
              <a:rPr lang="en-US" sz="2000" dirty="0"/>
              <a:t>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621804"/>
              </p:ext>
            </p:extLst>
          </p:nvPr>
        </p:nvGraphicFramePr>
        <p:xfrm>
          <a:off x="2650670" y="2845499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3775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594357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 err="1">
                          <a:effectLst/>
                        </a:rPr>
                        <a:t>GridExp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 err="1">
                          <a:effectLst/>
                        </a:rPr>
                        <a:t>GridExp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 err="1">
                          <a:effectLst/>
                        </a:rPr>
                        <a:t>GridExp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4000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grid network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638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10554</TotalTime>
  <Words>1110</Words>
  <Application>Microsoft Office PowerPoint</Application>
  <PresentationFormat>Widescreen</PresentationFormat>
  <Paragraphs>513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KTH-OpTIMUS-DFID</vt:lpstr>
      <vt:lpstr>Exercise - Learning Objectives</vt:lpstr>
      <vt:lpstr>Defining the grid network</vt:lpstr>
      <vt:lpstr>Defining characteristics of the grid network</vt:lpstr>
      <vt:lpstr>Defining characteristics of the grid network</vt:lpstr>
      <vt:lpstr>Defining characteristics of the grid network</vt:lpstr>
      <vt:lpstr>Defining an expansion of the grid network</vt:lpstr>
      <vt:lpstr>Defining characteristics of the grid network</vt:lpstr>
      <vt:lpstr>Defining characteristics of the grid network</vt:lpstr>
      <vt:lpstr>Defining characteristics of the grid network</vt:lpstr>
      <vt:lpstr>Defining characteristics of the grid network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168</cp:revision>
  <dcterms:created xsi:type="dcterms:W3CDTF">2017-06-07T13:22:49Z</dcterms:created>
  <dcterms:modified xsi:type="dcterms:W3CDTF">2020-04-03T11:23:10Z</dcterms:modified>
</cp:coreProperties>
</file>