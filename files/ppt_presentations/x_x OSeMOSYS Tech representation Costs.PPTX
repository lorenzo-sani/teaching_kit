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"/>
  </p:notesMasterIdLst>
  <p:handoutMasterIdLst>
    <p:handoutMasterId r:id="rId4"/>
  </p:handoutMasterIdLst>
  <p:sldIdLst>
    <p:sldId id="32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costs are split into </a:t>
            </a:r>
            <a:r>
              <a:rPr lang="en-US" b="1" dirty="0" err="1"/>
              <a:t>CapitalCost</a:t>
            </a:r>
            <a:r>
              <a:rPr lang="en-US" dirty="0"/>
              <a:t>, </a:t>
            </a:r>
            <a:r>
              <a:rPr lang="en-US" b="1" dirty="0" err="1"/>
              <a:t>FixedCost</a:t>
            </a:r>
            <a:r>
              <a:rPr lang="en-US" dirty="0"/>
              <a:t> and </a:t>
            </a:r>
            <a:r>
              <a:rPr lang="en-US" b="1" dirty="0" err="1"/>
              <a:t>VariableCost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D2227C-EA6A-4BD6-BE02-06D8BA76CBE2}"/>
              </a:ext>
            </a:extLst>
          </p:cNvPr>
          <p:cNvSpPr txBox="1">
            <a:spLocks/>
          </p:cNvSpPr>
          <p:nvPr/>
        </p:nvSpPr>
        <p:spPr>
          <a:xfrm>
            <a:off x="7207522" y="2373215"/>
            <a:ext cx="3407229" cy="906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 dirty="0" err="1"/>
              <a:t>Fuel</a:t>
            </a:r>
            <a:r>
              <a:rPr lang="sv-SE" sz="1600" dirty="0"/>
              <a:t> </a:t>
            </a:r>
          </a:p>
          <a:p>
            <a:pPr marL="285750" indent="-285750"/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consumables</a:t>
            </a:r>
            <a:r>
              <a:rPr lang="sv-SE" sz="1600" dirty="0"/>
              <a:t> (</a:t>
            </a:r>
            <a:r>
              <a:rPr lang="sv-SE" sz="1600" dirty="0" err="1"/>
              <a:t>e.g</a:t>
            </a:r>
            <a:r>
              <a:rPr lang="sv-SE" sz="1600" dirty="0"/>
              <a:t>. </a:t>
            </a:r>
            <a:r>
              <a:rPr lang="sv-SE" sz="1600" dirty="0" err="1"/>
              <a:t>chemicals</a:t>
            </a:r>
            <a:r>
              <a:rPr lang="sv-SE" sz="1600" dirty="0"/>
              <a:t>, detergents, etc.)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8F766C-3D86-4ECB-93AF-F104C8759B64}"/>
              </a:ext>
            </a:extLst>
          </p:cNvPr>
          <p:cNvSpPr txBox="1">
            <a:spLocks/>
          </p:cNvSpPr>
          <p:nvPr/>
        </p:nvSpPr>
        <p:spPr>
          <a:xfrm>
            <a:off x="7207522" y="3817088"/>
            <a:ext cx="3407229" cy="1042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 dirty="0" err="1"/>
              <a:t>Salaries</a:t>
            </a:r>
            <a:endParaRPr lang="sv-SE" sz="1600" dirty="0"/>
          </a:p>
          <a:p>
            <a:pPr marL="285750" indent="-285750"/>
            <a:r>
              <a:rPr lang="sv-SE" sz="1600" dirty="0" err="1"/>
              <a:t>Taxes</a:t>
            </a:r>
            <a:r>
              <a:rPr lang="sv-SE" sz="1600" dirty="0"/>
              <a:t> and </a:t>
            </a:r>
            <a:r>
              <a:rPr lang="sv-SE" sz="1600" dirty="0" err="1"/>
              <a:t>insurance</a:t>
            </a:r>
            <a:endParaRPr lang="sv-SE" sz="1600" dirty="0"/>
          </a:p>
          <a:p>
            <a:pPr marL="285750" indent="-285750"/>
            <a:r>
              <a:rPr lang="sv-SE" sz="1600" dirty="0" err="1"/>
              <a:t>Fixed</a:t>
            </a:r>
            <a:r>
              <a:rPr lang="sv-SE" sz="1600" dirty="0"/>
              <a:t> </a:t>
            </a:r>
            <a:r>
              <a:rPr lang="sv-SE" sz="1600" dirty="0" err="1"/>
              <a:t>fuel</a:t>
            </a:r>
            <a:r>
              <a:rPr lang="sv-SE" sz="1600" dirty="0"/>
              <a:t> </a:t>
            </a:r>
            <a:r>
              <a:rPr lang="sv-SE" sz="1600" dirty="0" err="1"/>
              <a:t>costs</a:t>
            </a:r>
            <a:endParaRPr lang="sv-SE" sz="1600" dirty="0"/>
          </a:p>
          <a:p>
            <a:pPr marL="285750" indent="-285750"/>
            <a:endParaRPr lang="sv-SE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CBE402-22B7-48A4-BB92-EAA0B26696C8}"/>
              </a:ext>
            </a:extLst>
          </p:cNvPr>
          <p:cNvSpPr txBox="1">
            <a:spLocks/>
          </p:cNvSpPr>
          <p:nvPr/>
        </p:nvSpPr>
        <p:spPr>
          <a:xfrm>
            <a:off x="7207522" y="5048812"/>
            <a:ext cx="3407229" cy="9865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v-SE" sz="1600" dirty="0" err="1"/>
              <a:t>Depreciation</a:t>
            </a:r>
            <a:endParaRPr lang="sv-SE" sz="1600" dirty="0"/>
          </a:p>
          <a:p>
            <a:pPr marL="285750" indent="-285750"/>
            <a:r>
              <a:rPr lang="sv-SE" sz="1600" dirty="0" err="1"/>
              <a:t>Return</a:t>
            </a:r>
            <a:r>
              <a:rPr lang="sv-SE" sz="1600" dirty="0"/>
              <a:t> on investment</a:t>
            </a:r>
          </a:p>
          <a:p>
            <a:pPr marL="285750" indent="-285750"/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one-time</a:t>
            </a:r>
            <a:r>
              <a:rPr lang="sv-SE" sz="1600" dirty="0"/>
              <a:t> </a:t>
            </a:r>
            <a:r>
              <a:rPr lang="sv-SE" sz="1600" dirty="0" err="1"/>
              <a:t>fixed</a:t>
            </a:r>
            <a:r>
              <a:rPr lang="sv-SE" sz="1600" dirty="0"/>
              <a:t> charges</a:t>
            </a:r>
          </a:p>
          <a:p>
            <a:pPr marL="285750" indent="-285750"/>
            <a:endParaRPr lang="sv-SE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6A11A6-7AE3-43A2-879F-AA88AD1EE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16" y="2347898"/>
            <a:ext cx="6019442" cy="368745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OSeMOSYS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Costs</a:t>
            </a:r>
            <a:endParaRPr lang="fr-FR" dirty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06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48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KTH-OpTIMUS-DFID</vt:lpstr>
      <vt:lpstr>Technology representation in OSeMOSYS:  Costs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2020-04-02T17:01:57Z</dcterms:modified>
</cp:coreProperties>
</file>