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" ContentType="image/tif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1"/>
    <p:sldMasterId id="2147483667" r:id="rId12"/>
  </p:sldMasterIdLst>
  <p:notesMasterIdLst>
    <p:notesMasterId r:id="rId17"/>
  </p:notesMasterIdLst>
  <p:handoutMasterIdLst>
    <p:handoutMasterId r:id="rId18"/>
  </p:handoutMasterIdLst>
  <p:sldIdLst>
    <p:sldId id="471" r:id="rId13"/>
    <p:sldId id="316" r:id="rId14"/>
    <p:sldId id="269" r:id="rId15"/>
    <p:sldId id="31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ancesco Gardumi" initials="FG" lastIdx="1" clrIdx="1">
    <p:extLst>
      <p:ext uri="{19B8F6BF-5375-455C-9EA6-DF929625EA0E}">
        <p15:presenceInfo xmlns:p15="http://schemas.microsoft.com/office/powerpoint/2012/main" userId="S-1-5-21-4270984560-2697355171-1338322823-6359" providerId="AD"/>
      </p:ext>
    </p:extLst>
  </p:cmAuthor>
  <p:cmAuthor id="3" name="Youssef Almulla" initials="YA" lastIdx="5" clrIdx="0">
    <p:extLst>
      <p:ext uri="{19B8F6BF-5375-455C-9EA6-DF929625EA0E}">
        <p15:presenceInfo xmlns:p15="http://schemas.microsoft.com/office/powerpoint/2012/main" userId="50222d39666882b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88" autoAdjust="0"/>
    <p:restoredTop sz="71253" autoAdjust="0"/>
  </p:normalViewPr>
  <p:slideViewPr>
    <p:cSldViewPr snapToGrid="0">
      <p:cViewPr varScale="1">
        <p:scale>
          <a:sx n="84" d="100"/>
          <a:sy n="84" d="100"/>
        </p:scale>
        <p:origin x="1292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1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customXml" Target="../customXml/item7.xml"/><Relationship Id="rId12" Type="http://schemas.openxmlformats.org/officeDocument/2006/relationships/slideMaster" Target="slideMasters/slideMaster2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Master" Target="slideMasters/slideMaster1.xml"/><Relationship Id="rId5" Type="http://schemas.openxmlformats.org/officeDocument/2006/relationships/customXml" Target="../customXml/item5.xml"/><Relationship Id="rId15" Type="http://schemas.openxmlformats.org/officeDocument/2006/relationships/slide" Target="slides/slide3.xml"/><Relationship Id="rId23" Type="http://schemas.openxmlformats.org/officeDocument/2006/relationships/tableStyles" Target="tableStyles.xml"/><Relationship Id="rId10" Type="http://schemas.openxmlformats.org/officeDocument/2006/relationships/customXml" Target="../customXml/item10.xml"/><Relationship Id="rId19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1B068-BE6A-4C82-9505-14C84DEFDB7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123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1B068-BE6A-4C82-9505-14C84DEFDB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48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1B068-BE6A-4C82-9505-14C84DEFDB7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56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67DC8DA-F41D-4357-AF7D-8B07BAA50DFB}" type="datetime5">
              <a:rPr lang="en-US" smtClean="0"/>
              <a:t>2-Apr-20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338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7A9FDE58-F5A0-44E1-8715-DD877F75B0B0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95747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Changelog and attribution</a:t>
            </a:r>
            <a:endParaRPr lang="en-GB" dirty="0"/>
          </a:p>
        </p:txBody>
      </p:sp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1238693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7562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86F4BEB2-7F07-47F3-8710-C1DE8B120BBF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83559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5F15FE8-F8A1-41ED-B085-9135EF2E97BE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50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ECEC93A-8703-4960-9BDC-B08AE530E503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1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83C623C-C0D5-4BB1-B74E-C52FE1B72BEF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07906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F880CF6-3BB5-4798-8708-4C4F6298CD4F}" type="datetime5">
              <a:rPr lang="en-US" smtClean="0"/>
              <a:t>2-Apr-20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54521"/>
            <a:ext cx="9418320" cy="109728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40225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15AE4025-65B5-44FD-A9B4-B7FEEECACB1D}" type="datetime5">
              <a:rPr lang="en-US" smtClean="0"/>
              <a:t>2-Apr-20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31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D8B900-4721-487C-87F4-9B9A5BE843B6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3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DA1A421-B4C4-4F91-B55B-58BA12350BE8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48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F8B18EB2-02A5-453D-BC9D-4F89E3A4B6C5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486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40BDB8E-8C45-4EA9-B9FE-E0D09EE1F78F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00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8D00E32-ABD3-4E84-B7EE-9FCC81C47861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15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1739AD5-7CEE-4007-907F-0B2E3FA9A06B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998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2D44-9BB5-418D-8A48-EA2A97F54C4B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01153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FB40A-63C3-40EC-B484-BEB026E13EAC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924121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29A81-FB0B-4F5B-8E70-D09EB8D7A4A7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448195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8CA8F-4A43-41EF-B497-DD4149C080CA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388922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98AE5-DC26-4EF3-9937-09E278DC60EB}" type="datetime5">
              <a:rPr lang="en-US" smtClean="0"/>
              <a:t>2-Apr-20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92573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9FA0-DDD5-4437-AD8F-C343C9C526D4}" type="datetime5">
              <a:rPr lang="en-US" smtClean="0"/>
              <a:t>2-Apr-20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59131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1C3A-C368-4F0D-8D85-756DC392FC4F}" type="datetime5">
              <a:rPr lang="en-US" smtClean="0"/>
              <a:t>2-Apr-20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85375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6681A-AF31-4120-969B-E924D9A47771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07206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B04DB-4778-4F59-9829-7E4536C23145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173204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AA5E-FF76-4BD9-A1BF-C6E3FD475BF4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25068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34519-1A38-4BCD-BC7F-E184E1462810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8790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942" y="913448"/>
            <a:ext cx="1363858" cy="5352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softEdge rad="1270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2" descr="http://www.osemosys.org/uploads/1/8/5/0/18504136/logo_1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967" y="265989"/>
            <a:ext cx="1977808" cy="71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720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8AAAB-CBEC-416D-83B6-509BD8C5945B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3633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semosys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616149"/>
            <a:ext cx="10515600" cy="4638654"/>
          </a:xfrm>
        </p:spPr>
        <p:txBody>
          <a:bodyPr>
            <a:normAutofit lnSpcReduction="10000"/>
          </a:bodyPr>
          <a:lstStyle/>
          <a:p>
            <a:pPr marL="0" lvl="1" indent="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GB" sz="2800" b="1" spc="0" dirty="0">
                <a:hlinkClick r:id="rId3"/>
              </a:rPr>
              <a:t>www.osemosys.org</a:t>
            </a:r>
            <a:endParaRPr lang="en-GB" sz="2800" b="1" spc="0" dirty="0"/>
          </a:p>
          <a:p>
            <a:pPr marL="0" lvl="1" indent="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GB" sz="2200" b="1" spc="0" dirty="0">
                <a:solidFill>
                  <a:schemeClr val="bg1">
                    <a:lumMod val="50000"/>
                  </a:schemeClr>
                </a:solidFill>
              </a:rPr>
              <a:t>Howells, M., et al. (2011). </a:t>
            </a:r>
            <a:r>
              <a:rPr lang="en-US" sz="2200" b="1" spc="0" dirty="0" err="1">
                <a:solidFill>
                  <a:schemeClr val="bg1">
                    <a:lumMod val="50000"/>
                  </a:schemeClr>
                </a:solidFill>
              </a:rPr>
              <a:t>OSeMOSYS</a:t>
            </a:r>
            <a:r>
              <a:rPr lang="en-US" sz="2200" b="1" spc="0" dirty="0">
                <a:solidFill>
                  <a:schemeClr val="bg1">
                    <a:lumMod val="50000"/>
                  </a:schemeClr>
                </a:solidFill>
              </a:rPr>
              <a:t>: The Open Source Energy Modeling System: An introduction to its ethos, structure and development</a:t>
            </a:r>
            <a:r>
              <a:rPr lang="en-GB" sz="2200" b="1" spc="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GB" sz="2200" b="1" i="1" spc="0" dirty="0">
                <a:solidFill>
                  <a:schemeClr val="bg1">
                    <a:lumMod val="50000"/>
                  </a:schemeClr>
                </a:solidFill>
              </a:rPr>
              <a:t>Energy Policy</a:t>
            </a:r>
            <a:r>
              <a:rPr lang="en-GB" sz="2200" b="1" spc="0" dirty="0">
                <a:solidFill>
                  <a:schemeClr val="bg1">
                    <a:lumMod val="50000"/>
                  </a:schemeClr>
                </a:solidFill>
              </a:rPr>
              <a:t>, 39(10), p.5850-5870.</a:t>
            </a:r>
            <a:endParaRPr lang="en-GB" sz="2200" b="1" i="1" spc="0" dirty="0">
              <a:solidFill>
                <a:schemeClr val="bg1">
                  <a:lumMod val="50000"/>
                </a:schemeClr>
              </a:solidFill>
            </a:endParaRPr>
          </a:p>
          <a:p>
            <a:pPr marL="0" lvl="1" indent="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200" b="1" spc="0" dirty="0"/>
              <a:t>Model generator converting the energy system structure represented by equations into a matrix to be solved by specific solvers</a:t>
            </a:r>
          </a:p>
          <a:p>
            <a:pPr marL="0" lvl="1" indent="0" algn="just">
              <a:lnSpc>
                <a:spcPct val="110000"/>
              </a:lnSpc>
              <a:spcBef>
                <a:spcPts val="0"/>
              </a:spcBef>
              <a:buNone/>
              <a:defRPr/>
            </a:pPr>
            <a:endParaRPr lang="en-GB" sz="2200" b="1" spc="0" dirty="0"/>
          </a:p>
          <a:p>
            <a:pPr marL="800100" lvl="2" indent="-342900" algn="just">
              <a:lnSpc>
                <a:spcPct val="120000"/>
              </a:lnSpc>
              <a:spcBef>
                <a:spcPts val="0"/>
              </a:spcBef>
              <a:defRPr/>
            </a:pPr>
            <a:r>
              <a:rPr lang="en-GB" sz="2200" b="1" i="1" spc="0" dirty="0"/>
              <a:t>Linear optimisation</a:t>
            </a:r>
          </a:p>
          <a:p>
            <a:pPr marL="800100" lvl="2" indent="-342900" algn="just">
              <a:lnSpc>
                <a:spcPct val="120000"/>
              </a:lnSpc>
              <a:spcBef>
                <a:spcPts val="0"/>
              </a:spcBef>
              <a:defRPr/>
            </a:pPr>
            <a:r>
              <a:rPr lang="en-GB" sz="2200" spc="0" dirty="0"/>
              <a:t>Freely available and Open source</a:t>
            </a:r>
          </a:p>
          <a:p>
            <a:pPr marL="800100" lvl="2" indent="-342900" algn="just">
              <a:lnSpc>
                <a:spcPct val="120000"/>
              </a:lnSpc>
              <a:spcBef>
                <a:spcPts val="0"/>
              </a:spcBef>
              <a:defRPr/>
            </a:pPr>
            <a:r>
              <a:rPr lang="en-GB" sz="2200" spc="0" dirty="0"/>
              <a:t>Deterministic</a:t>
            </a:r>
          </a:p>
          <a:p>
            <a:pPr marL="800100" lvl="2" indent="-342900" algn="just">
              <a:lnSpc>
                <a:spcPct val="120000"/>
              </a:lnSpc>
              <a:spcBef>
                <a:spcPts val="0"/>
              </a:spcBef>
              <a:defRPr/>
            </a:pPr>
            <a:r>
              <a:rPr lang="en-GB" sz="2200" spc="0" dirty="0"/>
              <a:t>Dynamic</a:t>
            </a:r>
          </a:p>
          <a:p>
            <a:pPr marL="800100" lvl="2" indent="-342900" algn="just">
              <a:lnSpc>
                <a:spcPct val="120000"/>
              </a:lnSpc>
              <a:spcBef>
                <a:spcPts val="0"/>
              </a:spcBef>
              <a:defRPr/>
            </a:pPr>
            <a:r>
              <a:rPr lang="en-GB" sz="2200" spc="0" dirty="0"/>
              <a:t>Perfect foresight</a:t>
            </a:r>
          </a:p>
          <a:p>
            <a:pPr marL="800100" lvl="2" indent="-342900" algn="just">
              <a:lnSpc>
                <a:spcPct val="120000"/>
              </a:lnSpc>
              <a:spcBef>
                <a:spcPts val="0"/>
              </a:spcBef>
              <a:defRPr/>
            </a:pPr>
            <a:r>
              <a:rPr lang="sv-SE" sz="2200" spc="0" dirty="0"/>
              <a:t>Paradigm comparable to MESSAGE and TIMES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OSeMOSYS</a:t>
            </a:r>
            <a:endParaRPr lang="en-GB" dirty="0"/>
          </a:p>
        </p:txBody>
      </p:sp>
      <p:pic>
        <p:nvPicPr>
          <p:cNvPr id="5" name="Imagen 2" descr="Screen Shot 2013-01-30 at 4.39.49 PM.png">
            <a:extLst>
              <a:ext uri="{FF2B5EF4-FFF2-40B4-BE49-F238E27FC236}">
                <a16:creationId xmlns:a16="http://schemas.microsoft.com/office/drawing/2014/main" id="{DE5FCE28-CEF7-4577-A8A4-951FAD5C6B1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75"/>
          <a:stretch/>
        </p:blipFill>
        <p:spPr>
          <a:xfrm>
            <a:off x="8354860" y="3896180"/>
            <a:ext cx="2998940" cy="235862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3EEE3-DD26-4109-9996-A0F31E800E69}" type="slidenum">
              <a:rPr lang="en-GB" smtClean="0"/>
              <a:t>1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F1B011-E674-48A3-9B47-4D058B9B0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3FF33-A775-4311-9EF9-959CF089ABA2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35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OSeMOSYS</a:t>
            </a:r>
            <a:r>
              <a:rPr lang="en-US" dirty="0"/>
              <a:t> in the modelling suite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2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2A3C2D-C382-42EC-A9EA-68E986BB87F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" t="2691" r="13614" b="12547"/>
          <a:stretch/>
        </p:blipFill>
        <p:spPr bwMode="auto">
          <a:xfrm>
            <a:off x="2740445" y="1323423"/>
            <a:ext cx="6623892" cy="49298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71B0451-B858-4DCB-8B23-0EC22D7D7F45}"/>
              </a:ext>
            </a:extLst>
          </p:cNvPr>
          <p:cNvSpPr/>
          <p:nvPr/>
        </p:nvSpPr>
        <p:spPr>
          <a:xfrm>
            <a:off x="4935556" y="5226784"/>
            <a:ext cx="3811836" cy="71609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5F1212-0BEA-4EF2-94EE-C5565D205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7B7C-F503-48ED-BF90-4349267037BF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0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3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</a:t>
            </a:r>
            <a:r>
              <a:rPr lang="en-US" dirty="0" err="1"/>
              <a:t>OSeMOSYS</a:t>
            </a:r>
            <a:r>
              <a:rPr lang="en-US" dirty="0"/>
              <a:t> do?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F98CCA-3C19-444A-92D9-BDE56F982BF1}"/>
              </a:ext>
            </a:extLst>
          </p:cNvPr>
          <p:cNvSpPr/>
          <p:nvPr/>
        </p:nvSpPr>
        <p:spPr>
          <a:xfrm>
            <a:off x="932698" y="1731941"/>
            <a:ext cx="10515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GB" altLang="en-US" sz="2800" dirty="0"/>
              <a:t>It determines the energy system configuration with the </a:t>
            </a:r>
            <a:r>
              <a:rPr lang="en-GB" altLang="en-US" sz="2800" b="1" dirty="0"/>
              <a:t>minimum total discounted cost</a:t>
            </a:r>
            <a:r>
              <a:rPr lang="en-GB" altLang="en-US" sz="2800" dirty="0"/>
              <a:t> for a time domain of decades, </a:t>
            </a:r>
            <a:r>
              <a:rPr lang="en-GB" altLang="en-US" sz="2800" b="1" u="sng" dirty="0"/>
              <a:t>constrained by</a:t>
            </a:r>
            <a:r>
              <a:rPr lang="en-GB" altLang="en-US" sz="2800" dirty="0"/>
              <a:t>:</a:t>
            </a:r>
          </a:p>
          <a:p>
            <a:pPr>
              <a:spcBef>
                <a:spcPts val="0"/>
              </a:spcBef>
            </a:pPr>
            <a:endParaRPr lang="en-GB" altLang="en-US" sz="2800" dirty="0"/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altLang="en-US" sz="2800" b="1" dirty="0"/>
              <a:t>Demand for energy </a:t>
            </a:r>
            <a:r>
              <a:rPr lang="en-GB" altLang="en-US" sz="2800" dirty="0"/>
              <a:t>(e.g. electricity, heating, cooling, km-passengers, etc.) that needs to be met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altLang="en-US" sz="2800" b="1" dirty="0"/>
              <a:t>Available technologies </a:t>
            </a:r>
            <a:r>
              <a:rPr lang="en-GB" altLang="en-US" sz="2800" dirty="0"/>
              <a:t>and their techno-economic characteristics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altLang="en-US" sz="2800" b="1" dirty="0"/>
              <a:t>Emission taxations </a:t>
            </a:r>
            <a:r>
              <a:rPr lang="en-GB" altLang="en-US" sz="2800" dirty="0"/>
              <a:t>and generation targets (e.g. renewables)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altLang="en-US" sz="2800" b="1" dirty="0"/>
              <a:t>Other constraints </a:t>
            </a:r>
            <a:r>
              <a:rPr lang="en-GB" altLang="en-US" sz="2800" dirty="0"/>
              <a:t>(e.g. ramping capability, availability of resources, investment decisions, etc.)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8125A-2D64-4F44-9DD6-6CAE05394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DB80A-1661-41CE-8BEF-D93BC989B1F2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754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559740B-6A18-4321-8355-723932DDA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1656854"/>
            <a:ext cx="3154680" cy="4525963"/>
          </a:xfrm>
        </p:spPr>
        <p:txBody>
          <a:bodyPr>
            <a:normAutofit lnSpcReduction="10000"/>
          </a:bodyPr>
          <a:lstStyle/>
          <a:p>
            <a:pPr marL="0" lvl="1" indent="0">
              <a:buNone/>
            </a:pPr>
            <a:r>
              <a:rPr lang="en-GB" sz="2600" dirty="0"/>
              <a:t>Technologies compete to </a:t>
            </a:r>
            <a:r>
              <a:rPr lang="en-GB" sz="2600" b="1" u="sng" dirty="0"/>
              <a:t>gain a share in the energy supply</a:t>
            </a:r>
            <a:r>
              <a:rPr lang="en-GB" sz="2600" dirty="0"/>
              <a:t>, based </a:t>
            </a:r>
            <a:r>
              <a:rPr lang="en-GB" sz="2600" dirty="0" smtClean="0"/>
              <a:t>on:</a:t>
            </a:r>
          </a:p>
          <a:p>
            <a:pPr marL="0" lvl="1" indent="0">
              <a:buNone/>
            </a:pPr>
            <a:endParaRPr lang="en-GB" sz="2600" dirty="0" smtClean="0"/>
          </a:p>
          <a:p>
            <a:pPr marL="0" lvl="1" indent="0">
              <a:buNone/>
            </a:pPr>
            <a:r>
              <a:rPr lang="en-GB" sz="2600" dirty="0" smtClean="0"/>
              <a:t>a)their </a:t>
            </a:r>
            <a:r>
              <a:rPr lang="en-GB" sz="2600" b="1" dirty="0" smtClean="0"/>
              <a:t>characteristics </a:t>
            </a:r>
            <a:r>
              <a:rPr lang="en-GB" sz="2600" dirty="0" smtClean="0"/>
              <a:t>(e.g. cost, life time, efficiency </a:t>
            </a:r>
            <a:r>
              <a:rPr lang="en-GB" sz="2600" dirty="0" err="1" smtClean="0"/>
              <a:t>etc</a:t>
            </a:r>
            <a:r>
              <a:rPr lang="en-GB" sz="2600" dirty="0" smtClean="0"/>
              <a:t>);</a:t>
            </a:r>
          </a:p>
          <a:p>
            <a:pPr marL="0" lvl="1" indent="0">
              <a:buNone/>
            </a:pPr>
            <a:endParaRPr lang="en-GB" sz="2600" b="1" dirty="0" smtClean="0"/>
          </a:p>
          <a:p>
            <a:pPr marL="0" lvl="1" indent="0">
              <a:buNone/>
            </a:pPr>
            <a:r>
              <a:rPr lang="en-GB" sz="2600" dirty="0" smtClean="0"/>
              <a:t>b) other </a:t>
            </a:r>
            <a:r>
              <a:rPr lang="en-GB" sz="2600" b="1" dirty="0"/>
              <a:t>constraints</a:t>
            </a:r>
            <a:r>
              <a:rPr lang="en-GB" sz="2600" dirty="0"/>
              <a:t> </a:t>
            </a:r>
            <a:r>
              <a:rPr lang="en-GB" sz="2600" dirty="0" smtClean="0"/>
              <a:t> (e.g</a:t>
            </a:r>
            <a:r>
              <a:rPr lang="en-GB" sz="2600" dirty="0"/>
              <a:t>. </a:t>
            </a:r>
            <a:r>
              <a:rPr lang="en-GB" sz="2600" b="1" dirty="0"/>
              <a:t>demand</a:t>
            </a:r>
            <a:r>
              <a:rPr lang="en-GB" sz="2600" dirty="0"/>
              <a:t>, min renewable generation, emissions, use of resources, </a:t>
            </a:r>
            <a:r>
              <a:rPr lang="en-GB" sz="2600" dirty="0" err="1" smtClean="0"/>
              <a:t>etc</a:t>
            </a:r>
            <a:r>
              <a:rPr lang="en-GB" sz="2600" dirty="0" smtClean="0"/>
              <a:t>).</a:t>
            </a:r>
            <a:endParaRPr lang="en-GB" sz="2600" dirty="0"/>
          </a:p>
          <a:p>
            <a:endParaRPr lang="en-US" sz="2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4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</a:t>
            </a:r>
            <a:r>
              <a:rPr lang="en-US" dirty="0" err="1"/>
              <a:t>OSeMOSYS</a:t>
            </a:r>
            <a:r>
              <a:rPr lang="en-US" dirty="0"/>
              <a:t> do?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E2CB663-1510-4097-91D8-9BE3BEF8B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666" y="1659067"/>
            <a:ext cx="8233154" cy="506240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BFBA43-99D2-4301-B2AE-8095245A5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4399-C8CB-4A32-8C39-85201828C92D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61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eMOSYS_dESA_OpTIMU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SeMOSYS_dESA_OpTIMUS" id="{87B24570-67CC-4463-B33B-D3B7D7BCBA01}" vid="{5874AC31-46F6-47B9-A431-4546F1FB4AF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 OSeMOSYS Community_AB" id="{05E57207-9E8F-4997-AF84-042E96A9F9B0}" vid="{05C5C074-0B80-4D41-8661-E94856CD752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item1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2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3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4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5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6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7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8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9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10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Props1.xml><?xml version="1.0" encoding="utf-8"?>
<ds:datastoreItem xmlns:ds="http://schemas.openxmlformats.org/officeDocument/2006/customXml" ds:itemID="{0103A532-5B2C-4425-9F2A-7F4721A16C4C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E01F304E-8A23-4F3A-A522-8F0F304C2F57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C4C77668-3C09-4800-9078-32A63FDB8878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25B0A9D5-AA86-40E5-8BB9-BF6B6793A753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25A3FA23-A2B3-408D-BAC0-3974AD01A403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C617D7A1-438A-4842-B3E3-9908A6EB6D2C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2611C6C5-73A8-4088-8E8F-45AC80A93639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834A27C6-F506-436C-BE80-EBD990020008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A3DE4E40-43A6-4881-AA8B-24AE61AEFE20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1CFCFB3A-1124-4BB9-AF75-CF97631426FE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OSeMOSYS_dESA_OpTIMUS</Template>
  <TotalTime>6909</TotalTime>
  <Words>224</Words>
  <Application>Microsoft Office PowerPoint</Application>
  <PresentationFormat>Widescreen</PresentationFormat>
  <Paragraphs>36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OSeMOSYS_dESA_OpTIMUS</vt:lpstr>
      <vt:lpstr>Custom Design</vt:lpstr>
      <vt:lpstr>OSeMOSYS</vt:lpstr>
      <vt:lpstr>OSeMOSYS in the modelling suite</vt:lpstr>
      <vt:lpstr>What does OSeMOSYS do?</vt:lpstr>
      <vt:lpstr>What does OSeMOSYS do?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163</cp:revision>
  <dcterms:created xsi:type="dcterms:W3CDTF">2017-06-07T13:22:49Z</dcterms:created>
  <dcterms:modified xsi:type="dcterms:W3CDTF">2020-04-02T16:14:02Z</dcterms:modified>
</cp:coreProperties>
</file>