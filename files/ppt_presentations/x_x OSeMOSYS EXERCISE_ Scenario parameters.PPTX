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671" r:id="rId2"/>
    <p:sldMasterId id="2147483683" r:id="rId3"/>
    <p:sldMasterId id="2147483699" r:id="rId4"/>
    <p:sldMasterId id="2147483711" r:id="rId5"/>
    <p:sldMasterId id="2147483728" r:id="rId6"/>
  </p:sldMasterIdLst>
  <p:notesMasterIdLst>
    <p:notesMasterId r:id="rId18"/>
  </p:notesMasterIdLst>
  <p:handoutMasterIdLst>
    <p:handoutMasterId r:id="rId19"/>
  </p:handoutMasterIdLst>
  <p:sldIdLst>
    <p:sldId id="290" r:id="rId7"/>
    <p:sldId id="291" r:id="rId8"/>
    <p:sldId id="292" r:id="rId9"/>
    <p:sldId id="293" r:id="rId10"/>
    <p:sldId id="294" r:id="rId11"/>
    <p:sldId id="295" r:id="rId12"/>
    <p:sldId id="296" r:id="rId13"/>
    <p:sldId id="273" r:id="rId14"/>
    <p:sldId id="287" r:id="rId15"/>
    <p:sldId id="288" r:id="rId16"/>
    <p:sldId id="28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0337" autoAdjust="0"/>
  </p:normalViewPr>
  <p:slideViewPr>
    <p:cSldViewPr snapToGrid="0">
      <p:cViewPr varScale="1">
        <p:scale>
          <a:sx n="94" d="100"/>
          <a:sy n="94" d="100"/>
        </p:scale>
        <p:origin x="120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8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.org/development/desa/dpad/" TargetMode="External"/><Relationship Id="rId3" Type="http://schemas.openxmlformats.org/officeDocument/2006/relationships/hyperlink" Target="http://creativecommons.org/licenses/by/4.0/" TargetMode="External"/><Relationship Id="rId7" Type="http://schemas.openxmlformats.org/officeDocument/2006/relationships/image" Target="../media/image6.jpeg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hyperlink" Target="http://www.undp.org/content/undp/en/home/librarypage/corporate/bpps-org-chart.html" TargetMode="External"/><Relationship Id="rId10" Type="http://schemas.openxmlformats.org/officeDocument/2006/relationships/hyperlink" Target="http://www.desa.kth.se/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76850A5-EA80-472B-97CA-B82AAE7D7947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43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DC315D-8727-4584-AF09-7ED35AE60C9E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03707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0196716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1812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98B74-663C-45C3-84AA-64F17CCBFFB0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362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6AC638-E2BB-41DB-901C-70987E307CA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373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A820AE-5A56-4AAA-BF71-0F08214224CF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377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A2B85D-D8C7-462B-96D9-F75BAC76DFD0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27809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5C75B0-41BA-4392-8EA5-41378C6BD62E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214809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9B5F6B-06E4-4C1A-8678-BF1356522B4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239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8B0E2D-322F-462A-94F2-ECFACBF85C15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8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D9E005-C45F-4D2E-9252-D620F8B34396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1612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DA30B0-4569-497A-881A-293F4283024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62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8A2B9-CD2C-4D37-B907-6CC24150000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662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2A1067-E488-4736-9C60-942503D2B2C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0830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94FF34-ADB7-4D9A-A655-10899B9849E4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746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CF9F1-0FBE-4B5C-A364-470572C1A56A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03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9854-78FA-424C-B43C-E30256B423BB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034135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FA0A6-FCCC-4D87-9C49-403252C7DB46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73631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E43E8-8A0C-4CFB-BF69-8AF244E1A0FB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088345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CCB9C-102A-40B6-B053-A3ABC1941CB3}" type="datetime1">
              <a:rPr lang="en-GB" smtClean="0"/>
              <a:t>02/04/2020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1153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D1004-9BE1-43B6-8305-B9D607FA43EC}" type="datetime1">
              <a:rPr lang="en-GB" smtClean="0"/>
              <a:t>02/04/2020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53845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0A08-0DA5-468A-BD4F-BCC33BEEBD48}" type="datetime1">
              <a:rPr lang="en-GB" smtClean="0"/>
              <a:t>02/04/2020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81008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66D2-0CAA-482E-8963-ADF39027BAE4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934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C385F-DAB6-48A6-8F95-E133681E0640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60395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B4976-453E-4021-B231-0016662BC512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30421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4400-C05C-4125-9C04-9E29E1FC8564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90872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F584DFA-A726-4754-ACE4-57911832F923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pic>
        <p:nvPicPr>
          <p:cNvPr id="9" name="Picture 8" descr="https://lh6.googleusercontent.com/Ly_PhcwOrV7ieHqPjBUUdqFiAGODtzJmBwrIeHLHNXmO2gAmLok-TdTBr_d3BtnUCDenebmvgE80MCYN8Vorq6tctapX-MHkCI-nBydPkMCIQlU3bY5E3A4URgaFKH9_3Y3ixC7n">
            <a:hlinkClick r:id="rId5"/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4" y="74144"/>
            <a:ext cx="705409" cy="103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 userDrawn="1"/>
        </p:nvSpPr>
        <p:spPr>
          <a:xfrm>
            <a:off x="9311968" y="342121"/>
            <a:ext cx="2448454" cy="573250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v-SE" dirty="0">
                <a:solidFill>
                  <a:schemeClr val="tx1">
                    <a:lumMod val="95000"/>
                    <a:lumOff val="5000"/>
                  </a:schemeClr>
                </a:solidFill>
                <a:latin typeface="Ubuntu" panose="020B0504030602030204" pitchFamily="34" charset="0"/>
              </a:rPr>
              <a:t>OpTIMUS.community</a:t>
            </a:r>
            <a:endParaRPr lang="en-GB" dirty="0">
              <a:solidFill>
                <a:schemeClr val="bg1">
                  <a:lumMod val="50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961" y="0"/>
            <a:ext cx="2571842" cy="1187163"/>
          </a:xfrm>
          <a:prstGeom prst="rect">
            <a:avLst/>
          </a:prstGeom>
        </p:spPr>
      </p:pic>
      <p:pic>
        <p:nvPicPr>
          <p:cNvPr id="12" name="Picture 11" descr="https://lh5.googleusercontent.com/QwAyBzI_HrdO1gj0yaFRi0OiqghV8sMirzKBHzFYtGIWVVnBeuDuBR9_JP1vo9XJKYzGCL0sd1ZodqNBZxjvOYILUxRDdlxRQLuJNl1PB5k_6S9avTsqb2zL8U1SbUj7jo_r0pHa">
            <a:hlinkClick r:id="rId8"/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477" y="229886"/>
            <a:ext cx="2468411" cy="79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s://lh4.googleusercontent.com/jDjKyzhdhZWMxUNi7z6qAJzpBZEkOBbfd9pxc_hw_VhHxoTvuhQehahE7VFIlqmGgpn-yNdL2HsCN5L4vZpsZzJoIFrGq37CRI-kV8YM3EbnBWnbkWxvjk9tYWPG2bomkqh_um96">
            <a:hlinkClick r:id="rId10"/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877" y="142677"/>
            <a:ext cx="901808" cy="90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027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CC739D-1C1B-4ACD-B845-1843CB3FB258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690136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0351741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929341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ABBBC68-3FAB-412B-A810-FEE506887EA1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326793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5EB620B-8A16-4E09-A196-3755A810FE06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341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3DC16F9B-DDF4-4F65-ACD0-E9A40ECF2B74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21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F4AE031-39F4-472C-903B-2217F7DAC8FA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8980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8192498-0F4B-4A79-8299-42C4B5F5EB16}" type="datetime1">
              <a:rPr lang="en-GB" smtClean="0"/>
              <a:t>02/04/2020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7419526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F333B3-371D-4FC0-BF20-25CB8F95E7BC}" type="datetime1">
              <a:rPr lang="en-GB" smtClean="0"/>
              <a:t>02/04/2020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227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6D49765-1457-4539-A3E0-443681E9C24F}" type="datetime1">
              <a:rPr lang="en-GB" smtClean="0"/>
              <a:t>02/04/2020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3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A7F8A73-6718-428D-95E0-B403B33B233E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822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589354A-A3BA-4793-99EF-35A20F4BFF3F}" type="datetime1">
              <a:rPr lang="en-GB" smtClean="0"/>
              <a:t>02/04/2020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51535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CFD90B4-DFFB-4091-8BA9-9C7876D2326E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555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4A7C8A1-0DEF-4708-BEB1-81F05DE1E230}" type="datetime1">
              <a:rPr lang="en-GB" smtClean="0"/>
              <a:t>02/04/2020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587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BABB96D-BE4D-40F9-89B0-F5E493356521}" type="datetime1">
              <a:rPr lang="en-GB" smtClean="0"/>
              <a:t>02/04/2020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8882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4AD69-2013-4896-8148-EA376681E62E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26501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2D6B5-0EF3-43DA-B4D0-CD52A2419829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41387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8B04D-5133-46F3-8657-F8428FA963F8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34404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D92AF-4564-4CE1-9C4F-FBEBE6D0CFC1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4643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40F6-718F-4EBB-B3F9-5B4F60E2C072}" type="datetime1">
              <a:rPr lang="en-GB" smtClean="0"/>
              <a:t>02/04/2020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258154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CF2BF-2A8A-42F2-8206-81ED54035164}" type="datetime1">
              <a:rPr lang="en-GB" smtClean="0"/>
              <a:t>02/04/2020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90376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E507E-3CBE-4344-B4C3-B225EB9F04F3}" type="datetime1">
              <a:rPr lang="en-GB" smtClean="0"/>
              <a:t>02/04/2020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36243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771D1-29D6-4D26-8865-553B438BB9F5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823380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DC310-79B1-4E48-9062-E356E869DE05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491187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CE55-D2F5-4D13-A0D6-11128D7BB700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3118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BCF7-46AD-4EF2-A8B5-1D59DA8BECD6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495615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A65F844-5CC4-4378-95C7-5C543AB7788B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6459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AD0D28-0055-4801-B003-75812E15EE9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085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0069146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08B8D64-F4A8-4F96-9881-3162A69D0A87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8490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B55067-0233-4185-A547-D69B698EE48C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415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B0AA97-F54F-4771-8743-3F0A06F347EF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5036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8ED8D2-65DB-4EA2-A99D-2CD1B471A664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50319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2E81F7-88BB-447F-8300-7243DB3103B2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1856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1B2798-C19E-4D8D-9A0E-77299BCDE81E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87927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69710A-E167-4FDE-949D-05083EBC8A0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4514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F57FFF-46C9-413B-B107-2C3B4D8787FD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014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AE7A0-B311-494E-B431-907EEE881EAC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66766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BCC-A9AF-4791-B503-9C14EFB5100F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0084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4FEE4C-50FC-4DF8-A3E3-788D9623B4AB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0824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89A8CD-108C-43E5-968F-3277A9AB9C3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92254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B7DF5-F5F7-4821-8ED5-7ED7F81CB64A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02/04/2020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9056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 spc="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11006139" y="6054725"/>
            <a:ext cx="347661" cy="223838"/>
          </a:xfrm>
        </p:spPr>
        <p:txBody>
          <a:bodyPr>
            <a:noAutofit/>
          </a:bodyPr>
          <a:lstStyle>
            <a:lvl1pPr>
              <a:defRPr sz="1000"/>
            </a:lvl1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838200" y="6054725"/>
            <a:ext cx="10515600" cy="20238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spc="0"/>
            </a:lvl1pPr>
            <a:lvl2pPr>
              <a:defRPr sz="1000" spc="0"/>
            </a:lvl2pPr>
            <a:lvl3pPr>
              <a:defRPr sz="1000" spc="0"/>
            </a:lvl3pPr>
            <a:lvl4pPr>
              <a:defRPr sz="1000" spc="0"/>
            </a:lvl4pPr>
            <a:lvl5pPr>
              <a:defRPr sz="1000" spc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DF6FB7C3-4CF2-4572-BA1E-6B3A77F94E41}" type="datetime1">
              <a:rPr lang="en-GB" smtClean="0"/>
              <a:t>02/04/2020</a:t>
            </a:fld>
            <a:endParaRPr lang="en-GB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193031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29C48-19A4-4FF5-A1CE-E400C36EFFAD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041999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1C741-42FA-4F6C-9810-C866F6EFF739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027606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5D03-8A38-46BF-8BDE-0C1FAB2B9900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73670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2BE84-F4C9-4A53-BEE5-D2012A35BC70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900291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2A4B5-477A-4482-B993-84F9594C1377}" type="datetime1">
              <a:rPr lang="en-GB" smtClean="0"/>
              <a:t>02/04/2020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605347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FDBCB-9172-4CF8-BE44-DBCF512F82DB}" type="datetime1">
              <a:rPr lang="en-GB" smtClean="0"/>
              <a:t>02/04/2020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650127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6E822-D544-4B3F-914F-0B00EE7D3C05}" type="datetime1">
              <a:rPr lang="en-GB" smtClean="0"/>
              <a:t>02/04/2020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1841602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8CB20-59EF-47B7-8FB3-67B830CB523F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7890173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FF56-43AD-4420-8BDC-6E3EDEC3A2AA}" type="datetime1">
              <a:rPr lang="en-GB" smtClean="0"/>
              <a:t>02/04/2020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463854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A6179-F71C-4E32-8931-CB769889DC7E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63707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FB7A-F7B8-43EA-A787-03082E67F23D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4333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8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10.jp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34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22BAF-FFBD-40E3-8086-19BAF6F1B001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0947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95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00278-B780-4E01-804A-A564D8CE224A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942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458" y="844271"/>
            <a:ext cx="580339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3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ECDE4-0949-405D-9A15-27E0094BA312}" type="datetime1">
              <a:rPr lang="en-GB" smtClean="0"/>
              <a:t>02/04/2020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2402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75412"/>
            <a:ext cx="10515601" cy="4035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</a:t>
            </a:r>
            <a:r>
              <a:rPr lang="sv-SE" b="1" dirty="0" err="1"/>
              <a:t>European</a:t>
            </a:r>
            <a:r>
              <a:rPr lang="sv-SE" b="1" dirty="0"/>
              <a:t> Union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3" y="2732556"/>
            <a:ext cx="12052655" cy="1948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7047" y="5182708"/>
            <a:ext cx="447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800" b="1" dirty="0">
                <a:solidFill>
                  <a:srgbClr val="C00000"/>
                </a:solidFill>
              </a:rPr>
              <a:t>&gt;&gt;</a:t>
            </a:r>
            <a:r>
              <a:rPr lang="sv-SE" sz="2800" b="1" dirty="0" err="1">
                <a:solidFill>
                  <a:srgbClr val="C00000"/>
                </a:solidFill>
              </a:rPr>
              <a:t>AnnualEmissionLimit</a:t>
            </a:r>
            <a:endParaRPr lang="sv-SE" sz="2800" b="1" dirty="0">
              <a:solidFill>
                <a:srgbClr val="C00000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47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601" cy="3920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Canada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57047" y="5182708"/>
            <a:ext cx="447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800" b="1" dirty="0">
                <a:solidFill>
                  <a:srgbClr val="C00000"/>
                </a:solidFill>
              </a:rPr>
              <a:t>&gt;&gt;</a:t>
            </a:r>
            <a:r>
              <a:rPr lang="sv-SE" sz="2800" b="1" dirty="0" err="1">
                <a:solidFill>
                  <a:srgbClr val="C00000"/>
                </a:solidFill>
              </a:rPr>
              <a:t>AnnualEmissionLimit</a:t>
            </a:r>
            <a:endParaRPr lang="sv-SE" sz="2800" b="1" dirty="0">
              <a:solidFill>
                <a:srgbClr val="C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44" y="2614611"/>
            <a:ext cx="11535712" cy="209851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79614" y="4310744"/>
            <a:ext cx="6564086" cy="40093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23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4" y="2792580"/>
            <a:ext cx="11896732" cy="173043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29648"/>
            <a:ext cx="10515601" cy="3881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Canada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57047" y="5182708"/>
            <a:ext cx="447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800" b="1" dirty="0">
                <a:solidFill>
                  <a:srgbClr val="C00000"/>
                </a:solidFill>
              </a:rPr>
              <a:t>&gt;&gt;</a:t>
            </a:r>
            <a:r>
              <a:rPr lang="sv-SE" sz="2800" b="1" dirty="0" err="1">
                <a:solidFill>
                  <a:srgbClr val="C00000"/>
                </a:solidFill>
              </a:rPr>
              <a:t>EmissionsPenalty</a:t>
            </a:r>
            <a:endParaRPr lang="sv-SE" sz="28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7634" y="3800828"/>
            <a:ext cx="11870194" cy="72218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52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43" y="2378390"/>
            <a:ext cx="11940115" cy="24875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75920"/>
            <a:ext cx="10515601" cy="3835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</a:t>
            </a:r>
            <a:r>
              <a:rPr lang="sv-SE" b="1" dirty="0" err="1"/>
              <a:t>Morocco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857047" y="5182708"/>
            <a:ext cx="447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800" b="1" dirty="0">
                <a:solidFill>
                  <a:srgbClr val="C00000"/>
                </a:solidFill>
              </a:rPr>
              <a:t>&gt;&gt;</a:t>
            </a:r>
            <a:r>
              <a:rPr lang="sv-SE" sz="2800" b="1" dirty="0" err="1">
                <a:solidFill>
                  <a:srgbClr val="C00000"/>
                </a:solidFill>
              </a:rPr>
              <a:t>AnnualEmissionLimit</a:t>
            </a:r>
            <a:endParaRPr lang="sv-SE" sz="2800" b="1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3283" y="2378389"/>
            <a:ext cx="11940115" cy="80568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71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Energy Modelling Platform for Africa - 14-29 January 2019 University of Cape Town (South Africa)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58870"/>
            <a:ext cx="11179629" cy="4052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</a:t>
            </a:r>
            <a:r>
              <a:rPr lang="sv-SE" b="1" dirty="0" err="1"/>
              <a:t>Morocco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912" y="1690688"/>
            <a:ext cx="8573906" cy="51305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10950" y="1690688"/>
            <a:ext cx="6219167" cy="128111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Rectangle 11"/>
          <p:cNvSpPr/>
          <p:nvPr/>
        </p:nvSpPr>
        <p:spPr>
          <a:xfrm>
            <a:off x="5910950" y="5225143"/>
            <a:ext cx="6219167" cy="103146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3" name="Rectangle 12"/>
          <p:cNvSpPr/>
          <p:nvPr/>
        </p:nvSpPr>
        <p:spPr>
          <a:xfrm>
            <a:off x="5910950" y="3628076"/>
            <a:ext cx="6219167" cy="633681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TextBox 13"/>
          <p:cNvSpPr txBox="1"/>
          <p:nvPr/>
        </p:nvSpPr>
        <p:spPr>
          <a:xfrm>
            <a:off x="1704408" y="2361373"/>
            <a:ext cx="4195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800" b="1" dirty="0">
                <a:solidFill>
                  <a:srgbClr val="C00000"/>
                </a:solidFill>
              </a:rPr>
              <a:t>TotalAnnualMinCapacity&lt;&lt;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67" y="3467862"/>
            <a:ext cx="54483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800" b="1" dirty="0" err="1">
                <a:solidFill>
                  <a:srgbClr val="C00000"/>
                </a:solidFill>
              </a:rPr>
              <a:t>SpecifiedAnnualDemand</a:t>
            </a:r>
            <a:r>
              <a:rPr lang="sv-SE" sz="2800" b="1" dirty="0">
                <a:solidFill>
                  <a:srgbClr val="C00000"/>
                </a:solidFill>
              </a:rPr>
              <a:t>&lt;&lt;</a:t>
            </a:r>
          </a:p>
          <a:p>
            <a:pPr algn="r"/>
            <a:r>
              <a:rPr lang="sv-SE" sz="2800" b="1" dirty="0" err="1">
                <a:solidFill>
                  <a:srgbClr val="C00000"/>
                </a:solidFill>
              </a:rPr>
              <a:t>AccumulatedAnnualDemand</a:t>
            </a:r>
            <a:r>
              <a:rPr lang="sv-SE" sz="2800" b="1" dirty="0">
                <a:solidFill>
                  <a:srgbClr val="C00000"/>
                </a:solidFill>
              </a:rPr>
              <a:t>&lt;&lt;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90" y="5325610"/>
            <a:ext cx="58510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v-SE" sz="2800" b="1" dirty="0">
                <a:solidFill>
                  <a:srgbClr val="C00000"/>
                </a:solidFill>
              </a:rPr>
              <a:t>TotalAnnualMinCapacity&lt;&lt;</a:t>
            </a:r>
          </a:p>
          <a:p>
            <a:pPr algn="r"/>
            <a:r>
              <a:rPr lang="sv-SE" sz="2800" b="1" dirty="0" err="1">
                <a:solidFill>
                  <a:srgbClr val="C00000"/>
                </a:solidFill>
              </a:rPr>
              <a:t>TotalAnnualMinCapacityInvestment</a:t>
            </a:r>
            <a:r>
              <a:rPr lang="sv-SE" sz="2800" b="1" dirty="0">
                <a:solidFill>
                  <a:srgbClr val="C00000"/>
                </a:solidFill>
              </a:rPr>
              <a:t>&lt;&lt;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7168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63546"/>
            <a:ext cx="10515601" cy="3947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</a:t>
            </a:r>
            <a:r>
              <a:rPr lang="sv-SE" b="1" dirty="0" err="1"/>
              <a:t>Morocco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281" y="2522432"/>
            <a:ext cx="10185436" cy="346141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55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85580"/>
            <a:ext cx="10515601" cy="39257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b="1" dirty="0"/>
              <a:t>NDC – </a:t>
            </a:r>
            <a:r>
              <a:rPr lang="sv-SE" b="1" dirty="0" err="1"/>
              <a:t>Morocco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99" y="2884797"/>
            <a:ext cx="10853399" cy="180682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policy targets into </a:t>
            </a:r>
            <a:br>
              <a:rPr lang="en-US" dirty="0"/>
            </a:br>
            <a:r>
              <a:rPr lang="en-US" dirty="0"/>
              <a:t>modelling scenarios</a:t>
            </a:r>
            <a:endParaRPr lang="fr-FR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16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scenario can be defined in multiple ways</a:t>
            </a:r>
            <a:r>
              <a:rPr lang="sv-SE" dirty="0"/>
              <a:t>: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Enabling/developing entire new energy supply chains (technologies and fuels)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Changing the assumed value of a parameter (e.g. different fuel prices/technology costs)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Blocking/enabling/altering a technology’s installation potential (e.g. commissioning year 2020 to year 2025, maximum installed capacity 2 GW instead of 0.5 GW)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Altering overall system aspects (e.g. assumed CO2 price, required reserve margin etc.)</a:t>
            </a:r>
          </a:p>
          <a:p>
            <a:r>
              <a:rPr lang="en-US" dirty="0"/>
              <a:t>And many more…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scenario in OSeMOSYS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42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Any different input from what has been given in a Baseline Scenario for a specific </a:t>
            </a:r>
            <a:r>
              <a:rPr lang="en-US" b="1" dirty="0"/>
              <a:t>parameter</a:t>
            </a:r>
            <a:r>
              <a:rPr lang="en-US" dirty="0"/>
              <a:t> can result in a different scenario. Key parameters that can assist in defining a new scenario are</a:t>
            </a:r>
            <a:r>
              <a:rPr lang="sv-SE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i="1" dirty="0" err="1">
                <a:solidFill>
                  <a:srgbClr val="C00000"/>
                </a:solidFill>
              </a:rPr>
              <a:t>TotalAnnualMaxCapacityInvestment</a:t>
            </a:r>
            <a:r>
              <a:rPr lang="sv-SE" dirty="0"/>
              <a:t> and </a:t>
            </a:r>
            <a:r>
              <a:rPr lang="sv-SE" i="1" dirty="0" err="1">
                <a:solidFill>
                  <a:srgbClr val="C00000"/>
                </a:solidFill>
              </a:rPr>
              <a:t>TotalAnnualMinCapacityInvestment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indicate</a:t>
            </a:r>
            <a:r>
              <a:rPr lang="sv-SE" dirty="0"/>
              <a:t> the maximum and minimum </a:t>
            </a:r>
            <a:r>
              <a:rPr lang="sv-SE" dirty="0" err="1"/>
              <a:t>level</a:t>
            </a:r>
            <a:r>
              <a:rPr lang="sv-SE" dirty="0"/>
              <a:t> of </a:t>
            </a:r>
            <a:r>
              <a:rPr lang="sv-SE" b="1" dirty="0" err="1"/>
              <a:t>capacity</a:t>
            </a:r>
            <a:r>
              <a:rPr lang="sv-SE" dirty="0"/>
              <a:t> installations (i.e. in GW)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occur</a:t>
            </a:r>
            <a:r>
              <a:rPr lang="sv-SE" dirty="0"/>
              <a:t> in the system in a given </a:t>
            </a:r>
            <a:r>
              <a:rPr lang="sv-SE" dirty="0" err="1"/>
              <a:t>year</a:t>
            </a:r>
            <a:r>
              <a:rPr lang="sv-SE" dirty="0"/>
              <a:t> for the </a:t>
            </a:r>
            <a:r>
              <a:rPr lang="sv-SE" dirty="0" err="1"/>
              <a:t>respective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v-SE" i="1" dirty="0">
                <a:solidFill>
                  <a:srgbClr val="C00000"/>
                </a:solidFill>
              </a:rPr>
              <a:t>TotalAnnualMaxCapacity</a:t>
            </a:r>
            <a:r>
              <a:rPr lang="sv-SE" dirty="0"/>
              <a:t> and </a:t>
            </a:r>
            <a:r>
              <a:rPr lang="sv-SE" i="1" dirty="0">
                <a:solidFill>
                  <a:srgbClr val="C00000"/>
                </a:solidFill>
              </a:rPr>
              <a:t>TotalAnnualMinCapacity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indicate</a:t>
            </a:r>
            <a:r>
              <a:rPr lang="sv-SE" dirty="0"/>
              <a:t> the maximum and minimum </a:t>
            </a:r>
            <a:r>
              <a:rPr lang="sv-SE" dirty="0" err="1"/>
              <a:t>level</a:t>
            </a:r>
            <a:r>
              <a:rPr lang="sv-SE" dirty="0"/>
              <a:t> of total </a:t>
            </a:r>
            <a:r>
              <a:rPr lang="sv-SE" b="1" dirty="0" err="1"/>
              <a:t>capacity</a:t>
            </a:r>
            <a:r>
              <a:rPr lang="sv-SE" dirty="0"/>
              <a:t> installations (i.e. in GW)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occur</a:t>
            </a:r>
            <a:r>
              <a:rPr lang="sv-SE" dirty="0"/>
              <a:t> in the system in a given </a:t>
            </a:r>
            <a:r>
              <a:rPr lang="sv-SE" dirty="0" err="1"/>
              <a:t>year</a:t>
            </a:r>
            <a:r>
              <a:rPr lang="sv-SE" dirty="0"/>
              <a:t> for the </a:t>
            </a:r>
            <a:r>
              <a:rPr lang="sv-SE" dirty="0" err="1"/>
              <a:t>respective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scenario in OSeMOSYS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5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43811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i="1" dirty="0" err="1">
                <a:solidFill>
                  <a:srgbClr val="C00000"/>
                </a:solidFill>
              </a:rPr>
              <a:t>AnnualEmissionLimit</a:t>
            </a:r>
            <a:r>
              <a:rPr lang="en-US" sz="2600" dirty="0"/>
              <a:t> and </a:t>
            </a:r>
            <a:r>
              <a:rPr lang="en-US" sz="2600" i="1" dirty="0" err="1">
                <a:solidFill>
                  <a:srgbClr val="C00000"/>
                </a:solidFill>
              </a:rPr>
              <a:t>EmissionsPenalty</a:t>
            </a:r>
            <a:r>
              <a:rPr lang="en-US" sz="2600" dirty="0"/>
              <a:t> impose a limit on the level of emissions of a given pollutant and a penalty (i.e. cost) for each unit of emission of that pollutant.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i="1" dirty="0" err="1">
                <a:solidFill>
                  <a:srgbClr val="C00000"/>
                </a:solidFill>
              </a:rPr>
              <a:t>TotalTechnologyAnnualActivityUpperLimit</a:t>
            </a:r>
            <a:r>
              <a:rPr lang="en-US" sz="2600" dirty="0"/>
              <a:t> and </a:t>
            </a:r>
            <a:r>
              <a:rPr lang="en-US" sz="2600" i="1" dirty="0" err="1">
                <a:solidFill>
                  <a:srgbClr val="C00000"/>
                </a:solidFill>
              </a:rPr>
              <a:t>TotalTechnologyAnnualActivityLowerLimit</a:t>
            </a:r>
            <a:r>
              <a:rPr lang="en-US" sz="2600" dirty="0"/>
              <a:t> can indicate the maximum and minimum level of activity (i.e. production) that can occur in a given year by the respective technology.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i="1" dirty="0" err="1">
                <a:solidFill>
                  <a:srgbClr val="C00000"/>
                </a:solidFill>
              </a:rPr>
              <a:t>TotalTechnologyModelPeriodActivityUpperLimit</a:t>
            </a:r>
            <a:r>
              <a:rPr lang="en-US" sz="2600" dirty="0"/>
              <a:t> and </a:t>
            </a:r>
            <a:r>
              <a:rPr lang="en-US" sz="2600" i="1" dirty="0" err="1">
                <a:solidFill>
                  <a:srgbClr val="C00000"/>
                </a:solidFill>
              </a:rPr>
              <a:t>TotalTechnologyModelPeriodActivityLowerLimit</a:t>
            </a:r>
            <a:r>
              <a:rPr lang="en-US" sz="2600" dirty="0"/>
              <a:t> can indicate the maximum and minimum cumulative level of activity (i.e. production) that can occur by a technology throughout the modelling horizon (e.g. define the level of existing fossil fuel reserves).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10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scenario in OSeMOSYS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21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C00000"/>
                </a:solidFill>
              </a:rPr>
              <a:t>SpecifiedAnnualDemand</a:t>
            </a:r>
            <a:r>
              <a:rPr lang="en-US" dirty="0"/>
              <a:t> can be used to indicate a higher/lower final energy demand than in a Baseline scenario.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C00000"/>
                </a:solidFill>
              </a:rPr>
              <a:t>CapitalCost</a:t>
            </a:r>
            <a:r>
              <a:rPr lang="en-US" dirty="0"/>
              <a:t> can be used to indicate a lower investment cost for specific technologies. E.g. an improved learning rate can result in lower capital costs for solar PV or batteries.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>
                <a:solidFill>
                  <a:srgbClr val="C00000"/>
                </a:solidFill>
              </a:rPr>
              <a:t>VariableCost</a:t>
            </a:r>
            <a:r>
              <a:rPr lang="en-US" dirty="0"/>
              <a:t> can be used to indicate a higher/lower fuel price.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scenario in OSeMOSYS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+mj-lt"/>
              </a:rPr>
              <a:t>20/01/2019</a:t>
            </a:r>
            <a:endParaRPr lang="en-GB" dirty="0">
              <a:latin typeface="+mj-lt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5270"/>
      </p:ext>
    </p:extLst>
  </p:cSld>
  <p:clrMapOvr>
    <a:masterClrMapping/>
  </p:clrMapOvr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1_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5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6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14777</TotalTime>
  <Words>664</Words>
  <Application>Microsoft Office PowerPoint</Application>
  <PresentationFormat>Widescreen</PresentationFormat>
  <Paragraphs>76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Ubuntu</vt:lpstr>
      <vt:lpstr>OSeMOSYS_dESA_OpTIMUS</vt:lpstr>
      <vt:lpstr>Custom Design</vt:lpstr>
      <vt:lpstr>1_OSeMOSYS_dESA_OpTIMUS</vt:lpstr>
      <vt:lpstr>1_Custom Design</vt:lpstr>
      <vt:lpstr>KTH-OpTIMUS-DFID</vt:lpstr>
      <vt:lpstr>2_Custom Design</vt:lpstr>
      <vt:lpstr>Translating policy targets into  modelling scenarios</vt:lpstr>
      <vt:lpstr>Translating policy targets into  modelling scenarios</vt:lpstr>
      <vt:lpstr>Translating policy targets into  modelling scenarios</vt:lpstr>
      <vt:lpstr>Translating policy targets into  modelling scenarios</vt:lpstr>
      <vt:lpstr>Translating policy targets into  modelling scenarios</vt:lpstr>
      <vt:lpstr>Translating policy targets into  modelling scenarios</vt:lpstr>
      <vt:lpstr>Translating policy targets into  modelling scenarios</vt:lpstr>
      <vt:lpstr>Defining a scenario in OSeMOSYS</vt:lpstr>
      <vt:lpstr>Defining a scenario in OSeMOSYS</vt:lpstr>
      <vt:lpstr>Defining a scenario in OSeMOSYS</vt:lpstr>
      <vt:lpstr>Defining a scenario in OSeMOSYS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195</cp:revision>
  <dcterms:created xsi:type="dcterms:W3CDTF">2017-06-07T13:22:49Z</dcterms:created>
  <dcterms:modified xsi:type="dcterms:W3CDTF">2020-04-02T16:53:54Z</dcterms:modified>
</cp:coreProperties>
</file>