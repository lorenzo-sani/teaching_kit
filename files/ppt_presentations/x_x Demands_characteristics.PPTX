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3"/>
  </p:notesMasterIdLst>
  <p:handoutMasterIdLst>
    <p:handoutMasterId r:id="rId14"/>
  </p:handout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312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9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2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0" autoAdjust="0"/>
    <p:restoredTop sz="91643" autoAdjust="0"/>
  </p:normalViewPr>
  <p:slideViewPr>
    <p:cSldViewPr snapToGrid="0">
      <p:cViewPr varScale="1">
        <p:scale>
          <a:sx n="108" d="100"/>
          <a:sy n="108" d="100"/>
        </p:scale>
        <p:origin x="476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41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5075" y="6356349"/>
            <a:ext cx="7221847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/>
              <a:t>Energy Modelling Platform for Africa –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3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86978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367430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Energy Modelling Platform for Africa –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0498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2705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53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1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56343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37325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01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1930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6778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B54FD95-88D0-4DB5-B651-B4B585AE496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5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59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7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33153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16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–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637E22-1937-4D5E-A71F-E55BDB696EA3}"/>
              </a:ext>
            </a:extLst>
          </p:cNvPr>
          <p:cNvSpPr/>
          <p:nvPr/>
        </p:nvSpPr>
        <p:spPr>
          <a:xfrm>
            <a:off x="7533364" y="1475227"/>
            <a:ext cx="1414749" cy="53053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12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0487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Where does the energy demand come from?</a:t>
            </a:r>
          </a:p>
          <a:p>
            <a:pPr lvl="1"/>
            <a:r>
              <a:rPr lang="en-US" b="1" dirty="0"/>
              <a:t>Households</a:t>
            </a:r>
            <a:r>
              <a:rPr lang="en-US" dirty="0"/>
              <a:t> (rural and urban) – e.g. cooking, heating, cooling, lighting, appliances</a:t>
            </a:r>
          </a:p>
          <a:p>
            <a:pPr lvl="1"/>
            <a:r>
              <a:rPr lang="en-US" b="1" dirty="0"/>
              <a:t>Industry</a:t>
            </a:r>
            <a:r>
              <a:rPr lang="en-US" dirty="0"/>
              <a:t> – e.g. energy for chemical processes, steam production</a:t>
            </a:r>
          </a:p>
          <a:p>
            <a:pPr lvl="1"/>
            <a:r>
              <a:rPr lang="en-US" b="1" dirty="0"/>
              <a:t>Commerce</a:t>
            </a:r>
            <a:r>
              <a:rPr lang="en-US" dirty="0"/>
              <a:t> – e.g. cooling of products, energy for warehouses, shopping </a:t>
            </a:r>
            <a:r>
              <a:rPr lang="en-US" dirty="0" err="1"/>
              <a:t>centres</a:t>
            </a:r>
            <a:endParaRPr lang="en-US" dirty="0"/>
          </a:p>
          <a:p>
            <a:pPr lvl="1"/>
            <a:r>
              <a:rPr lang="en-US" b="1" dirty="0"/>
              <a:t>Transport</a:t>
            </a:r>
            <a:r>
              <a:rPr lang="en-US" dirty="0"/>
              <a:t> – e.g. fuel for cars trucks and buses, fuel for aviation, electricity for trains</a:t>
            </a:r>
          </a:p>
          <a:p>
            <a:pPr lvl="1"/>
            <a:r>
              <a:rPr lang="en-US" b="1" dirty="0"/>
              <a:t>Agriculture</a:t>
            </a:r>
            <a:r>
              <a:rPr lang="en-US" dirty="0"/>
              <a:t> – e.g. fuel for tractors, electricity for pumping water</a:t>
            </a:r>
          </a:p>
          <a:p>
            <a:pPr lvl="1"/>
            <a:r>
              <a:rPr lang="en-US" b="1" dirty="0"/>
              <a:t>Others…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5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70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Within each of these sectors, the energy demand </a:t>
            </a:r>
            <a:r>
              <a:rPr lang="en-US" b="1" dirty="0"/>
              <a:t>varies over time…</a:t>
            </a: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14D61B-A10B-4792-A654-3BD253BB8094}"/>
              </a:ext>
            </a:extLst>
          </p:cNvPr>
          <p:cNvSpPr/>
          <p:nvPr/>
        </p:nvSpPr>
        <p:spPr>
          <a:xfrm>
            <a:off x="838200" y="3762526"/>
            <a:ext cx="462616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…It can vary </a:t>
            </a:r>
            <a:r>
              <a:rPr lang="en-US" sz="2800" b="1" dirty="0"/>
              <a:t>over the day</a:t>
            </a:r>
            <a:r>
              <a:rPr lang="en-US" sz="2800" dirty="0"/>
              <a:t>, </a:t>
            </a:r>
            <a:r>
              <a:rPr lang="en-US" sz="2800" b="1" dirty="0"/>
              <a:t>week</a:t>
            </a:r>
            <a:r>
              <a:rPr lang="en-US" sz="2800" dirty="0"/>
              <a:t> and </a:t>
            </a:r>
            <a:r>
              <a:rPr lang="en-US" sz="2800" b="1" dirty="0"/>
              <a:t>months</a:t>
            </a:r>
            <a:r>
              <a:rPr lang="en-US" sz="2800" dirty="0"/>
              <a:t>, mainly because the activities of the consumers change (</a:t>
            </a:r>
            <a:r>
              <a:rPr lang="en-US" sz="2800" i="1" dirty="0"/>
              <a:t>as seen in the previous lecture</a:t>
            </a:r>
            <a:r>
              <a:rPr lang="en-US" sz="2800" dirty="0"/>
              <a:t>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F5B4F81-52FF-4B5F-B0F7-803E14D441CE}"/>
              </a:ext>
            </a:extLst>
          </p:cNvPr>
          <p:cNvSpPr txBox="1">
            <a:spLocks/>
          </p:cNvSpPr>
          <p:nvPr/>
        </p:nvSpPr>
        <p:spPr>
          <a:xfrm>
            <a:off x="7759144" y="6027782"/>
            <a:ext cx="1968516" cy="328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Source: </a:t>
            </a:r>
            <a:r>
              <a:rPr lang="en-US" sz="1600" i="1" dirty="0" err="1"/>
              <a:t>Electropaedia</a:t>
            </a:r>
            <a:endParaRPr lang="en-US" sz="1600" b="1" i="1" dirty="0"/>
          </a:p>
        </p:txBody>
      </p:sp>
      <p:pic>
        <p:nvPicPr>
          <p:cNvPr id="13" name="Picture 12" descr="A close up of a map&#10;&#10;Description generated with high confidence">
            <a:extLst>
              <a:ext uri="{FF2B5EF4-FFF2-40B4-BE49-F238E27FC236}">
                <a16:creationId xmlns:a16="http://schemas.microsoft.com/office/drawing/2014/main" id="{73228226-F6BC-49A0-BA08-0B9DB977B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2448673"/>
            <a:ext cx="4953000" cy="3609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50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70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Within each of these sectors, the energy demand </a:t>
            </a:r>
            <a:r>
              <a:rPr lang="en-US" b="1" dirty="0"/>
              <a:t>varies over time…</a:t>
            </a: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14D61B-A10B-4792-A654-3BD253BB8094}"/>
              </a:ext>
            </a:extLst>
          </p:cNvPr>
          <p:cNvSpPr/>
          <p:nvPr/>
        </p:nvSpPr>
        <p:spPr>
          <a:xfrm>
            <a:off x="838200" y="3762526"/>
            <a:ext cx="46261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…It can vary </a:t>
            </a:r>
            <a:r>
              <a:rPr lang="en-US" sz="2800" b="1" dirty="0"/>
              <a:t>over years</a:t>
            </a:r>
            <a:r>
              <a:rPr lang="en-US" sz="2800" dirty="0"/>
              <a:t>, e.g. because of population and economic growth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F91F7-41EC-4076-BCFD-79327C83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647" y="2876865"/>
            <a:ext cx="3428385" cy="308899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54C955-E14B-4595-B02C-D339A8DB3E2B}"/>
              </a:ext>
            </a:extLst>
          </p:cNvPr>
          <p:cNvSpPr txBox="1">
            <a:spLocks/>
          </p:cNvSpPr>
          <p:nvPr/>
        </p:nvSpPr>
        <p:spPr>
          <a:xfrm>
            <a:off x="6944647" y="6035740"/>
            <a:ext cx="3940274" cy="543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Source: EIA, Annual Energy Outlook 2018</a:t>
            </a:r>
            <a:endParaRPr lang="en-US" sz="1600" b="1" i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9AE381-B7AB-40C5-AF1B-292F0B78053C}"/>
              </a:ext>
            </a:extLst>
          </p:cNvPr>
          <p:cNvSpPr txBox="1">
            <a:spLocks/>
          </p:cNvSpPr>
          <p:nvPr/>
        </p:nvSpPr>
        <p:spPr>
          <a:xfrm>
            <a:off x="6664427" y="2468911"/>
            <a:ext cx="3940274" cy="543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US Energy consumption by sector [10^15 Btu]</a:t>
            </a:r>
            <a:endParaRPr lang="en-US" sz="1600" b="1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61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668" y="1847659"/>
            <a:ext cx="2442274" cy="2276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long-term changes</a:t>
            </a:r>
            <a:r>
              <a:rPr lang="en-US" dirty="0"/>
              <a:t> in demand must be considered when planning.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3831B-A44B-4452-B3D0-0A4DBE4EC8F5}"/>
              </a:ext>
            </a:extLst>
          </p:cNvPr>
          <p:cNvSpPr txBox="1"/>
          <p:nvPr/>
        </p:nvSpPr>
        <p:spPr>
          <a:xfrm>
            <a:off x="6727847" y="4616650"/>
            <a:ext cx="24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itchFamily="34" charset="0"/>
              </a:rPr>
              <a:t>Existing system capacity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6DD9983-2E1A-43CE-8654-C9638D531B6C}"/>
              </a:ext>
            </a:extLst>
          </p:cNvPr>
          <p:cNvSpPr>
            <a:spLocks noEditPoints="1"/>
          </p:cNvSpPr>
          <p:nvPr/>
        </p:nvSpPr>
        <p:spPr bwMode="auto">
          <a:xfrm>
            <a:off x="3664345" y="1678262"/>
            <a:ext cx="7626350" cy="4214813"/>
          </a:xfrm>
          <a:custGeom>
            <a:avLst/>
            <a:gdLst>
              <a:gd name="T0" fmla="*/ 0 w 4804"/>
              <a:gd name="T1" fmla="*/ 2644 h 2655"/>
              <a:gd name="T2" fmla="*/ 4804 w 4804"/>
              <a:gd name="T3" fmla="*/ 2644 h 2655"/>
              <a:gd name="T4" fmla="*/ 4804 w 4804"/>
              <a:gd name="T5" fmla="*/ 2655 h 2655"/>
              <a:gd name="T6" fmla="*/ 0 w 4804"/>
              <a:gd name="T7" fmla="*/ 2655 h 2655"/>
              <a:gd name="T8" fmla="*/ 0 w 4804"/>
              <a:gd name="T9" fmla="*/ 2644 h 2655"/>
              <a:gd name="T10" fmla="*/ 0 w 4804"/>
              <a:gd name="T11" fmla="*/ 2380 h 2655"/>
              <a:gd name="T12" fmla="*/ 4804 w 4804"/>
              <a:gd name="T13" fmla="*/ 2380 h 2655"/>
              <a:gd name="T14" fmla="*/ 4804 w 4804"/>
              <a:gd name="T15" fmla="*/ 2390 h 2655"/>
              <a:gd name="T16" fmla="*/ 0 w 4804"/>
              <a:gd name="T17" fmla="*/ 2390 h 2655"/>
              <a:gd name="T18" fmla="*/ 0 w 4804"/>
              <a:gd name="T19" fmla="*/ 2380 h 2655"/>
              <a:gd name="T20" fmla="*/ 0 w 4804"/>
              <a:gd name="T21" fmla="*/ 2115 h 2655"/>
              <a:gd name="T22" fmla="*/ 4804 w 4804"/>
              <a:gd name="T23" fmla="*/ 2115 h 2655"/>
              <a:gd name="T24" fmla="*/ 4804 w 4804"/>
              <a:gd name="T25" fmla="*/ 2126 h 2655"/>
              <a:gd name="T26" fmla="*/ 0 w 4804"/>
              <a:gd name="T27" fmla="*/ 2126 h 2655"/>
              <a:gd name="T28" fmla="*/ 0 w 4804"/>
              <a:gd name="T29" fmla="*/ 2115 h 2655"/>
              <a:gd name="T30" fmla="*/ 0 w 4804"/>
              <a:gd name="T31" fmla="*/ 1851 h 2655"/>
              <a:gd name="T32" fmla="*/ 4804 w 4804"/>
              <a:gd name="T33" fmla="*/ 1851 h 2655"/>
              <a:gd name="T34" fmla="*/ 4804 w 4804"/>
              <a:gd name="T35" fmla="*/ 1861 h 2655"/>
              <a:gd name="T36" fmla="*/ 0 w 4804"/>
              <a:gd name="T37" fmla="*/ 1861 h 2655"/>
              <a:gd name="T38" fmla="*/ 0 w 4804"/>
              <a:gd name="T39" fmla="*/ 1851 h 2655"/>
              <a:gd name="T40" fmla="*/ 0 w 4804"/>
              <a:gd name="T41" fmla="*/ 1586 h 2655"/>
              <a:gd name="T42" fmla="*/ 4804 w 4804"/>
              <a:gd name="T43" fmla="*/ 1586 h 2655"/>
              <a:gd name="T44" fmla="*/ 4804 w 4804"/>
              <a:gd name="T45" fmla="*/ 1597 h 2655"/>
              <a:gd name="T46" fmla="*/ 0 w 4804"/>
              <a:gd name="T47" fmla="*/ 1597 h 2655"/>
              <a:gd name="T48" fmla="*/ 0 w 4804"/>
              <a:gd name="T49" fmla="*/ 1586 h 2655"/>
              <a:gd name="T50" fmla="*/ 0 w 4804"/>
              <a:gd name="T51" fmla="*/ 1321 h 2655"/>
              <a:gd name="T52" fmla="*/ 4804 w 4804"/>
              <a:gd name="T53" fmla="*/ 1321 h 2655"/>
              <a:gd name="T54" fmla="*/ 4804 w 4804"/>
              <a:gd name="T55" fmla="*/ 1332 h 2655"/>
              <a:gd name="T56" fmla="*/ 0 w 4804"/>
              <a:gd name="T57" fmla="*/ 1332 h 2655"/>
              <a:gd name="T58" fmla="*/ 0 w 4804"/>
              <a:gd name="T59" fmla="*/ 1321 h 2655"/>
              <a:gd name="T60" fmla="*/ 0 w 4804"/>
              <a:gd name="T61" fmla="*/ 1059 h 2655"/>
              <a:gd name="T62" fmla="*/ 4804 w 4804"/>
              <a:gd name="T63" fmla="*/ 1059 h 2655"/>
              <a:gd name="T64" fmla="*/ 4804 w 4804"/>
              <a:gd name="T65" fmla="*/ 1069 h 2655"/>
              <a:gd name="T66" fmla="*/ 0 w 4804"/>
              <a:gd name="T67" fmla="*/ 1069 h 2655"/>
              <a:gd name="T68" fmla="*/ 0 w 4804"/>
              <a:gd name="T69" fmla="*/ 1059 h 2655"/>
              <a:gd name="T70" fmla="*/ 0 w 4804"/>
              <a:gd name="T71" fmla="*/ 794 h 2655"/>
              <a:gd name="T72" fmla="*/ 4804 w 4804"/>
              <a:gd name="T73" fmla="*/ 794 h 2655"/>
              <a:gd name="T74" fmla="*/ 4804 w 4804"/>
              <a:gd name="T75" fmla="*/ 805 h 2655"/>
              <a:gd name="T76" fmla="*/ 0 w 4804"/>
              <a:gd name="T77" fmla="*/ 805 h 2655"/>
              <a:gd name="T78" fmla="*/ 0 w 4804"/>
              <a:gd name="T79" fmla="*/ 794 h 2655"/>
              <a:gd name="T80" fmla="*/ 0 w 4804"/>
              <a:gd name="T81" fmla="*/ 529 h 2655"/>
              <a:gd name="T82" fmla="*/ 4804 w 4804"/>
              <a:gd name="T83" fmla="*/ 529 h 2655"/>
              <a:gd name="T84" fmla="*/ 4804 w 4804"/>
              <a:gd name="T85" fmla="*/ 540 h 2655"/>
              <a:gd name="T86" fmla="*/ 0 w 4804"/>
              <a:gd name="T87" fmla="*/ 540 h 2655"/>
              <a:gd name="T88" fmla="*/ 0 w 4804"/>
              <a:gd name="T89" fmla="*/ 529 h 2655"/>
              <a:gd name="T90" fmla="*/ 0 w 4804"/>
              <a:gd name="T91" fmla="*/ 265 h 2655"/>
              <a:gd name="T92" fmla="*/ 4804 w 4804"/>
              <a:gd name="T93" fmla="*/ 265 h 2655"/>
              <a:gd name="T94" fmla="*/ 4804 w 4804"/>
              <a:gd name="T95" fmla="*/ 276 h 2655"/>
              <a:gd name="T96" fmla="*/ 0 w 4804"/>
              <a:gd name="T97" fmla="*/ 276 h 2655"/>
              <a:gd name="T98" fmla="*/ 0 w 4804"/>
              <a:gd name="T99" fmla="*/ 265 h 2655"/>
              <a:gd name="T100" fmla="*/ 0 w 4804"/>
              <a:gd name="T101" fmla="*/ 0 h 2655"/>
              <a:gd name="T102" fmla="*/ 4804 w 4804"/>
              <a:gd name="T103" fmla="*/ 0 h 2655"/>
              <a:gd name="T104" fmla="*/ 4804 w 4804"/>
              <a:gd name="T105" fmla="*/ 11 h 2655"/>
              <a:gd name="T106" fmla="*/ 0 w 4804"/>
              <a:gd name="T107" fmla="*/ 11 h 2655"/>
              <a:gd name="T108" fmla="*/ 0 w 4804"/>
              <a:gd name="T109" fmla="*/ 0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804" h="2655">
                <a:moveTo>
                  <a:pt x="0" y="2644"/>
                </a:moveTo>
                <a:lnTo>
                  <a:pt x="4804" y="2644"/>
                </a:lnTo>
                <a:lnTo>
                  <a:pt x="4804" y="2655"/>
                </a:lnTo>
                <a:lnTo>
                  <a:pt x="0" y="2655"/>
                </a:lnTo>
                <a:lnTo>
                  <a:pt x="0" y="2644"/>
                </a:lnTo>
                <a:close/>
                <a:moveTo>
                  <a:pt x="0" y="2380"/>
                </a:moveTo>
                <a:lnTo>
                  <a:pt x="4804" y="2380"/>
                </a:lnTo>
                <a:lnTo>
                  <a:pt x="4804" y="2390"/>
                </a:lnTo>
                <a:lnTo>
                  <a:pt x="0" y="2390"/>
                </a:lnTo>
                <a:lnTo>
                  <a:pt x="0" y="2380"/>
                </a:lnTo>
                <a:close/>
                <a:moveTo>
                  <a:pt x="0" y="2115"/>
                </a:moveTo>
                <a:lnTo>
                  <a:pt x="4804" y="2115"/>
                </a:lnTo>
                <a:lnTo>
                  <a:pt x="4804" y="2126"/>
                </a:lnTo>
                <a:lnTo>
                  <a:pt x="0" y="2126"/>
                </a:lnTo>
                <a:lnTo>
                  <a:pt x="0" y="2115"/>
                </a:lnTo>
                <a:close/>
                <a:moveTo>
                  <a:pt x="0" y="1851"/>
                </a:moveTo>
                <a:lnTo>
                  <a:pt x="4804" y="1851"/>
                </a:lnTo>
                <a:lnTo>
                  <a:pt x="4804" y="1861"/>
                </a:lnTo>
                <a:lnTo>
                  <a:pt x="0" y="1861"/>
                </a:lnTo>
                <a:lnTo>
                  <a:pt x="0" y="1851"/>
                </a:lnTo>
                <a:close/>
                <a:moveTo>
                  <a:pt x="0" y="1586"/>
                </a:moveTo>
                <a:lnTo>
                  <a:pt x="4804" y="1586"/>
                </a:lnTo>
                <a:lnTo>
                  <a:pt x="4804" y="1597"/>
                </a:lnTo>
                <a:lnTo>
                  <a:pt x="0" y="1597"/>
                </a:lnTo>
                <a:lnTo>
                  <a:pt x="0" y="1586"/>
                </a:lnTo>
                <a:close/>
                <a:moveTo>
                  <a:pt x="0" y="1321"/>
                </a:moveTo>
                <a:lnTo>
                  <a:pt x="4804" y="1321"/>
                </a:lnTo>
                <a:lnTo>
                  <a:pt x="4804" y="1332"/>
                </a:lnTo>
                <a:lnTo>
                  <a:pt x="0" y="1332"/>
                </a:lnTo>
                <a:lnTo>
                  <a:pt x="0" y="1321"/>
                </a:lnTo>
                <a:close/>
                <a:moveTo>
                  <a:pt x="0" y="1059"/>
                </a:moveTo>
                <a:lnTo>
                  <a:pt x="4804" y="1059"/>
                </a:lnTo>
                <a:lnTo>
                  <a:pt x="4804" y="1069"/>
                </a:lnTo>
                <a:lnTo>
                  <a:pt x="0" y="1069"/>
                </a:lnTo>
                <a:lnTo>
                  <a:pt x="0" y="1059"/>
                </a:lnTo>
                <a:close/>
                <a:moveTo>
                  <a:pt x="0" y="794"/>
                </a:moveTo>
                <a:lnTo>
                  <a:pt x="4804" y="794"/>
                </a:lnTo>
                <a:lnTo>
                  <a:pt x="4804" y="805"/>
                </a:lnTo>
                <a:lnTo>
                  <a:pt x="0" y="805"/>
                </a:lnTo>
                <a:lnTo>
                  <a:pt x="0" y="794"/>
                </a:lnTo>
                <a:close/>
                <a:moveTo>
                  <a:pt x="0" y="529"/>
                </a:moveTo>
                <a:lnTo>
                  <a:pt x="4804" y="529"/>
                </a:lnTo>
                <a:lnTo>
                  <a:pt x="4804" y="540"/>
                </a:lnTo>
                <a:lnTo>
                  <a:pt x="0" y="540"/>
                </a:lnTo>
                <a:lnTo>
                  <a:pt x="0" y="529"/>
                </a:lnTo>
                <a:close/>
                <a:moveTo>
                  <a:pt x="0" y="265"/>
                </a:moveTo>
                <a:lnTo>
                  <a:pt x="4804" y="265"/>
                </a:lnTo>
                <a:lnTo>
                  <a:pt x="4804" y="276"/>
                </a:lnTo>
                <a:lnTo>
                  <a:pt x="0" y="276"/>
                </a:lnTo>
                <a:lnTo>
                  <a:pt x="0" y="265"/>
                </a:lnTo>
                <a:close/>
                <a:moveTo>
                  <a:pt x="0" y="0"/>
                </a:moveTo>
                <a:lnTo>
                  <a:pt x="4804" y="0"/>
                </a:lnTo>
                <a:lnTo>
                  <a:pt x="4804" y="11"/>
                </a:lnTo>
                <a:lnTo>
                  <a:pt x="0" y="11"/>
                </a:lnTo>
                <a:lnTo>
                  <a:pt x="0" y="0"/>
                </a:lnTo>
                <a:close/>
              </a:path>
            </a:pathLst>
          </a:custGeom>
          <a:solidFill>
            <a:srgbClr val="868686"/>
          </a:solidFill>
          <a:ln w="3175" cap="flat">
            <a:solidFill>
              <a:srgbClr val="868686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F754D28C-2C14-4859-8120-E78F172F1DBC}"/>
              </a:ext>
            </a:extLst>
          </p:cNvPr>
          <p:cNvSpPr>
            <a:spLocks noEditPoints="1"/>
          </p:cNvSpPr>
          <p:nvPr/>
        </p:nvSpPr>
        <p:spPr bwMode="auto">
          <a:xfrm>
            <a:off x="3656407" y="1678262"/>
            <a:ext cx="7643813" cy="4214813"/>
          </a:xfrm>
          <a:custGeom>
            <a:avLst/>
            <a:gdLst>
              <a:gd name="T0" fmla="*/ 0 w 21400"/>
              <a:gd name="T1" fmla="*/ 24 h 11800"/>
              <a:gd name="T2" fmla="*/ 24 w 21400"/>
              <a:gd name="T3" fmla="*/ 0 h 11800"/>
              <a:gd name="T4" fmla="*/ 21376 w 21400"/>
              <a:gd name="T5" fmla="*/ 0 h 11800"/>
              <a:gd name="T6" fmla="*/ 21400 w 21400"/>
              <a:gd name="T7" fmla="*/ 24 h 11800"/>
              <a:gd name="T8" fmla="*/ 21400 w 21400"/>
              <a:gd name="T9" fmla="*/ 11776 h 11800"/>
              <a:gd name="T10" fmla="*/ 21376 w 21400"/>
              <a:gd name="T11" fmla="*/ 11800 h 11800"/>
              <a:gd name="T12" fmla="*/ 24 w 21400"/>
              <a:gd name="T13" fmla="*/ 11800 h 11800"/>
              <a:gd name="T14" fmla="*/ 0 w 21400"/>
              <a:gd name="T15" fmla="*/ 11776 h 11800"/>
              <a:gd name="T16" fmla="*/ 0 w 21400"/>
              <a:gd name="T17" fmla="*/ 24 h 11800"/>
              <a:gd name="T18" fmla="*/ 48 w 21400"/>
              <a:gd name="T19" fmla="*/ 11776 h 11800"/>
              <a:gd name="T20" fmla="*/ 24 w 21400"/>
              <a:gd name="T21" fmla="*/ 11752 h 11800"/>
              <a:gd name="T22" fmla="*/ 21376 w 21400"/>
              <a:gd name="T23" fmla="*/ 11752 h 11800"/>
              <a:gd name="T24" fmla="*/ 21352 w 21400"/>
              <a:gd name="T25" fmla="*/ 11776 h 11800"/>
              <a:gd name="T26" fmla="*/ 21352 w 21400"/>
              <a:gd name="T27" fmla="*/ 24 h 11800"/>
              <a:gd name="T28" fmla="*/ 21376 w 21400"/>
              <a:gd name="T29" fmla="*/ 48 h 11800"/>
              <a:gd name="T30" fmla="*/ 24 w 21400"/>
              <a:gd name="T31" fmla="*/ 48 h 11800"/>
              <a:gd name="T32" fmla="*/ 48 w 21400"/>
              <a:gd name="T33" fmla="*/ 24 h 11800"/>
              <a:gd name="T34" fmla="*/ 48 w 21400"/>
              <a:gd name="T35" fmla="*/ 11776 h 11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400" h="11800">
                <a:moveTo>
                  <a:pt x="0" y="24"/>
                </a:moveTo>
                <a:cubicBezTo>
                  <a:pt x="0" y="11"/>
                  <a:pt x="11" y="0"/>
                  <a:pt x="24" y="0"/>
                </a:cubicBezTo>
                <a:lnTo>
                  <a:pt x="21376" y="0"/>
                </a:lnTo>
                <a:cubicBezTo>
                  <a:pt x="21390" y="0"/>
                  <a:pt x="21400" y="11"/>
                  <a:pt x="21400" y="24"/>
                </a:cubicBezTo>
                <a:lnTo>
                  <a:pt x="21400" y="11776"/>
                </a:lnTo>
                <a:cubicBezTo>
                  <a:pt x="21400" y="11790"/>
                  <a:pt x="21390" y="11800"/>
                  <a:pt x="21376" y="11800"/>
                </a:cubicBezTo>
                <a:lnTo>
                  <a:pt x="24" y="11800"/>
                </a:lnTo>
                <a:cubicBezTo>
                  <a:pt x="11" y="11800"/>
                  <a:pt x="0" y="11790"/>
                  <a:pt x="0" y="11776"/>
                </a:cubicBezTo>
                <a:lnTo>
                  <a:pt x="0" y="24"/>
                </a:lnTo>
                <a:close/>
                <a:moveTo>
                  <a:pt x="48" y="11776"/>
                </a:moveTo>
                <a:lnTo>
                  <a:pt x="24" y="11752"/>
                </a:lnTo>
                <a:lnTo>
                  <a:pt x="21376" y="11752"/>
                </a:lnTo>
                <a:lnTo>
                  <a:pt x="21352" y="11776"/>
                </a:lnTo>
                <a:lnTo>
                  <a:pt x="21352" y="24"/>
                </a:lnTo>
                <a:lnTo>
                  <a:pt x="21376" y="48"/>
                </a:lnTo>
                <a:lnTo>
                  <a:pt x="24" y="48"/>
                </a:lnTo>
                <a:lnTo>
                  <a:pt x="48" y="24"/>
                </a:lnTo>
                <a:lnTo>
                  <a:pt x="48" y="11776"/>
                </a:lnTo>
                <a:close/>
              </a:path>
            </a:pathLst>
          </a:custGeom>
          <a:solidFill>
            <a:srgbClr val="4F81BD"/>
          </a:solidFill>
          <a:ln w="3175" cap="flat">
            <a:solidFill>
              <a:srgbClr val="4F81BD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39417AF-1991-40BA-993F-9C154077672B}"/>
              </a:ext>
            </a:extLst>
          </p:cNvPr>
          <p:cNvSpPr>
            <a:spLocks/>
          </p:cNvSpPr>
          <p:nvPr/>
        </p:nvSpPr>
        <p:spPr bwMode="auto">
          <a:xfrm>
            <a:off x="3638945" y="3467374"/>
            <a:ext cx="7677150" cy="1393825"/>
          </a:xfrm>
          <a:custGeom>
            <a:avLst/>
            <a:gdLst>
              <a:gd name="T0" fmla="*/ 1592 w 21496"/>
              <a:gd name="T1" fmla="*/ 816 h 3904"/>
              <a:gd name="T2" fmla="*/ 1520 w 21496"/>
              <a:gd name="T3" fmla="*/ 536 h 3904"/>
              <a:gd name="T4" fmla="*/ 3120 w 21496"/>
              <a:gd name="T5" fmla="*/ 464 h 3904"/>
              <a:gd name="T6" fmla="*/ 3048 w 21496"/>
              <a:gd name="T7" fmla="*/ 72 h 3904"/>
              <a:gd name="T8" fmla="*/ 4648 w 21496"/>
              <a:gd name="T9" fmla="*/ 0 h 3904"/>
              <a:gd name="T10" fmla="*/ 4720 w 21496"/>
              <a:gd name="T11" fmla="*/ 424 h 3904"/>
              <a:gd name="T12" fmla="*/ 6168 w 21496"/>
              <a:gd name="T13" fmla="*/ 352 h 3904"/>
              <a:gd name="T14" fmla="*/ 6240 w 21496"/>
              <a:gd name="T15" fmla="*/ 1128 h 3904"/>
              <a:gd name="T16" fmla="*/ 7696 w 21496"/>
              <a:gd name="T17" fmla="*/ 1056 h 3904"/>
              <a:gd name="T18" fmla="*/ 7768 w 21496"/>
              <a:gd name="T19" fmla="*/ 1600 h 3904"/>
              <a:gd name="T20" fmla="*/ 9224 w 21496"/>
              <a:gd name="T21" fmla="*/ 1528 h 3904"/>
              <a:gd name="T22" fmla="*/ 9296 w 21496"/>
              <a:gd name="T23" fmla="*/ 1832 h 3904"/>
              <a:gd name="T24" fmla="*/ 10752 w 21496"/>
              <a:gd name="T25" fmla="*/ 1760 h 3904"/>
              <a:gd name="T26" fmla="*/ 10824 w 21496"/>
              <a:gd name="T27" fmla="*/ 2184 h 3904"/>
              <a:gd name="T28" fmla="*/ 12272 w 21496"/>
              <a:gd name="T29" fmla="*/ 2112 h 3904"/>
              <a:gd name="T30" fmla="*/ 12344 w 21496"/>
              <a:gd name="T31" fmla="*/ 2536 h 3904"/>
              <a:gd name="T32" fmla="*/ 13800 w 21496"/>
              <a:gd name="T33" fmla="*/ 2464 h 3904"/>
              <a:gd name="T34" fmla="*/ 13872 w 21496"/>
              <a:gd name="T35" fmla="*/ 2776 h 3904"/>
              <a:gd name="T36" fmla="*/ 15328 w 21496"/>
              <a:gd name="T37" fmla="*/ 2704 h 3904"/>
              <a:gd name="T38" fmla="*/ 15400 w 21496"/>
              <a:gd name="T39" fmla="*/ 3240 h 3904"/>
              <a:gd name="T40" fmla="*/ 16848 w 21496"/>
              <a:gd name="T41" fmla="*/ 3168 h 3904"/>
              <a:gd name="T42" fmla="*/ 16920 w 21496"/>
              <a:gd name="T43" fmla="*/ 3592 h 3904"/>
              <a:gd name="T44" fmla="*/ 18376 w 21496"/>
              <a:gd name="T45" fmla="*/ 3520 h 3904"/>
              <a:gd name="T46" fmla="*/ 19976 w 21496"/>
              <a:gd name="T47" fmla="*/ 3592 h 3904"/>
              <a:gd name="T48" fmla="*/ 19904 w 21496"/>
              <a:gd name="T49" fmla="*/ 3760 h 3904"/>
              <a:gd name="T50" fmla="*/ 21496 w 21496"/>
              <a:gd name="T51" fmla="*/ 3832 h 3904"/>
              <a:gd name="T52" fmla="*/ 19904 w 21496"/>
              <a:gd name="T53" fmla="*/ 3904 h 3904"/>
              <a:gd name="T54" fmla="*/ 19832 w 21496"/>
              <a:gd name="T55" fmla="*/ 3592 h 3904"/>
              <a:gd name="T56" fmla="*/ 18376 w 21496"/>
              <a:gd name="T57" fmla="*/ 3664 h 3904"/>
              <a:gd name="T58" fmla="*/ 16776 w 21496"/>
              <a:gd name="T59" fmla="*/ 3592 h 3904"/>
              <a:gd name="T60" fmla="*/ 16848 w 21496"/>
              <a:gd name="T61" fmla="*/ 3312 h 3904"/>
              <a:gd name="T62" fmla="*/ 15256 w 21496"/>
              <a:gd name="T63" fmla="*/ 3240 h 3904"/>
              <a:gd name="T64" fmla="*/ 15328 w 21496"/>
              <a:gd name="T65" fmla="*/ 2848 h 3904"/>
              <a:gd name="T66" fmla="*/ 13728 w 21496"/>
              <a:gd name="T67" fmla="*/ 2776 h 3904"/>
              <a:gd name="T68" fmla="*/ 13800 w 21496"/>
              <a:gd name="T69" fmla="*/ 2608 h 3904"/>
              <a:gd name="T70" fmla="*/ 12200 w 21496"/>
              <a:gd name="T71" fmla="*/ 2536 h 3904"/>
              <a:gd name="T72" fmla="*/ 12272 w 21496"/>
              <a:gd name="T73" fmla="*/ 2256 h 3904"/>
              <a:gd name="T74" fmla="*/ 10680 w 21496"/>
              <a:gd name="T75" fmla="*/ 2184 h 3904"/>
              <a:gd name="T76" fmla="*/ 10752 w 21496"/>
              <a:gd name="T77" fmla="*/ 1904 h 3904"/>
              <a:gd name="T78" fmla="*/ 9152 w 21496"/>
              <a:gd name="T79" fmla="*/ 1832 h 3904"/>
              <a:gd name="T80" fmla="*/ 9224 w 21496"/>
              <a:gd name="T81" fmla="*/ 1672 h 3904"/>
              <a:gd name="T82" fmla="*/ 7624 w 21496"/>
              <a:gd name="T83" fmla="*/ 1600 h 3904"/>
              <a:gd name="T84" fmla="*/ 7696 w 21496"/>
              <a:gd name="T85" fmla="*/ 1200 h 3904"/>
              <a:gd name="T86" fmla="*/ 6096 w 21496"/>
              <a:gd name="T87" fmla="*/ 1128 h 3904"/>
              <a:gd name="T88" fmla="*/ 6168 w 21496"/>
              <a:gd name="T89" fmla="*/ 496 h 3904"/>
              <a:gd name="T90" fmla="*/ 4576 w 21496"/>
              <a:gd name="T91" fmla="*/ 424 h 3904"/>
              <a:gd name="T92" fmla="*/ 4648 w 21496"/>
              <a:gd name="T93" fmla="*/ 144 h 3904"/>
              <a:gd name="T94" fmla="*/ 3192 w 21496"/>
              <a:gd name="T95" fmla="*/ 72 h 3904"/>
              <a:gd name="T96" fmla="*/ 3120 w 21496"/>
              <a:gd name="T97" fmla="*/ 608 h 3904"/>
              <a:gd name="T98" fmla="*/ 1664 w 21496"/>
              <a:gd name="T99" fmla="*/ 536 h 3904"/>
              <a:gd name="T100" fmla="*/ 1592 w 21496"/>
              <a:gd name="T101" fmla="*/ 960 h 3904"/>
              <a:gd name="T102" fmla="*/ 0 w 21496"/>
              <a:gd name="T103" fmla="*/ 888 h 3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496" h="3904">
                <a:moveTo>
                  <a:pt x="72" y="816"/>
                </a:moveTo>
                <a:lnTo>
                  <a:pt x="1592" y="816"/>
                </a:lnTo>
                <a:lnTo>
                  <a:pt x="1520" y="888"/>
                </a:lnTo>
                <a:lnTo>
                  <a:pt x="1520" y="536"/>
                </a:lnTo>
                <a:cubicBezTo>
                  <a:pt x="1520" y="497"/>
                  <a:pt x="1553" y="464"/>
                  <a:pt x="1592" y="464"/>
                </a:cubicBezTo>
                <a:lnTo>
                  <a:pt x="3120" y="464"/>
                </a:lnTo>
                <a:lnTo>
                  <a:pt x="3048" y="536"/>
                </a:lnTo>
                <a:lnTo>
                  <a:pt x="3048" y="72"/>
                </a:lnTo>
                <a:cubicBezTo>
                  <a:pt x="3048" y="33"/>
                  <a:pt x="3081" y="0"/>
                  <a:pt x="3120" y="0"/>
                </a:cubicBezTo>
                <a:lnTo>
                  <a:pt x="4648" y="0"/>
                </a:lnTo>
                <a:cubicBezTo>
                  <a:pt x="4688" y="0"/>
                  <a:pt x="4720" y="33"/>
                  <a:pt x="4720" y="72"/>
                </a:cubicBezTo>
                <a:lnTo>
                  <a:pt x="4720" y="424"/>
                </a:lnTo>
                <a:lnTo>
                  <a:pt x="4648" y="352"/>
                </a:lnTo>
                <a:lnTo>
                  <a:pt x="6168" y="352"/>
                </a:lnTo>
                <a:cubicBezTo>
                  <a:pt x="6208" y="352"/>
                  <a:pt x="6240" y="385"/>
                  <a:pt x="6240" y="424"/>
                </a:cubicBezTo>
                <a:lnTo>
                  <a:pt x="6240" y="1128"/>
                </a:lnTo>
                <a:lnTo>
                  <a:pt x="6168" y="1056"/>
                </a:lnTo>
                <a:lnTo>
                  <a:pt x="7696" y="1056"/>
                </a:lnTo>
                <a:cubicBezTo>
                  <a:pt x="7736" y="1056"/>
                  <a:pt x="7768" y="1089"/>
                  <a:pt x="7768" y="1128"/>
                </a:cubicBezTo>
                <a:lnTo>
                  <a:pt x="7768" y="1600"/>
                </a:lnTo>
                <a:lnTo>
                  <a:pt x="7696" y="1528"/>
                </a:lnTo>
                <a:lnTo>
                  <a:pt x="9224" y="1528"/>
                </a:lnTo>
                <a:cubicBezTo>
                  <a:pt x="9264" y="1528"/>
                  <a:pt x="9296" y="1561"/>
                  <a:pt x="9296" y="1600"/>
                </a:cubicBezTo>
                <a:lnTo>
                  <a:pt x="9296" y="1832"/>
                </a:lnTo>
                <a:lnTo>
                  <a:pt x="9224" y="1760"/>
                </a:lnTo>
                <a:lnTo>
                  <a:pt x="10752" y="1760"/>
                </a:lnTo>
                <a:cubicBezTo>
                  <a:pt x="10792" y="1760"/>
                  <a:pt x="10824" y="1793"/>
                  <a:pt x="10824" y="1832"/>
                </a:cubicBezTo>
                <a:lnTo>
                  <a:pt x="10824" y="2184"/>
                </a:lnTo>
                <a:lnTo>
                  <a:pt x="10752" y="2112"/>
                </a:lnTo>
                <a:lnTo>
                  <a:pt x="12272" y="2112"/>
                </a:lnTo>
                <a:cubicBezTo>
                  <a:pt x="12312" y="2112"/>
                  <a:pt x="12344" y="2145"/>
                  <a:pt x="12344" y="2184"/>
                </a:cubicBezTo>
                <a:lnTo>
                  <a:pt x="12344" y="2536"/>
                </a:lnTo>
                <a:lnTo>
                  <a:pt x="12272" y="2464"/>
                </a:lnTo>
                <a:lnTo>
                  <a:pt x="13800" y="2464"/>
                </a:lnTo>
                <a:cubicBezTo>
                  <a:pt x="13840" y="2464"/>
                  <a:pt x="13872" y="2497"/>
                  <a:pt x="13872" y="2536"/>
                </a:cubicBezTo>
                <a:lnTo>
                  <a:pt x="13872" y="2776"/>
                </a:lnTo>
                <a:lnTo>
                  <a:pt x="13800" y="2704"/>
                </a:lnTo>
                <a:lnTo>
                  <a:pt x="15328" y="2704"/>
                </a:lnTo>
                <a:cubicBezTo>
                  <a:pt x="15368" y="2704"/>
                  <a:pt x="15400" y="2737"/>
                  <a:pt x="15400" y="2776"/>
                </a:cubicBezTo>
                <a:lnTo>
                  <a:pt x="15400" y="3240"/>
                </a:lnTo>
                <a:lnTo>
                  <a:pt x="15328" y="3168"/>
                </a:lnTo>
                <a:lnTo>
                  <a:pt x="16848" y="3168"/>
                </a:lnTo>
                <a:cubicBezTo>
                  <a:pt x="16888" y="3168"/>
                  <a:pt x="16920" y="3201"/>
                  <a:pt x="16920" y="3240"/>
                </a:cubicBezTo>
                <a:lnTo>
                  <a:pt x="16920" y="3592"/>
                </a:lnTo>
                <a:lnTo>
                  <a:pt x="16848" y="3520"/>
                </a:lnTo>
                <a:lnTo>
                  <a:pt x="18376" y="3520"/>
                </a:lnTo>
                <a:lnTo>
                  <a:pt x="19904" y="3520"/>
                </a:lnTo>
                <a:cubicBezTo>
                  <a:pt x="19944" y="3520"/>
                  <a:pt x="19976" y="3553"/>
                  <a:pt x="19976" y="3592"/>
                </a:cubicBezTo>
                <a:lnTo>
                  <a:pt x="19976" y="3832"/>
                </a:lnTo>
                <a:lnTo>
                  <a:pt x="19904" y="3760"/>
                </a:lnTo>
                <a:lnTo>
                  <a:pt x="21424" y="3760"/>
                </a:lnTo>
                <a:cubicBezTo>
                  <a:pt x="21464" y="3760"/>
                  <a:pt x="21496" y="3793"/>
                  <a:pt x="21496" y="3832"/>
                </a:cubicBezTo>
                <a:cubicBezTo>
                  <a:pt x="21496" y="3872"/>
                  <a:pt x="21464" y="3904"/>
                  <a:pt x="21424" y="3904"/>
                </a:cubicBezTo>
                <a:lnTo>
                  <a:pt x="19904" y="3904"/>
                </a:lnTo>
                <a:cubicBezTo>
                  <a:pt x="19865" y="3904"/>
                  <a:pt x="19832" y="3872"/>
                  <a:pt x="19832" y="3832"/>
                </a:cubicBezTo>
                <a:lnTo>
                  <a:pt x="19832" y="3592"/>
                </a:lnTo>
                <a:lnTo>
                  <a:pt x="19904" y="3664"/>
                </a:lnTo>
                <a:lnTo>
                  <a:pt x="18376" y="3664"/>
                </a:lnTo>
                <a:lnTo>
                  <a:pt x="16848" y="3664"/>
                </a:lnTo>
                <a:cubicBezTo>
                  <a:pt x="16809" y="3664"/>
                  <a:pt x="16776" y="3632"/>
                  <a:pt x="16776" y="3592"/>
                </a:cubicBezTo>
                <a:lnTo>
                  <a:pt x="16776" y="3240"/>
                </a:lnTo>
                <a:lnTo>
                  <a:pt x="16848" y="3312"/>
                </a:lnTo>
                <a:lnTo>
                  <a:pt x="15328" y="3312"/>
                </a:lnTo>
                <a:cubicBezTo>
                  <a:pt x="15289" y="3312"/>
                  <a:pt x="15256" y="3280"/>
                  <a:pt x="15256" y="3240"/>
                </a:cubicBezTo>
                <a:lnTo>
                  <a:pt x="15256" y="2776"/>
                </a:lnTo>
                <a:lnTo>
                  <a:pt x="15328" y="2848"/>
                </a:lnTo>
                <a:lnTo>
                  <a:pt x="13800" y="2848"/>
                </a:lnTo>
                <a:cubicBezTo>
                  <a:pt x="13761" y="2848"/>
                  <a:pt x="13728" y="2816"/>
                  <a:pt x="13728" y="2776"/>
                </a:cubicBezTo>
                <a:lnTo>
                  <a:pt x="13728" y="2536"/>
                </a:lnTo>
                <a:lnTo>
                  <a:pt x="13800" y="2608"/>
                </a:lnTo>
                <a:lnTo>
                  <a:pt x="12272" y="2608"/>
                </a:lnTo>
                <a:cubicBezTo>
                  <a:pt x="12233" y="2608"/>
                  <a:pt x="12200" y="2576"/>
                  <a:pt x="12200" y="2536"/>
                </a:cubicBezTo>
                <a:lnTo>
                  <a:pt x="12200" y="2184"/>
                </a:lnTo>
                <a:lnTo>
                  <a:pt x="12272" y="2256"/>
                </a:lnTo>
                <a:lnTo>
                  <a:pt x="10752" y="2256"/>
                </a:lnTo>
                <a:cubicBezTo>
                  <a:pt x="10713" y="2256"/>
                  <a:pt x="10680" y="2224"/>
                  <a:pt x="10680" y="2184"/>
                </a:cubicBezTo>
                <a:lnTo>
                  <a:pt x="10680" y="1832"/>
                </a:lnTo>
                <a:lnTo>
                  <a:pt x="10752" y="1904"/>
                </a:lnTo>
                <a:lnTo>
                  <a:pt x="9224" y="1904"/>
                </a:lnTo>
                <a:cubicBezTo>
                  <a:pt x="9185" y="1904"/>
                  <a:pt x="9152" y="1872"/>
                  <a:pt x="9152" y="1832"/>
                </a:cubicBezTo>
                <a:lnTo>
                  <a:pt x="9152" y="1600"/>
                </a:lnTo>
                <a:lnTo>
                  <a:pt x="9224" y="1672"/>
                </a:lnTo>
                <a:lnTo>
                  <a:pt x="7696" y="1672"/>
                </a:lnTo>
                <a:cubicBezTo>
                  <a:pt x="7657" y="1672"/>
                  <a:pt x="7624" y="1640"/>
                  <a:pt x="7624" y="1600"/>
                </a:cubicBezTo>
                <a:lnTo>
                  <a:pt x="7624" y="1128"/>
                </a:lnTo>
                <a:lnTo>
                  <a:pt x="7696" y="1200"/>
                </a:lnTo>
                <a:lnTo>
                  <a:pt x="6168" y="1200"/>
                </a:lnTo>
                <a:cubicBezTo>
                  <a:pt x="6129" y="1200"/>
                  <a:pt x="6096" y="1168"/>
                  <a:pt x="6096" y="1128"/>
                </a:cubicBezTo>
                <a:lnTo>
                  <a:pt x="6096" y="424"/>
                </a:lnTo>
                <a:lnTo>
                  <a:pt x="6168" y="496"/>
                </a:lnTo>
                <a:lnTo>
                  <a:pt x="4648" y="496"/>
                </a:lnTo>
                <a:cubicBezTo>
                  <a:pt x="4609" y="496"/>
                  <a:pt x="4576" y="464"/>
                  <a:pt x="4576" y="424"/>
                </a:cubicBezTo>
                <a:lnTo>
                  <a:pt x="4576" y="72"/>
                </a:lnTo>
                <a:lnTo>
                  <a:pt x="4648" y="144"/>
                </a:lnTo>
                <a:lnTo>
                  <a:pt x="3120" y="144"/>
                </a:lnTo>
                <a:lnTo>
                  <a:pt x="3192" y="72"/>
                </a:lnTo>
                <a:lnTo>
                  <a:pt x="3192" y="536"/>
                </a:lnTo>
                <a:cubicBezTo>
                  <a:pt x="3192" y="576"/>
                  <a:pt x="3160" y="608"/>
                  <a:pt x="3120" y="608"/>
                </a:cubicBezTo>
                <a:lnTo>
                  <a:pt x="1592" y="608"/>
                </a:lnTo>
                <a:lnTo>
                  <a:pt x="1664" y="536"/>
                </a:lnTo>
                <a:lnTo>
                  <a:pt x="1664" y="888"/>
                </a:lnTo>
                <a:cubicBezTo>
                  <a:pt x="1664" y="928"/>
                  <a:pt x="1632" y="960"/>
                  <a:pt x="1592" y="960"/>
                </a:cubicBezTo>
                <a:lnTo>
                  <a:pt x="72" y="960"/>
                </a:lnTo>
                <a:cubicBezTo>
                  <a:pt x="33" y="960"/>
                  <a:pt x="0" y="928"/>
                  <a:pt x="0" y="888"/>
                </a:cubicBezTo>
                <a:cubicBezTo>
                  <a:pt x="0" y="849"/>
                  <a:pt x="33" y="816"/>
                  <a:pt x="72" y="816"/>
                </a:cubicBezTo>
                <a:close/>
              </a:path>
            </a:pathLst>
          </a:custGeom>
          <a:solidFill>
            <a:srgbClr val="4F81BD"/>
          </a:solidFill>
          <a:ln w="3175" cap="flat">
            <a:solidFill>
              <a:srgbClr val="4F81BD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B0E1543F-8582-4E54-B04C-CEB4D92C62B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646652" y="3307262"/>
            <a:ext cx="15559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Arial" pitchFamily="34" charset="0"/>
              </a:rPr>
              <a:t>Capacity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A98AD2F-7BAC-47A1-9BDF-2BEEFCCB1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420" y="5923237"/>
            <a:ext cx="7604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Arial" pitchFamily="34" charset="0"/>
              </a:rPr>
              <a:t>Time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95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030" y="1847659"/>
            <a:ext cx="2471406" cy="2276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long-term changes</a:t>
            </a:r>
            <a:r>
              <a:rPr lang="en-US" dirty="0"/>
              <a:t> in demand must be considered when planning.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3831B-A44B-4452-B3D0-0A4DBE4EC8F5}"/>
              </a:ext>
            </a:extLst>
          </p:cNvPr>
          <p:cNvSpPr txBox="1"/>
          <p:nvPr/>
        </p:nvSpPr>
        <p:spPr>
          <a:xfrm>
            <a:off x="7201177" y="4705711"/>
            <a:ext cx="24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itchFamily="34" charset="0"/>
              </a:rPr>
              <a:t>Existing system capacity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094CB-8116-419A-8C9C-2165AC5347AD}"/>
              </a:ext>
            </a:extLst>
          </p:cNvPr>
          <p:cNvSpPr txBox="1"/>
          <p:nvPr/>
        </p:nvSpPr>
        <p:spPr>
          <a:xfrm>
            <a:off x="8497113" y="3349684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</a:rPr>
              <a:t>Demand for new capacities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D5842-8105-4073-98EA-8351CC6D325C}"/>
              </a:ext>
            </a:extLst>
          </p:cNvPr>
          <p:cNvSpPr txBox="1"/>
          <p:nvPr/>
        </p:nvSpPr>
        <p:spPr>
          <a:xfrm>
            <a:off x="4157315" y="4249583"/>
            <a:ext cx="2026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</a:rPr>
              <a:t>Demand projection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6DD9983-2E1A-43CE-8654-C9638D531B6C}"/>
              </a:ext>
            </a:extLst>
          </p:cNvPr>
          <p:cNvSpPr>
            <a:spLocks noEditPoints="1"/>
          </p:cNvSpPr>
          <p:nvPr/>
        </p:nvSpPr>
        <p:spPr bwMode="auto">
          <a:xfrm>
            <a:off x="3703251" y="1707440"/>
            <a:ext cx="7626350" cy="4214813"/>
          </a:xfrm>
          <a:custGeom>
            <a:avLst/>
            <a:gdLst>
              <a:gd name="T0" fmla="*/ 0 w 4804"/>
              <a:gd name="T1" fmla="*/ 2644 h 2655"/>
              <a:gd name="T2" fmla="*/ 4804 w 4804"/>
              <a:gd name="T3" fmla="*/ 2644 h 2655"/>
              <a:gd name="T4" fmla="*/ 4804 w 4804"/>
              <a:gd name="T5" fmla="*/ 2655 h 2655"/>
              <a:gd name="T6" fmla="*/ 0 w 4804"/>
              <a:gd name="T7" fmla="*/ 2655 h 2655"/>
              <a:gd name="T8" fmla="*/ 0 w 4804"/>
              <a:gd name="T9" fmla="*/ 2644 h 2655"/>
              <a:gd name="T10" fmla="*/ 0 w 4804"/>
              <a:gd name="T11" fmla="*/ 2380 h 2655"/>
              <a:gd name="T12" fmla="*/ 4804 w 4804"/>
              <a:gd name="T13" fmla="*/ 2380 h 2655"/>
              <a:gd name="T14" fmla="*/ 4804 w 4804"/>
              <a:gd name="T15" fmla="*/ 2390 h 2655"/>
              <a:gd name="T16" fmla="*/ 0 w 4804"/>
              <a:gd name="T17" fmla="*/ 2390 h 2655"/>
              <a:gd name="T18" fmla="*/ 0 w 4804"/>
              <a:gd name="T19" fmla="*/ 2380 h 2655"/>
              <a:gd name="T20" fmla="*/ 0 w 4804"/>
              <a:gd name="T21" fmla="*/ 2115 h 2655"/>
              <a:gd name="T22" fmla="*/ 4804 w 4804"/>
              <a:gd name="T23" fmla="*/ 2115 h 2655"/>
              <a:gd name="T24" fmla="*/ 4804 w 4804"/>
              <a:gd name="T25" fmla="*/ 2126 h 2655"/>
              <a:gd name="T26" fmla="*/ 0 w 4804"/>
              <a:gd name="T27" fmla="*/ 2126 h 2655"/>
              <a:gd name="T28" fmla="*/ 0 w 4804"/>
              <a:gd name="T29" fmla="*/ 2115 h 2655"/>
              <a:gd name="T30" fmla="*/ 0 w 4804"/>
              <a:gd name="T31" fmla="*/ 1851 h 2655"/>
              <a:gd name="T32" fmla="*/ 4804 w 4804"/>
              <a:gd name="T33" fmla="*/ 1851 h 2655"/>
              <a:gd name="T34" fmla="*/ 4804 w 4804"/>
              <a:gd name="T35" fmla="*/ 1861 h 2655"/>
              <a:gd name="T36" fmla="*/ 0 w 4804"/>
              <a:gd name="T37" fmla="*/ 1861 h 2655"/>
              <a:gd name="T38" fmla="*/ 0 w 4804"/>
              <a:gd name="T39" fmla="*/ 1851 h 2655"/>
              <a:gd name="T40" fmla="*/ 0 w 4804"/>
              <a:gd name="T41" fmla="*/ 1586 h 2655"/>
              <a:gd name="T42" fmla="*/ 4804 w 4804"/>
              <a:gd name="T43" fmla="*/ 1586 h 2655"/>
              <a:gd name="T44" fmla="*/ 4804 w 4804"/>
              <a:gd name="T45" fmla="*/ 1597 h 2655"/>
              <a:gd name="T46" fmla="*/ 0 w 4804"/>
              <a:gd name="T47" fmla="*/ 1597 h 2655"/>
              <a:gd name="T48" fmla="*/ 0 w 4804"/>
              <a:gd name="T49" fmla="*/ 1586 h 2655"/>
              <a:gd name="T50" fmla="*/ 0 w 4804"/>
              <a:gd name="T51" fmla="*/ 1321 h 2655"/>
              <a:gd name="T52" fmla="*/ 4804 w 4804"/>
              <a:gd name="T53" fmla="*/ 1321 h 2655"/>
              <a:gd name="T54" fmla="*/ 4804 w 4804"/>
              <a:gd name="T55" fmla="*/ 1332 h 2655"/>
              <a:gd name="T56" fmla="*/ 0 w 4804"/>
              <a:gd name="T57" fmla="*/ 1332 h 2655"/>
              <a:gd name="T58" fmla="*/ 0 w 4804"/>
              <a:gd name="T59" fmla="*/ 1321 h 2655"/>
              <a:gd name="T60" fmla="*/ 0 w 4804"/>
              <a:gd name="T61" fmla="*/ 1059 h 2655"/>
              <a:gd name="T62" fmla="*/ 4804 w 4804"/>
              <a:gd name="T63" fmla="*/ 1059 h 2655"/>
              <a:gd name="T64" fmla="*/ 4804 w 4804"/>
              <a:gd name="T65" fmla="*/ 1069 h 2655"/>
              <a:gd name="T66" fmla="*/ 0 w 4804"/>
              <a:gd name="T67" fmla="*/ 1069 h 2655"/>
              <a:gd name="T68" fmla="*/ 0 w 4804"/>
              <a:gd name="T69" fmla="*/ 1059 h 2655"/>
              <a:gd name="T70" fmla="*/ 0 w 4804"/>
              <a:gd name="T71" fmla="*/ 794 h 2655"/>
              <a:gd name="T72" fmla="*/ 4804 w 4804"/>
              <a:gd name="T73" fmla="*/ 794 h 2655"/>
              <a:gd name="T74" fmla="*/ 4804 w 4804"/>
              <a:gd name="T75" fmla="*/ 805 h 2655"/>
              <a:gd name="T76" fmla="*/ 0 w 4804"/>
              <a:gd name="T77" fmla="*/ 805 h 2655"/>
              <a:gd name="T78" fmla="*/ 0 w 4804"/>
              <a:gd name="T79" fmla="*/ 794 h 2655"/>
              <a:gd name="T80" fmla="*/ 0 w 4804"/>
              <a:gd name="T81" fmla="*/ 529 h 2655"/>
              <a:gd name="T82" fmla="*/ 4804 w 4804"/>
              <a:gd name="T83" fmla="*/ 529 h 2655"/>
              <a:gd name="T84" fmla="*/ 4804 w 4804"/>
              <a:gd name="T85" fmla="*/ 540 h 2655"/>
              <a:gd name="T86" fmla="*/ 0 w 4804"/>
              <a:gd name="T87" fmla="*/ 540 h 2655"/>
              <a:gd name="T88" fmla="*/ 0 w 4804"/>
              <a:gd name="T89" fmla="*/ 529 h 2655"/>
              <a:gd name="T90" fmla="*/ 0 w 4804"/>
              <a:gd name="T91" fmla="*/ 265 h 2655"/>
              <a:gd name="T92" fmla="*/ 4804 w 4804"/>
              <a:gd name="T93" fmla="*/ 265 h 2655"/>
              <a:gd name="T94" fmla="*/ 4804 w 4804"/>
              <a:gd name="T95" fmla="*/ 276 h 2655"/>
              <a:gd name="T96" fmla="*/ 0 w 4804"/>
              <a:gd name="T97" fmla="*/ 276 h 2655"/>
              <a:gd name="T98" fmla="*/ 0 w 4804"/>
              <a:gd name="T99" fmla="*/ 265 h 2655"/>
              <a:gd name="T100" fmla="*/ 0 w 4804"/>
              <a:gd name="T101" fmla="*/ 0 h 2655"/>
              <a:gd name="T102" fmla="*/ 4804 w 4804"/>
              <a:gd name="T103" fmla="*/ 0 h 2655"/>
              <a:gd name="T104" fmla="*/ 4804 w 4804"/>
              <a:gd name="T105" fmla="*/ 11 h 2655"/>
              <a:gd name="T106" fmla="*/ 0 w 4804"/>
              <a:gd name="T107" fmla="*/ 11 h 2655"/>
              <a:gd name="T108" fmla="*/ 0 w 4804"/>
              <a:gd name="T109" fmla="*/ 0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804" h="2655">
                <a:moveTo>
                  <a:pt x="0" y="2644"/>
                </a:moveTo>
                <a:lnTo>
                  <a:pt x="4804" y="2644"/>
                </a:lnTo>
                <a:lnTo>
                  <a:pt x="4804" y="2655"/>
                </a:lnTo>
                <a:lnTo>
                  <a:pt x="0" y="2655"/>
                </a:lnTo>
                <a:lnTo>
                  <a:pt x="0" y="2644"/>
                </a:lnTo>
                <a:close/>
                <a:moveTo>
                  <a:pt x="0" y="2380"/>
                </a:moveTo>
                <a:lnTo>
                  <a:pt x="4804" y="2380"/>
                </a:lnTo>
                <a:lnTo>
                  <a:pt x="4804" y="2390"/>
                </a:lnTo>
                <a:lnTo>
                  <a:pt x="0" y="2390"/>
                </a:lnTo>
                <a:lnTo>
                  <a:pt x="0" y="2380"/>
                </a:lnTo>
                <a:close/>
                <a:moveTo>
                  <a:pt x="0" y="2115"/>
                </a:moveTo>
                <a:lnTo>
                  <a:pt x="4804" y="2115"/>
                </a:lnTo>
                <a:lnTo>
                  <a:pt x="4804" y="2126"/>
                </a:lnTo>
                <a:lnTo>
                  <a:pt x="0" y="2126"/>
                </a:lnTo>
                <a:lnTo>
                  <a:pt x="0" y="2115"/>
                </a:lnTo>
                <a:close/>
                <a:moveTo>
                  <a:pt x="0" y="1851"/>
                </a:moveTo>
                <a:lnTo>
                  <a:pt x="4804" y="1851"/>
                </a:lnTo>
                <a:lnTo>
                  <a:pt x="4804" y="1861"/>
                </a:lnTo>
                <a:lnTo>
                  <a:pt x="0" y="1861"/>
                </a:lnTo>
                <a:lnTo>
                  <a:pt x="0" y="1851"/>
                </a:lnTo>
                <a:close/>
                <a:moveTo>
                  <a:pt x="0" y="1586"/>
                </a:moveTo>
                <a:lnTo>
                  <a:pt x="4804" y="1586"/>
                </a:lnTo>
                <a:lnTo>
                  <a:pt x="4804" y="1597"/>
                </a:lnTo>
                <a:lnTo>
                  <a:pt x="0" y="1597"/>
                </a:lnTo>
                <a:lnTo>
                  <a:pt x="0" y="1586"/>
                </a:lnTo>
                <a:close/>
                <a:moveTo>
                  <a:pt x="0" y="1321"/>
                </a:moveTo>
                <a:lnTo>
                  <a:pt x="4804" y="1321"/>
                </a:lnTo>
                <a:lnTo>
                  <a:pt x="4804" y="1332"/>
                </a:lnTo>
                <a:lnTo>
                  <a:pt x="0" y="1332"/>
                </a:lnTo>
                <a:lnTo>
                  <a:pt x="0" y="1321"/>
                </a:lnTo>
                <a:close/>
                <a:moveTo>
                  <a:pt x="0" y="1059"/>
                </a:moveTo>
                <a:lnTo>
                  <a:pt x="4804" y="1059"/>
                </a:lnTo>
                <a:lnTo>
                  <a:pt x="4804" y="1069"/>
                </a:lnTo>
                <a:lnTo>
                  <a:pt x="0" y="1069"/>
                </a:lnTo>
                <a:lnTo>
                  <a:pt x="0" y="1059"/>
                </a:lnTo>
                <a:close/>
                <a:moveTo>
                  <a:pt x="0" y="794"/>
                </a:moveTo>
                <a:lnTo>
                  <a:pt x="4804" y="794"/>
                </a:lnTo>
                <a:lnTo>
                  <a:pt x="4804" y="805"/>
                </a:lnTo>
                <a:lnTo>
                  <a:pt x="0" y="805"/>
                </a:lnTo>
                <a:lnTo>
                  <a:pt x="0" y="794"/>
                </a:lnTo>
                <a:close/>
                <a:moveTo>
                  <a:pt x="0" y="529"/>
                </a:moveTo>
                <a:lnTo>
                  <a:pt x="4804" y="529"/>
                </a:lnTo>
                <a:lnTo>
                  <a:pt x="4804" y="540"/>
                </a:lnTo>
                <a:lnTo>
                  <a:pt x="0" y="540"/>
                </a:lnTo>
                <a:lnTo>
                  <a:pt x="0" y="529"/>
                </a:lnTo>
                <a:close/>
                <a:moveTo>
                  <a:pt x="0" y="265"/>
                </a:moveTo>
                <a:lnTo>
                  <a:pt x="4804" y="265"/>
                </a:lnTo>
                <a:lnTo>
                  <a:pt x="4804" y="276"/>
                </a:lnTo>
                <a:lnTo>
                  <a:pt x="0" y="276"/>
                </a:lnTo>
                <a:lnTo>
                  <a:pt x="0" y="265"/>
                </a:lnTo>
                <a:close/>
                <a:moveTo>
                  <a:pt x="0" y="0"/>
                </a:moveTo>
                <a:lnTo>
                  <a:pt x="4804" y="0"/>
                </a:lnTo>
                <a:lnTo>
                  <a:pt x="4804" y="11"/>
                </a:lnTo>
                <a:lnTo>
                  <a:pt x="0" y="11"/>
                </a:lnTo>
                <a:lnTo>
                  <a:pt x="0" y="0"/>
                </a:lnTo>
                <a:close/>
              </a:path>
            </a:pathLst>
          </a:custGeom>
          <a:solidFill>
            <a:srgbClr val="868686"/>
          </a:solidFill>
          <a:ln w="3175" cap="flat">
            <a:solidFill>
              <a:srgbClr val="868686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F754D28C-2C14-4859-8120-E78F172F1DBC}"/>
              </a:ext>
            </a:extLst>
          </p:cNvPr>
          <p:cNvSpPr>
            <a:spLocks noEditPoints="1"/>
          </p:cNvSpPr>
          <p:nvPr/>
        </p:nvSpPr>
        <p:spPr bwMode="auto">
          <a:xfrm>
            <a:off x="3695313" y="1707440"/>
            <a:ext cx="7643813" cy="4214813"/>
          </a:xfrm>
          <a:custGeom>
            <a:avLst/>
            <a:gdLst>
              <a:gd name="T0" fmla="*/ 0 w 21400"/>
              <a:gd name="T1" fmla="*/ 24 h 11800"/>
              <a:gd name="T2" fmla="*/ 24 w 21400"/>
              <a:gd name="T3" fmla="*/ 0 h 11800"/>
              <a:gd name="T4" fmla="*/ 21376 w 21400"/>
              <a:gd name="T5" fmla="*/ 0 h 11800"/>
              <a:gd name="T6" fmla="*/ 21400 w 21400"/>
              <a:gd name="T7" fmla="*/ 24 h 11800"/>
              <a:gd name="T8" fmla="*/ 21400 w 21400"/>
              <a:gd name="T9" fmla="*/ 11776 h 11800"/>
              <a:gd name="T10" fmla="*/ 21376 w 21400"/>
              <a:gd name="T11" fmla="*/ 11800 h 11800"/>
              <a:gd name="T12" fmla="*/ 24 w 21400"/>
              <a:gd name="T13" fmla="*/ 11800 h 11800"/>
              <a:gd name="T14" fmla="*/ 0 w 21400"/>
              <a:gd name="T15" fmla="*/ 11776 h 11800"/>
              <a:gd name="T16" fmla="*/ 0 w 21400"/>
              <a:gd name="T17" fmla="*/ 24 h 11800"/>
              <a:gd name="T18" fmla="*/ 48 w 21400"/>
              <a:gd name="T19" fmla="*/ 11776 h 11800"/>
              <a:gd name="T20" fmla="*/ 24 w 21400"/>
              <a:gd name="T21" fmla="*/ 11752 h 11800"/>
              <a:gd name="T22" fmla="*/ 21376 w 21400"/>
              <a:gd name="T23" fmla="*/ 11752 h 11800"/>
              <a:gd name="T24" fmla="*/ 21352 w 21400"/>
              <a:gd name="T25" fmla="*/ 11776 h 11800"/>
              <a:gd name="T26" fmla="*/ 21352 w 21400"/>
              <a:gd name="T27" fmla="*/ 24 h 11800"/>
              <a:gd name="T28" fmla="*/ 21376 w 21400"/>
              <a:gd name="T29" fmla="*/ 48 h 11800"/>
              <a:gd name="T30" fmla="*/ 24 w 21400"/>
              <a:gd name="T31" fmla="*/ 48 h 11800"/>
              <a:gd name="T32" fmla="*/ 48 w 21400"/>
              <a:gd name="T33" fmla="*/ 24 h 11800"/>
              <a:gd name="T34" fmla="*/ 48 w 21400"/>
              <a:gd name="T35" fmla="*/ 11776 h 11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400" h="11800">
                <a:moveTo>
                  <a:pt x="0" y="24"/>
                </a:moveTo>
                <a:cubicBezTo>
                  <a:pt x="0" y="11"/>
                  <a:pt x="11" y="0"/>
                  <a:pt x="24" y="0"/>
                </a:cubicBezTo>
                <a:lnTo>
                  <a:pt x="21376" y="0"/>
                </a:lnTo>
                <a:cubicBezTo>
                  <a:pt x="21390" y="0"/>
                  <a:pt x="21400" y="11"/>
                  <a:pt x="21400" y="24"/>
                </a:cubicBezTo>
                <a:lnTo>
                  <a:pt x="21400" y="11776"/>
                </a:lnTo>
                <a:cubicBezTo>
                  <a:pt x="21400" y="11790"/>
                  <a:pt x="21390" y="11800"/>
                  <a:pt x="21376" y="11800"/>
                </a:cubicBezTo>
                <a:lnTo>
                  <a:pt x="24" y="11800"/>
                </a:lnTo>
                <a:cubicBezTo>
                  <a:pt x="11" y="11800"/>
                  <a:pt x="0" y="11790"/>
                  <a:pt x="0" y="11776"/>
                </a:cubicBezTo>
                <a:lnTo>
                  <a:pt x="0" y="24"/>
                </a:lnTo>
                <a:close/>
                <a:moveTo>
                  <a:pt x="48" y="11776"/>
                </a:moveTo>
                <a:lnTo>
                  <a:pt x="24" y="11752"/>
                </a:lnTo>
                <a:lnTo>
                  <a:pt x="21376" y="11752"/>
                </a:lnTo>
                <a:lnTo>
                  <a:pt x="21352" y="11776"/>
                </a:lnTo>
                <a:lnTo>
                  <a:pt x="21352" y="24"/>
                </a:lnTo>
                <a:lnTo>
                  <a:pt x="21376" y="48"/>
                </a:lnTo>
                <a:lnTo>
                  <a:pt x="24" y="48"/>
                </a:lnTo>
                <a:lnTo>
                  <a:pt x="48" y="24"/>
                </a:lnTo>
                <a:lnTo>
                  <a:pt x="48" y="11776"/>
                </a:lnTo>
                <a:close/>
              </a:path>
            </a:pathLst>
          </a:custGeom>
          <a:solidFill>
            <a:srgbClr val="4F81BD"/>
          </a:solidFill>
          <a:ln w="3175" cap="flat">
            <a:solidFill>
              <a:srgbClr val="4F81BD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39417AF-1991-40BA-993F-9C154077672B}"/>
              </a:ext>
            </a:extLst>
          </p:cNvPr>
          <p:cNvSpPr>
            <a:spLocks/>
          </p:cNvSpPr>
          <p:nvPr/>
        </p:nvSpPr>
        <p:spPr bwMode="auto">
          <a:xfrm>
            <a:off x="3677851" y="3496552"/>
            <a:ext cx="7677150" cy="1393825"/>
          </a:xfrm>
          <a:custGeom>
            <a:avLst/>
            <a:gdLst>
              <a:gd name="T0" fmla="*/ 1592 w 21496"/>
              <a:gd name="T1" fmla="*/ 816 h 3904"/>
              <a:gd name="T2" fmla="*/ 1520 w 21496"/>
              <a:gd name="T3" fmla="*/ 536 h 3904"/>
              <a:gd name="T4" fmla="*/ 3120 w 21496"/>
              <a:gd name="T5" fmla="*/ 464 h 3904"/>
              <a:gd name="T6" fmla="*/ 3048 w 21496"/>
              <a:gd name="T7" fmla="*/ 72 h 3904"/>
              <a:gd name="T8" fmla="*/ 4648 w 21496"/>
              <a:gd name="T9" fmla="*/ 0 h 3904"/>
              <a:gd name="T10" fmla="*/ 4720 w 21496"/>
              <a:gd name="T11" fmla="*/ 424 h 3904"/>
              <a:gd name="T12" fmla="*/ 6168 w 21496"/>
              <a:gd name="T13" fmla="*/ 352 h 3904"/>
              <a:gd name="T14" fmla="*/ 6240 w 21496"/>
              <a:gd name="T15" fmla="*/ 1128 h 3904"/>
              <a:gd name="T16" fmla="*/ 7696 w 21496"/>
              <a:gd name="T17" fmla="*/ 1056 h 3904"/>
              <a:gd name="T18" fmla="*/ 7768 w 21496"/>
              <a:gd name="T19" fmla="*/ 1600 h 3904"/>
              <a:gd name="T20" fmla="*/ 9224 w 21496"/>
              <a:gd name="T21" fmla="*/ 1528 h 3904"/>
              <a:gd name="T22" fmla="*/ 9296 w 21496"/>
              <a:gd name="T23" fmla="*/ 1832 h 3904"/>
              <a:gd name="T24" fmla="*/ 10752 w 21496"/>
              <a:gd name="T25" fmla="*/ 1760 h 3904"/>
              <a:gd name="T26" fmla="*/ 10824 w 21496"/>
              <a:gd name="T27" fmla="*/ 2184 h 3904"/>
              <a:gd name="T28" fmla="*/ 12272 w 21496"/>
              <a:gd name="T29" fmla="*/ 2112 h 3904"/>
              <a:gd name="T30" fmla="*/ 12344 w 21496"/>
              <a:gd name="T31" fmla="*/ 2536 h 3904"/>
              <a:gd name="T32" fmla="*/ 13800 w 21496"/>
              <a:gd name="T33" fmla="*/ 2464 h 3904"/>
              <a:gd name="T34" fmla="*/ 13872 w 21496"/>
              <a:gd name="T35" fmla="*/ 2776 h 3904"/>
              <a:gd name="T36" fmla="*/ 15328 w 21496"/>
              <a:gd name="T37" fmla="*/ 2704 h 3904"/>
              <a:gd name="T38" fmla="*/ 15400 w 21496"/>
              <a:gd name="T39" fmla="*/ 3240 h 3904"/>
              <a:gd name="T40" fmla="*/ 16848 w 21496"/>
              <a:gd name="T41" fmla="*/ 3168 h 3904"/>
              <a:gd name="T42" fmla="*/ 16920 w 21496"/>
              <a:gd name="T43" fmla="*/ 3592 h 3904"/>
              <a:gd name="T44" fmla="*/ 18376 w 21496"/>
              <a:gd name="T45" fmla="*/ 3520 h 3904"/>
              <a:gd name="T46" fmla="*/ 19976 w 21496"/>
              <a:gd name="T47" fmla="*/ 3592 h 3904"/>
              <a:gd name="T48" fmla="*/ 19904 w 21496"/>
              <a:gd name="T49" fmla="*/ 3760 h 3904"/>
              <a:gd name="T50" fmla="*/ 21496 w 21496"/>
              <a:gd name="T51" fmla="*/ 3832 h 3904"/>
              <a:gd name="T52" fmla="*/ 19904 w 21496"/>
              <a:gd name="T53" fmla="*/ 3904 h 3904"/>
              <a:gd name="T54" fmla="*/ 19832 w 21496"/>
              <a:gd name="T55" fmla="*/ 3592 h 3904"/>
              <a:gd name="T56" fmla="*/ 18376 w 21496"/>
              <a:gd name="T57" fmla="*/ 3664 h 3904"/>
              <a:gd name="T58" fmla="*/ 16776 w 21496"/>
              <a:gd name="T59" fmla="*/ 3592 h 3904"/>
              <a:gd name="T60" fmla="*/ 16848 w 21496"/>
              <a:gd name="T61" fmla="*/ 3312 h 3904"/>
              <a:gd name="T62" fmla="*/ 15256 w 21496"/>
              <a:gd name="T63" fmla="*/ 3240 h 3904"/>
              <a:gd name="T64" fmla="*/ 15328 w 21496"/>
              <a:gd name="T65" fmla="*/ 2848 h 3904"/>
              <a:gd name="T66" fmla="*/ 13728 w 21496"/>
              <a:gd name="T67" fmla="*/ 2776 h 3904"/>
              <a:gd name="T68" fmla="*/ 13800 w 21496"/>
              <a:gd name="T69" fmla="*/ 2608 h 3904"/>
              <a:gd name="T70" fmla="*/ 12200 w 21496"/>
              <a:gd name="T71" fmla="*/ 2536 h 3904"/>
              <a:gd name="T72" fmla="*/ 12272 w 21496"/>
              <a:gd name="T73" fmla="*/ 2256 h 3904"/>
              <a:gd name="T74" fmla="*/ 10680 w 21496"/>
              <a:gd name="T75" fmla="*/ 2184 h 3904"/>
              <a:gd name="T76" fmla="*/ 10752 w 21496"/>
              <a:gd name="T77" fmla="*/ 1904 h 3904"/>
              <a:gd name="T78" fmla="*/ 9152 w 21496"/>
              <a:gd name="T79" fmla="*/ 1832 h 3904"/>
              <a:gd name="T80" fmla="*/ 9224 w 21496"/>
              <a:gd name="T81" fmla="*/ 1672 h 3904"/>
              <a:gd name="T82" fmla="*/ 7624 w 21496"/>
              <a:gd name="T83" fmla="*/ 1600 h 3904"/>
              <a:gd name="T84" fmla="*/ 7696 w 21496"/>
              <a:gd name="T85" fmla="*/ 1200 h 3904"/>
              <a:gd name="T86" fmla="*/ 6096 w 21496"/>
              <a:gd name="T87" fmla="*/ 1128 h 3904"/>
              <a:gd name="T88" fmla="*/ 6168 w 21496"/>
              <a:gd name="T89" fmla="*/ 496 h 3904"/>
              <a:gd name="T90" fmla="*/ 4576 w 21496"/>
              <a:gd name="T91" fmla="*/ 424 h 3904"/>
              <a:gd name="T92" fmla="*/ 4648 w 21496"/>
              <a:gd name="T93" fmla="*/ 144 h 3904"/>
              <a:gd name="T94" fmla="*/ 3192 w 21496"/>
              <a:gd name="T95" fmla="*/ 72 h 3904"/>
              <a:gd name="T96" fmla="*/ 3120 w 21496"/>
              <a:gd name="T97" fmla="*/ 608 h 3904"/>
              <a:gd name="T98" fmla="*/ 1664 w 21496"/>
              <a:gd name="T99" fmla="*/ 536 h 3904"/>
              <a:gd name="T100" fmla="*/ 1592 w 21496"/>
              <a:gd name="T101" fmla="*/ 960 h 3904"/>
              <a:gd name="T102" fmla="*/ 0 w 21496"/>
              <a:gd name="T103" fmla="*/ 888 h 3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496" h="3904">
                <a:moveTo>
                  <a:pt x="72" y="816"/>
                </a:moveTo>
                <a:lnTo>
                  <a:pt x="1592" y="816"/>
                </a:lnTo>
                <a:lnTo>
                  <a:pt x="1520" y="888"/>
                </a:lnTo>
                <a:lnTo>
                  <a:pt x="1520" y="536"/>
                </a:lnTo>
                <a:cubicBezTo>
                  <a:pt x="1520" y="497"/>
                  <a:pt x="1553" y="464"/>
                  <a:pt x="1592" y="464"/>
                </a:cubicBezTo>
                <a:lnTo>
                  <a:pt x="3120" y="464"/>
                </a:lnTo>
                <a:lnTo>
                  <a:pt x="3048" y="536"/>
                </a:lnTo>
                <a:lnTo>
                  <a:pt x="3048" y="72"/>
                </a:lnTo>
                <a:cubicBezTo>
                  <a:pt x="3048" y="33"/>
                  <a:pt x="3081" y="0"/>
                  <a:pt x="3120" y="0"/>
                </a:cubicBezTo>
                <a:lnTo>
                  <a:pt x="4648" y="0"/>
                </a:lnTo>
                <a:cubicBezTo>
                  <a:pt x="4688" y="0"/>
                  <a:pt x="4720" y="33"/>
                  <a:pt x="4720" y="72"/>
                </a:cubicBezTo>
                <a:lnTo>
                  <a:pt x="4720" y="424"/>
                </a:lnTo>
                <a:lnTo>
                  <a:pt x="4648" y="352"/>
                </a:lnTo>
                <a:lnTo>
                  <a:pt x="6168" y="352"/>
                </a:lnTo>
                <a:cubicBezTo>
                  <a:pt x="6208" y="352"/>
                  <a:pt x="6240" y="385"/>
                  <a:pt x="6240" y="424"/>
                </a:cubicBezTo>
                <a:lnTo>
                  <a:pt x="6240" y="1128"/>
                </a:lnTo>
                <a:lnTo>
                  <a:pt x="6168" y="1056"/>
                </a:lnTo>
                <a:lnTo>
                  <a:pt x="7696" y="1056"/>
                </a:lnTo>
                <a:cubicBezTo>
                  <a:pt x="7736" y="1056"/>
                  <a:pt x="7768" y="1089"/>
                  <a:pt x="7768" y="1128"/>
                </a:cubicBezTo>
                <a:lnTo>
                  <a:pt x="7768" y="1600"/>
                </a:lnTo>
                <a:lnTo>
                  <a:pt x="7696" y="1528"/>
                </a:lnTo>
                <a:lnTo>
                  <a:pt x="9224" y="1528"/>
                </a:lnTo>
                <a:cubicBezTo>
                  <a:pt x="9264" y="1528"/>
                  <a:pt x="9296" y="1561"/>
                  <a:pt x="9296" y="1600"/>
                </a:cubicBezTo>
                <a:lnTo>
                  <a:pt x="9296" y="1832"/>
                </a:lnTo>
                <a:lnTo>
                  <a:pt x="9224" y="1760"/>
                </a:lnTo>
                <a:lnTo>
                  <a:pt x="10752" y="1760"/>
                </a:lnTo>
                <a:cubicBezTo>
                  <a:pt x="10792" y="1760"/>
                  <a:pt x="10824" y="1793"/>
                  <a:pt x="10824" y="1832"/>
                </a:cubicBezTo>
                <a:lnTo>
                  <a:pt x="10824" y="2184"/>
                </a:lnTo>
                <a:lnTo>
                  <a:pt x="10752" y="2112"/>
                </a:lnTo>
                <a:lnTo>
                  <a:pt x="12272" y="2112"/>
                </a:lnTo>
                <a:cubicBezTo>
                  <a:pt x="12312" y="2112"/>
                  <a:pt x="12344" y="2145"/>
                  <a:pt x="12344" y="2184"/>
                </a:cubicBezTo>
                <a:lnTo>
                  <a:pt x="12344" y="2536"/>
                </a:lnTo>
                <a:lnTo>
                  <a:pt x="12272" y="2464"/>
                </a:lnTo>
                <a:lnTo>
                  <a:pt x="13800" y="2464"/>
                </a:lnTo>
                <a:cubicBezTo>
                  <a:pt x="13840" y="2464"/>
                  <a:pt x="13872" y="2497"/>
                  <a:pt x="13872" y="2536"/>
                </a:cubicBezTo>
                <a:lnTo>
                  <a:pt x="13872" y="2776"/>
                </a:lnTo>
                <a:lnTo>
                  <a:pt x="13800" y="2704"/>
                </a:lnTo>
                <a:lnTo>
                  <a:pt x="15328" y="2704"/>
                </a:lnTo>
                <a:cubicBezTo>
                  <a:pt x="15368" y="2704"/>
                  <a:pt x="15400" y="2737"/>
                  <a:pt x="15400" y="2776"/>
                </a:cubicBezTo>
                <a:lnTo>
                  <a:pt x="15400" y="3240"/>
                </a:lnTo>
                <a:lnTo>
                  <a:pt x="15328" y="3168"/>
                </a:lnTo>
                <a:lnTo>
                  <a:pt x="16848" y="3168"/>
                </a:lnTo>
                <a:cubicBezTo>
                  <a:pt x="16888" y="3168"/>
                  <a:pt x="16920" y="3201"/>
                  <a:pt x="16920" y="3240"/>
                </a:cubicBezTo>
                <a:lnTo>
                  <a:pt x="16920" y="3592"/>
                </a:lnTo>
                <a:lnTo>
                  <a:pt x="16848" y="3520"/>
                </a:lnTo>
                <a:lnTo>
                  <a:pt x="18376" y="3520"/>
                </a:lnTo>
                <a:lnTo>
                  <a:pt x="19904" y="3520"/>
                </a:lnTo>
                <a:cubicBezTo>
                  <a:pt x="19944" y="3520"/>
                  <a:pt x="19976" y="3553"/>
                  <a:pt x="19976" y="3592"/>
                </a:cubicBezTo>
                <a:lnTo>
                  <a:pt x="19976" y="3832"/>
                </a:lnTo>
                <a:lnTo>
                  <a:pt x="19904" y="3760"/>
                </a:lnTo>
                <a:lnTo>
                  <a:pt x="21424" y="3760"/>
                </a:lnTo>
                <a:cubicBezTo>
                  <a:pt x="21464" y="3760"/>
                  <a:pt x="21496" y="3793"/>
                  <a:pt x="21496" y="3832"/>
                </a:cubicBezTo>
                <a:cubicBezTo>
                  <a:pt x="21496" y="3872"/>
                  <a:pt x="21464" y="3904"/>
                  <a:pt x="21424" y="3904"/>
                </a:cubicBezTo>
                <a:lnTo>
                  <a:pt x="19904" y="3904"/>
                </a:lnTo>
                <a:cubicBezTo>
                  <a:pt x="19865" y="3904"/>
                  <a:pt x="19832" y="3872"/>
                  <a:pt x="19832" y="3832"/>
                </a:cubicBezTo>
                <a:lnTo>
                  <a:pt x="19832" y="3592"/>
                </a:lnTo>
                <a:lnTo>
                  <a:pt x="19904" y="3664"/>
                </a:lnTo>
                <a:lnTo>
                  <a:pt x="18376" y="3664"/>
                </a:lnTo>
                <a:lnTo>
                  <a:pt x="16848" y="3664"/>
                </a:lnTo>
                <a:cubicBezTo>
                  <a:pt x="16809" y="3664"/>
                  <a:pt x="16776" y="3632"/>
                  <a:pt x="16776" y="3592"/>
                </a:cubicBezTo>
                <a:lnTo>
                  <a:pt x="16776" y="3240"/>
                </a:lnTo>
                <a:lnTo>
                  <a:pt x="16848" y="3312"/>
                </a:lnTo>
                <a:lnTo>
                  <a:pt x="15328" y="3312"/>
                </a:lnTo>
                <a:cubicBezTo>
                  <a:pt x="15289" y="3312"/>
                  <a:pt x="15256" y="3280"/>
                  <a:pt x="15256" y="3240"/>
                </a:cubicBezTo>
                <a:lnTo>
                  <a:pt x="15256" y="2776"/>
                </a:lnTo>
                <a:lnTo>
                  <a:pt x="15328" y="2848"/>
                </a:lnTo>
                <a:lnTo>
                  <a:pt x="13800" y="2848"/>
                </a:lnTo>
                <a:cubicBezTo>
                  <a:pt x="13761" y="2848"/>
                  <a:pt x="13728" y="2816"/>
                  <a:pt x="13728" y="2776"/>
                </a:cubicBezTo>
                <a:lnTo>
                  <a:pt x="13728" y="2536"/>
                </a:lnTo>
                <a:lnTo>
                  <a:pt x="13800" y="2608"/>
                </a:lnTo>
                <a:lnTo>
                  <a:pt x="12272" y="2608"/>
                </a:lnTo>
                <a:cubicBezTo>
                  <a:pt x="12233" y="2608"/>
                  <a:pt x="12200" y="2576"/>
                  <a:pt x="12200" y="2536"/>
                </a:cubicBezTo>
                <a:lnTo>
                  <a:pt x="12200" y="2184"/>
                </a:lnTo>
                <a:lnTo>
                  <a:pt x="12272" y="2256"/>
                </a:lnTo>
                <a:lnTo>
                  <a:pt x="10752" y="2256"/>
                </a:lnTo>
                <a:cubicBezTo>
                  <a:pt x="10713" y="2256"/>
                  <a:pt x="10680" y="2224"/>
                  <a:pt x="10680" y="2184"/>
                </a:cubicBezTo>
                <a:lnTo>
                  <a:pt x="10680" y="1832"/>
                </a:lnTo>
                <a:lnTo>
                  <a:pt x="10752" y="1904"/>
                </a:lnTo>
                <a:lnTo>
                  <a:pt x="9224" y="1904"/>
                </a:lnTo>
                <a:cubicBezTo>
                  <a:pt x="9185" y="1904"/>
                  <a:pt x="9152" y="1872"/>
                  <a:pt x="9152" y="1832"/>
                </a:cubicBezTo>
                <a:lnTo>
                  <a:pt x="9152" y="1600"/>
                </a:lnTo>
                <a:lnTo>
                  <a:pt x="9224" y="1672"/>
                </a:lnTo>
                <a:lnTo>
                  <a:pt x="7696" y="1672"/>
                </a:lnTo>
                <a:cubicBezTo>
                  <a:pt x="7657" y="1672"/>
                  <a:pt x="7624" y="1640"/>
                  <a:pt x="7624" y="1600"/>
                </a:cubicBezTo>
                <a:lnTo>
                  <a:pt x="7624" y="1128"/>
                </a:lnTo>
                <a:lnTo>
                  <a:pt x="7696" y="1200"/>
                </a:lnTo>
                <a:lnTo>
                  <a:pt x="6168" y="1200"/>
                </a:lnTo>
                <a:cubicBezTo>
                  <a:pt x="6129" y="1200"/>
                  <a:pt x="6096" y="1168"/>
                  <a:pt x="6096" y="1128"/>
                </a:cubicBezTo>
                <a:lnTo>
                  <a:pt x="6096" y="424"/>
                </a:lnTo>
                <a:lnTo>
                  <a:pt x="6168" y="496"/>
                </a:lnTo>
                <a:lnTo>
                  <a:pt x="4648" y="496"/>
                </a:lnTo>
                <a:cubicBezTo>
                  <a:pt x="4609" y="496"/>
                  <a:pt x="4576" y="464"/>
                  <a:pt x="4576" y="424"/>
                </a:cubicBezTo>
                <a:lnTo>
                  <a:pt x="4576" y="72"/>
                </a:lnTo>
                <a:lnTo>
                  <a:pt x="4648" y="144"/>
                </a:lnTo>
                <a:lnTo>
                  <a:pt x="3120" y="144"/>
                </a:lnTo>
                <a:lnTo>
                  <a:pt x="3192" y="72"/>
                </a:lnTo>
                <a:lnTo>
                  <a:pt x="3192" y="536"/>
                </a:lnTo>
                <a:cubicBezTo>
                  <a:pt x="3192" y="576"/>
                  <a:pt x="3160" y="608"/>
                  <a:pt x="3120" y="608"/>
                </a:cubicBezTo>
                <a:lnTo>
                  <a:pt x="1592" y="608"/>
                </a:lnTo>
                <a:lnTo>
                  <a:pt x="1664" y="536"/>
                </a:lnTo>
                <a:lnTo>
                  <a:pt x="1664" y="888"/>
                </a:lnTo>
                <a:cubicBezTo>
                  <a:pt x="1664" y="928"/>
                  <a:pt x="1632" y="960"/>
                  <a:pt x="1592" y="960"/>
                </a:cubicBezTo>
                <a:lnTo>
                  <a:pt x="72" y="960"/>
                </a:lnTo>
                <a:cubicBezTo>
                  <a:pt x="33" y="960"/>
                  <a:pt x="0" y="928"/>
                  <a:pt x="0" y="888"/>
                </a:cubicBezTo>
                <a:cubicBezTo>
                  <a:pt x="0" y="849"/>
                  <a:pt x="33" y="816"/>
                  <a:pt x="72" y="816"/>
                </a:cubicBezTo>
                <a:close/>
              </a:path>
            </a:pathLst>
          </a:custGeom>
          <a:solidFill>
            <a:srgbClr val="4F81BD"/>
          </a:solidFill>
          <a:ln w="3175" cap="flat">
            <a:solidFill>
              <a:srgbClr val="4F81BD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031FAE97-40BE-4948-AD3E-27795255ED66}"/>
              </a:ext>
            </a:extLst>
          </p:cNvPr>
          <p:cNvSpPr>
            <a:spLocks/>
          </p:cNvSpPr>
          <p:nvPr/>
        </p:nvSpPr>
        <p:spPr bwMode="auto">
          <a:xfrm>
            <a:off x="3674676" y="2571040"/>
            <a:ext cx="7681913" cy="1776413"/>
          </a:xfrm>
          <a:custGeom>
            <a:avLst/>
            <a:gdLst>
              <a:gd name="T0" fmla="*/ 63 w 21505"/>
              <a:gd name="T1" fmla="*/ 4827 h 4977"/>
              <a:gd name="T2" fmla="*/ 1583 w 21505"/>
              <a:gd name="T3" fmla="*/ 4475 h 4977"/>
              <a:gd name="T4" fmla="*/ 3111 w 21505"/>
              <a:gd name="T5" fmla="*/ 4123 h 4977"/>
              <a:gd name="T6" fmla="*/ 4634 w 21505"/>
              <a:gd name="T7" fmla="*/ 3653 h 4977"/>
              <a:gd name="T8" fmla="*/ 6156 w 21505"/>
              <a:gd name="T9" fmla="*/ 3236 h 4977"/>
              <a:gd name="T10" fmla="*/ 7685 w 21505"/>
              <a:gd name="T11" fmla="*/ 2828 h 4977"/>
              <a:gd name="T12" fmla="*/ 9213 w 21505"/>
              <a:gd name="T13" fmla="*/ 2420 h 4977"/>
              <a:gd name="T14" fmla="*/ 10738 w 21505"/>
              <a:gd name="T15" fmla="*/ 1949 h 4977"/>
              <a:gd name="T16" fmla="*/ 12258 w 21505"/>
              <a:gd name="T17" fmla="*/ 1477 h 4977"/>
              <a:gd name="T18" fmla="*/ 13791 w 21505"/>
              <a:gd name="T19" fmla="*/ 1123 h 4977"/>
              <a:gd name="T20" fmla="*/ 15319 w 21505"/>
              <a:gd name="T21" fmla="*/ 771 h 4977"/>
              <a:gd name="T22" fmla="*/ 16842 w 21505"/>
              <a:gd name="T23" fmla="*/ 475 h 4977"/>
              <a:gd name="T24" fmla="*/ 18373 w 21505"/>
              <a:gd name="T25" fmla="*/ 242 h 4977"/>
              <a:gd name="T26" fmla="*/ 19903 w 21505"/>
              <a:gd name="T27" fmla="*/ 66 h 4977"/>
              <a:gd name="T28" fmla="*/ 21428 w 21505"/>
              <a:gd name="T29" fmla="*/ 2 h 4977"/>
              <a:gd name="T30" fmla="*/ 21503 w 21505"/>
              <a:gd name="T31" fmla="*/ 70 h 4977"/>
              <a:gd name="T32" fmla="*/ 21434 w 21505"/>
              <a:gd name="T33" fmla="*/ 145 h 4977"/>
              <a:gd name="T34" fmla="*/ 19920 w 21505"/>
              <a:gd name="T35" fmla="*/ 209 h 4977"/>
              <a:gd name="T36" fmla="*/ 18394 w 21505"/>
              <a:gd name="T37" fmla="*/ 385 h 4977"/>
              <a:gd name="T38" fmla="*/ 16869 w 21505"/>
              <a:gd name="T39" fmla="*/ 616 h 4977"/>
              <a:gd name="T40" fmla="*/ 15352 w 21505"/>
              <a:gd name="T41" fmla="*/ 912 h 4977"/>
              <a:gd name="T42" fmla="*/ 13824 w 21505"/>
              <a:gd name="T43" fmla="*/ 1264 h 4977"/>
              <a:gd name="T44" fmla="*/ 12301 w 21505"/>
              <a:gd name="T45" fmla="*/ 1614 h 4977"/>
              <a:gd name="T46" fmla="*/ 10781 w 21505"/>
              <a:gd name="T47" fmla="*/ 2086 h 4977"/>
              <a:gd name="T48" fmla="*/ 9250 w 21505"/>
              <a:gd name="T49" fmla="*/ 2559 h 4977"/>
              <a:gd name="T50" fmla="*/ 7722 w 21505"/>
              <a:gd name="T51" fmla="*/ 2967 h 4977"/>
              <a:gd name="T52" fmla="*/ 6194 w 21505"/>
              <a:gd name="T53" fmla="*/ 3375 h 4977"/>
              <a:gd name="T54" fmla="*/ 4677 w 21505"/>
              <a:gd name="T55" fmla="*/ 3790 h 4977"/>
              <a:gd name="T56" fmla="*/ 3144 w 21505"/>
              <a:gd name="T57" fmla="*/ 4264 h 4977"/>
              <a:gd name="T58" fmla="*/ 1616 w 21505"/>
              <a:gd name="T59" fmla="*/ 4616 h 4977"/>
              <a:gd name="T60" fmla="*/ 96 w 21505"/>
              <a:gd name="T61" fmla="*/ 4968 h 4977"/>
              <a:gd name="T62" fmla="*/ 9 w 21505"/>
              <a:gd name="T63" fmla="*/ 4914 h 4977"/>
              <a:gd name="T64" fmla="*/ 63 w 21505"/>
              <a:gd name="T65" fmla="*/ 4827 h 4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505" h="4977">
                <a:moveTo>
                  <a:pt x="63" y="4827"/>
                </a:moveTo>
                <a:lnTo>
                  <a:pt x="1583" y="4475"/>
                </a:lnTo>
                <a:lnTo>
                  <a:pt x="3111" y="4123"/>
                </a:lnTo>
                <a:lnTo>
                  <a:pt x="4634" y="3653"/>
                </a:lnTo>
                <a:lnTo>
                  <a:pt x="6156" y="3236"/>
                </a:lnTo>
                <a:lnTo>
                  <a:pt x="7685" y="2828"/>
                </a:lnTo>
                <a:lnTo>
                  <a:pt x="9213" y="2420"/>
                </a:lnTo>
                <a:lnTo>
                  <a:pt x="10738" y="1949"/>
                </a:lnTo>
                <a:lnTo>
                  <a:pt x="12258" y="1477"/>
                </a:lnTo>
                <a:lnTo>
                  <a:pt x="13791" y="1123"/>
                </a:lnTo>
                <a:lnTo>
                  <a:pt x="15319" y="771"/>
                </a:lnTo>
                <a:lnTo>
                  <a:pt x="16842" y="475"/>
                </a:lnTo>
                <a:lnTo>
                  <a:pt x="18373" y="242"/>
                </a:lnTo>
                <a:lnTo>
                  <a:pt x="19903" y="66"/>
                </a:lnTo>
                <a:lnTo>
                  <a:pt x="21428" y="2"/>
                </a:lnTo>
                <a:cubicBezTo>
                  <a:pt x="21468" y="0"/>
                  <a:pt x="21502" y="31"/>
                  <a:pt x="21503" y="70"/>
                </a:cubicBezTo>
                <a:cubicBezTo>
                  <a:pt x="21505" y="110"/>
                  <a:pt x="21474" y="144"/>
                  <a:pt x="21434" y="145"/>
                </a:cubicBezTo>
                <a:lnTo>
                  <a:pt x="19920" y="209"/>
                </a:lnTo>
                <a:lnTo>
                  <a:pt x="18394" y="385"/>
                </a:lnTo>
                <a:lnTo>
                  <a:pt x="16869" y="616"/>
                </a:lnTo>
                <a:lnTo>
                  <a:pt x="15352" y="912"/>
                </a:lnTo>
                <a:lnTo>
                  <a:pt x="13824" y="1264"/>
                </a:lnTo>
                <a:lnTo>
                  <a:pt x="12301" y="1614"/>
                </a:lnTo>
                <a:lnTo>
                  <a:pt x="10781" y="2086"/>
                </a:lnTo>
                <a:lnTo>
                  <a:pt x="9250" y="2559"/>
                </a:lnTo>
                <a:lnTo>
                  <a:pt x="7722" y="2967"/>
                </a:lnTo>
                <a:lnTo>
                  <a:pt x="6194" y="3375"/>
                </a:lnTo>
                <a:lnTo>
                  <a:pt x="4677" y="3790"/>
                </a:lnTo>
                <a:lnTo>
                  <a:pt x="3144" y="4264"/>
                </a:lnTo>
                <a:lnTo>
                  <a:pt x="1616" y="4616"/>
                </a:lnTo>
                <a:lnTo>
                  <a:pt x="96" y="4968"/>
                </a:lnTo>
                <a:cubicBezTo>
                  <a:pt x="57" y="4977"/>
                  <a:pt x="18" y="4952"/>
                  <a:pt x="9" y="4914"/>
                </a:cubicBezTo>
                <a:cubicBezTo>
                  <a:pt x="0" y="4875"/>
                  <a:pt x="24" y="4836"/>
                  <a:pt x="63" y="4827"/>
                </a:cubicBezTo>
                <a:close/>
              </a:path>
            </a:pathLst>
          </a:custGeom>
          <a:solidFill>
            <a:srgbClr val="33CC33"/>
          </a:solidFill>
          <a:ln w="3175" cap="flat">
            <a:solidFill>
              <a:srgbClr val="33CC33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B0E1543F-8582-4E54-B04C-CEB4D92C62B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607734" y="3336440"/>
            <a:ext cx="15559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Arial" pitchFamily="34" charset="0"/>
              </a:rPr>
              <a:t>Capacity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A98AD2F-7BAC-47A1-9BDF-2BEEFCCB1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326" y="5952415"/>
            <a:ext cx="7604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Arial" pitchFamily="34" charset="0"/>
              </a:rPr>
              <a:t>Time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8E9517-EF51-4954-B48F-F6DFD16EA10C}"/>
              </a:ext>
            </a:extLst>
          </p:cNvPr>
          <p:cNvCxnSpPr/>
          <p:nvPr/>
        </p:nvCxnSpPr>
        <p:spPr>
          <a:xfrm>
            <a:off x="10439161" y="3699560"/>
            <a:ext cx="0" cy="104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A9B63-5D6D-4EB2-ABB5-CFC51950A707}"/>
              </a:ext>
            </a:extLst>
          </p:cNvPr>
          <p:cNvCxnSpPr/>
          <p:nvPr/>
        </p:nvCxnSpPr>
        <p:spPr>
          <a:xfrm flipV="1">
            <a:off x="10439161" y="2825992"/>
            <a:ext cx="0" cy="47870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53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20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030" y="1847659"/>
            <a:ext cx="2568684" cy="2276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long-term changes</a:t>
            </a:r>
            <a:r>
              <a:rPr lang="en-US" dirty="0"/>
              <a:t> in demand must be considered when planning.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3831B-A44B-4452-B3D0-0A4DBE4EC8F5}"/>
              </a:ext>
            </a:extLst>
          </p:cNvPr>
          <p:cNvSpPr txBox="1"/>
          <p:nvPr/>
        </p:nvSpPr>
        <p:spPr>
          <a:xfrm>
            <a:off x="6786207" y="4694465"/>
            <a:ext cx="24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itchFamily="34" charset="0"/>
              </a:rPr>
              <a:t>Existing system capacity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56679-D62D-4EA7-A68E-8019A0BC7953}"/>
              </a:ext>
            </a:extLst>
          </p:cNvPr>
          <p:cNvSpPr txBox="1"/>
          <p:nvPr/>
        </p:nvSpPr>
        <p:spPr>
          <a:xfrm>
            <a:off x="5855826" y="2285188"/>
            <a:ext cx="3548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Total system capacity requirements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094CB-8116-419A-8C9C-2165AC5347AD}"/>
              </a:ext>
            </a:extLst>
          </p:cNvPr>
          <p:cNvSpPr txBox="1"/>
          <p:nvPr/>
        </p:nvSpPr>
        <p:spPr>
          <a:xfrm>
            <a:off x="8516567" y="3398321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</a:rPr>
              <a:t>Demand for new capacities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D5842-8105-4073-98EA-8351CC6D325C}"/>
              </a:ext>
            </a:extLst>
          </p:cNvPr>
          <p:cNvSpPr txBox="1"/>
          <p:nvPr/>
        </p:nvSpPr>
        <p:spPr>
          <a:xfrm>
            <a:off x="4312260" y="4260955"/>
            <a:ext cx="2026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</a:rPr>
              <a:t>Demand projection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DE948-A86C-4146-8CCC-368DA42AB7C6}"/>
              </a:ext>
            </a:extLst>
          </p:cNvPr>
          <p:cNvSpPr txBox="1"/>
          <p:nvPr/>
        </p:nvSpPr>
        <p:spPr>
          <a:xfrm>
            <a:off x="5132863" y="1405082"/>
            <a:ext cx="47564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Sample schedule of new capacity additions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6DD9983-2E1A-43CE-8654-C9638D531B6C}"/>
              </a:ext>
            </a:extLst>
          </p:cNvPr>
          <p:cNvSpPr>
            <a:spLocks noEditPoints="1"/>
          </p:cNvSpPr>
          <p:nvPr/>
        </p:nvSpPr>
        <p:spPr bwMode="auto">
          <a:xfrm>
            <a:off x="3722705" y="1756077"/>
            <a:ext cx="7626350" cy="4214813"/>
          </a:xfrm>
          <a:custGeom>
            <a:avLst/>
            <a:gdLst>
              <a:gd name="T0" fmla="*/ 0 w 4804"/>
              <a:gd name="T1" fmla="*/ 2644 h 2655"/>
              <a:gd name="T2" fmla="*/ 4804 w 4804"/>
              <a:gd name="T3" fmla="*/ 2644 h 2655"/>
              <a:gd name="T4" fmla="*/ 4804 w 4804"/>
              <a:gd name="T5" fmla="*/ 2655 h 2655"/>
              <a:gd name="T6" fmla="*/ 0 w 4804"/>
              <a:gd name="T7" fmla="*/ 2655 h 2655"/>
              <a:gd name="T8" fmla="*/ 0 w 4804"/>
              <a:gd name="T9" fmla="*/ 2644 h 2655"/>
              <a:gd name="T10" fmla="*/ 0 w 4804"/>
              <a:gd name="T11" fmla="*/ 2380 h 2655"/>
              <a:gd name="T12" fmla="*/ 4804 w 4804"/>
              <a:gd name="T13" fmla="*/ 2380 h 2655"/>
              <a:gd name="T14" fmla="*/ 4804 w 4804"/>
              <a:gd name="T15" fmla="*/ 2390 h 2655"/>
              <a:gd name="T16" fmla="*/ 0 w 4804"/>
              <a:gd name="T17" fmla="*/ 2390 h 2655"/>
              <a:gd name="T18" fmla="*/ 0 w 4804"/>
              <a:gd name="T19" fmla="*/ 2380 h 2655"/>
              <a:gd name="T20" fmla="*/ 0 w 4804"/>
              <a:gd name="T21" fmla="*/ 2115 h 2655"/>
              <a:gd name="T22" fmla="*/ 4804 w 4804"/>
              <a:gd name="T23" fmla="*/ 2115 h 2655"/>
              <a:gd name="T24" fmla="*/ 4804 w 4804"/>
              <a:gd name="T25" fmla="*/ 2126 h 2655"/>
              <a:gd name="T26" fmla="*/ 0 w 4804"/>
              <a:gd name="T27" fmla="*/ 2126 h 2655"/>
              <a:gd name="T28" fmla="*/ 0 w 4804"/>
              <a:gd name="T29" fmla="*/ 2115 h 2655"/>
              <a:gd name="T30" fmla="*/ 0 w 4804"/>
              <a:gd name="T31" fmla="*/ 1851 h 2655"/>
              <a:gd name="T32" fmla="*/ 4804 w 4804"/>
              <a:gd name="T33" fmla="*/ 1851 h 2655"/>
              <a:gd name="T34" fmla="*/ 4804 w 4804"/>
              <a:gd name="T35" fmla="*/ 1861 h 2655"/>
              <a:gd name="T36" fmla="*/ 0 w 4804"/>
              <a:gd name="T37" fmla="*/ 1861 h 2655"/>
              <a:gd name="T38" fmla="*/ 0 w 4804"/>
              <a:gd name="T39" fmla="*/ 1851 h 2655"/>
              <a:gd name="T40" fmla="*/ 0 w 4804"/>
              <a:gd name="T41" fmla="*/ 1586 h 2655"/>
              <a:gd name="T42" fmla="*/ 4804 w 4804"/>
              <a:gd name="T43" fmla="*/ 1586 h 2655"/>
              <a:gd name="T44" fmla="*/ 4804 w 4804"/>
              <a:gd name="T45" fmla="*/ 1597 h 2655"/>
              <a:gd name="T46" fmla="*/ 0 w 4804"/>
              <a:gd name="T47" fmla="*/ 1597 h 2655"/>
              <a:gd name="T48" fmla="*/ 0 w 4804"/>
              <a:gd name="T49" fmla="*/ 1586 h 2655"/>
              <a:gd name="T50" fmla="*/ 0 w 4804"/>
              <a:gd name="T51" fmla="*/ 1321 h 2655"/>
              <a:gd name="T52" fmla="*/ 4804 w 4804"/>
              <a:gd name="T53" fmla="*/ 1321 h 2655"/>
              <a:gd name="T54" fmla="*/ 4804 w 4804"/>
              <a:gd name="T55" fmla="*/ 1332 h 2655"/>
              <a:gd name="T56" fmla="*/ 0 w 4804"/>
              <a:gd name="T57" fmla="*/ 1332 h 2655"/>
              <a:gd name="T58" fmla="*/ 0 w 4804"/>
              <a:gd name="T59" fmla="*/ 1321 h 2655"/>
              <a:gd name="T60" fmla="*/ 0 w 4804"/>
              <a:gd name="T61" fmla="*/ 1059 h 2655"/>
              <a:gd name="T62" fmla="*/ 4804 w 4804"/>
              <a:gd name="T63" fmla="*/ 1059 h 2655"/>
              <a:gd name="T64" fmla="*/ 4804 w 4804"/>
              <a:gd name="T65" fmla="*/ 1069 h 2655"/>
              <a:gd name="T66" fmla="*/ 0 w 4804"/>
              <a:gd name="T67" fmla="*/ 1069 h 2655"/>
              <a:gd name="T68" fmla="*/ 0 w 4804"/>
              <a:gd name="T69" fmla="*/ 1059 h 2655"/>
              <a:gd name="T70" fmla="*/ 0 w 4804"/>
              <a:gd name="T71" fmla="*/ 794 h 2655"/>
              <a:gd name="T72" fmla="*/ 4804 w 4804"/>
              <a:gd name="T73" fmla="*/ 794 h 2655"/>
              <a:gd name="T74" fmla="*/ 4804 w 4804"/>
              <a:gd name="T75" fmla="*/ 805 h 2655"/>
              <a:gd name="T76" fmla="*/ 0 w 4804"/>
              <a:gd name="T77" fmla="*/ 805 h 2655"/>
              <a:gd name="T78" fmla="*/ 0 w 4804"/>
              <a:gd name="T79" fmla="*/ 794 h 2655"/>
              <a:gd name="T80" fmla="*/ 0 w 4804"/>
              <a:gd name="T81" fmla="*/ 529 h 2655"/>
              <a:gd name="T82" fmla="*/ 4804 w 4804"/>
              <a:gd name="T83" fmla="*/ 529 h 2655"/>
              <a:gd name="T84" fmla="*/ 4804 w 4804"/>
              <a:gd name="T85" fmla="*/ 540 h 2655"/>
              <a:gd name="T86" fmla="*/ 0 w 4804"/>
              <a:gd name="T87" fmla="*/ 540 h 2655"/>
              <a:gd name="T88" fmla="*/ 0 w 4804"/>
              <a:gd name="T89" fmla="*/ 529 h 2655"/>
              <a:gd name="T90" fmla="*/ 0 w 4804"/>
              <a:gd name="T91" fmla="*/ 265 h 2655"/>
              <a:gd name="T92" fmla="*/ 4804 w 4804"/>
              <a:gd name="T93" fmla="*/ 265 h 2655"/>
              <a:gd name="T94" fmla="*/ 4804 w 4804"/>
              <a:gd name="T95" fmla="*/ 276 h 2655"/>
              <a:gd name="T96" fmla="*/ 0 w 4804"/>
              <a:gd name="T97" fmla="*/ 276 h 2655"/>
              <a:gd name="T98" fmla="*/ 0 w 4804"/>
              <a:gd name="T99" fmla="*/ 265 h 2655"/>
              <a:gd name="T100" fmla="*/ 0 w 4804"/>
              <a:gd name="T101" fmla="*/ 0 h 2655"/>
              <a:gd name="T102" fmla="*/ 4804 w 4804"/>
              <a:gd name="T103" fmla="*/ 0 h 2655"/>
              <a:gd name="T104" fmla="*/ 4804 w 4804"/>
              <a:gd name="T105" fmla="*/ 11 h 2655"/>
              <a:gd name="T106" fmla="*/ 0 w 4804"/>
              <a:gd name="T107" fmla="*/ 11 h 2655"/>
              <a:gd name="T108" fmla="*/ 0 w 4804"/>
              <a:gd name="T109" fmla="*/ 0 h 2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804" h="2655">
                <a:moveTo>
                  <a:pt x="0" y="2644"/>
                </a:moveTo>
                <a:lnTo>
                  <a:pt x="4804" y="2644"/>
                </a:lnTo>
                <a:lnTo>
                  <a:pt x="4804" y="2655"/>
                </a:lnTo>
                <a:lnTo>
                  <a:pt x="0" y="2655"/>
                </a:lnTo>
                <a:lnTo>
                  <a:pt x="0" y="2644"/>
                </a:lnTo>
                <a:close/>
                <a:moveTo>
                  <a:pt x="0" y="2380"/>
                </a:moveTo>
                <a:lnTo>
                  <a:pt x="4804" y="2380"/>
                </a:lnTo>
                <a:lnTo>
                  <a:pt x="4804" y="2390"/>
                </a:lnTo>
                <a:lnTo>
                  <a:pt x="0" y="2390"/>
                </a:lnTo>
                <a:lnTo>
                  <a:pt x="0" y="2380"/>
                </a:lnTo>
                <a:close/>
                <a:moveTo>
                  <a:pt x="0" y="2115"/>
                </a:moveTo>
                <a:lnTo>
                  <a:pt x="4804" y="2115"/>
                </a:lnTo>
                <a:lnTo>
                  <a:pt x="4804" y="2126"/>
                </a:lnTo>
                <a:lnTo>
                  <a:pt x="0" y="2126"/>
                </a:lnTo>
                <a:lnTo>
                  <a:pt x="0" y="2115"/>
                </a:lnTo>
                <a:close/>
                <a:moveTo>
                  <a:pt x="0" y="1851"/>
                </a:moveTo>
                <a:lnTo>
                  <a:pt x="4804" y="1851"/>
                </a:lnTo>
                <a:lnTo>
                  <a:pt x="4804" y="1861"/>
                </a:lnTo>
                <a:lnTo>
                  <a:pt x="0" y="1861"/>
                </a:lnTo>
                <a:lnTo>
                  <a:pt x="0" y="1851"/>
                </a:lnTo>
                <a:close/>
                <a:moveTo>
                  <a:pt x="0" y="1586"/>
                </a:moveTo>
                <a:lnTo>
                  <a:pt x="4804" y="1586"/>
                </a:lnTo>
                <a:lnTo>
                  <a:pt x="4804" y="1597"/>
                </a:lnTo>
                <a:lnTo>
                  <a:pt x="0" y="1597"/>
                </a:lnTo>
                <a:lnTo>
                  <a:pt x="0" y="1586"/>
                </a:lnTo>
                <a:close/>
                <a:moveTo>
                  <a:pt x="0" y="1321"/>
                </a:moveTo>
                <a:lnTo>
                  <a:pt x="4804" y="1321"/>
                </a:lnTo>
                <a:lnTo>
                  <a:pt x="4804" y="1332"/>
                </a:lnTo>
                <a:lnTo>
                  <a:pt x="0" y="1332"/>
                </a:lnTo>
                <a:lnTo>
                  <a:pt x="0" y="1321"/>
                </a:lnTo>
                <a:close/>
                <a:moveTo>
                  <a:pt x="0" y="1059"/>
                </a:moveTo>
                <a:lnTo>
                  <a:pt x="4804" y="1059"/>
                </a:lnTo>
                <a:lnTo>
                  <a:pt x="4804" y="1069"/>
                </a:lnTo>
                <a:lnTo>
                  <a:pt x="0" y="1069"/>
                </a:lnTo>
                <a:lnTo>
                  <a:pt x="0" y="1059"/>
                </a:lnTo>
                <a:close/>
                <a:moveTo>
                  <a:pt x="0" y="794"/>
                </a:moveTo>
                <a:lnTo>
                  <a:pt x="4804" y="794"/>
                </a:lnTo>
                <a:lnTo>
                  <a:pt x="4804" y="805"/>
                </a:lnTo>
                <a:lnTo>
                  <a:pt x="0" y="805"/>
                </a:lnTo>
                <a:lnTo>
                  <a:pt x="0" y="794"/>
                </a:lnTo>
                <a:close/>
                <a:moveTo>
                  <a:pt x="0" y="529"/>
                </a:moveTo>
                <a:lnTo>
                  <a:pt x="4804" y="529"/>
                </a:lnTo>
                <a:lnTo>
                  <a:pt x="4804" y="540"/>
                </a:lnTo>
                <a:lnTo>
                  <a:pt x="0" y="540"/>
                </a:lnTo>
                <a:lnTo>
                  <a:pt x="0" y="529"/>
                </a:lnTo>
                <a:close/>
                <a:moveTo>
                  <a:pt x="0" y="265"/>
                </a:moveTo>
                <a:lnTo>
                  <a:pt x="4804" y="265"/>
                </a:lnTo>
                <a:lnTo>
                  <a:pt x="4804" y="276"/>
                </a:lnTo>
                <a:lnTo>
                  <a:pt x="0" y="276"/>
                </a:lnTo>
                <a:lnTo>
                  <a:pt x="0" y="265"/>
                </a:lnTo>
                <a:close/>
                <a:moveTo>
                  <a:pt x="0" y="0"/>
                </a:moveTo>
                <a:lnTo>
                  <a:pt x="4804" y="0"/>
                </a:lnTo>
                <a:lnTo>
                  <a:pt x="4804" y="11"/>
                </a:lnTo>
                <a:lnTo>
                  <a:pt x="0" y="11"/>
                </a:lnTo>
                <a:lnTo>
                  <a:pt x="0" y="0"/>
                </a:lnTo>
                <a:close/>
              </a:path>
            </a:pathLst>
          </a:custGeom>
          <a:solidFill>
            <a:srgbClr val="868686"/>
          </a:solidFill>
          <a:ln w="3175" cap="flat">
            <a:solidFill>
              <a:srgbClr val="868686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F754D28C-2C14-4859-8120-E78F172F1DBC}"/>
              </a:ext>
            </a:extLst>
          </p:cNvPr>
          <p:cNvSpPr>
            <a:spLocks noEditPoints="1"/>
          </p:cNvSpPr>
          <p:nvPr/>
        </p:nvSpPr>
        <p:spPr bwMode="auto">
          <a:xfrm>
            <a:off x="3714767" y="1756077"/>
            <a:ext cx="7643813" cy="4214813"/>
          </a:xfrm>
          <a:custGeom>
            <a:avLst/>
            <a:gdLst>
              <a:gd name="T0" fmla="*/ 0 w 21400"/>
              <a:gd name="T1" fmla="*/ 24 h 11800"/>
              <a:gd name="T2" fmla="*/ 24 w 21400"/>
              <a:gd name="T3" fmla="*/ 0 h 11800"/>
              <a:gd name="T4" fmla="*/ 21376 w 21400"/>
              <a:gd name="T5" fmla="*/ 0 h 11800"/>
              <a:gd name="T6" fmla="*/ 21400 w 21400"/>
              <a:gd name="T7" fmla="*/ 24 h 11800"/>
              <a:gd name="T8" fmla="*/ 21400 w 21400"/>
              <a:gd name="T9" fmla="*/ 11776 h 11800"/>
              <a:gd name="T10" fmla="*/ 21376 w 21400"/>
              <a:gd name="T11" fmla="*/ 11800 h 11800"/>
              <a:gd name="T12" fmla="*/ 24 w 21400"/>
              <a:gd name="T13" fmla="*/ 11800 h 11800"/>
              <a:gd name="T14" fmla="*/ 0 w 21400"/>
              <a:gd name="T15" fmla="*/ 11776 h 11800"/>
              <a:gd name="T16" fmla="*/ 0 w 21400"/>
              <a:gd name="T17" fmla="*/ 24 h 11800"/>
              <a:gd name="T18" fmla="*/ 48 w 21400"/>
              <a:gd name="T19" fmla="*/ 11776 h 11800"/>
              <a:gd name="T20" fmla="*/ 24 w 21400"/>
              <a:gd name="T21" fmla="*/ 11752 h 11800"/>
              <a:gd name="T22" fmla="*/ 21376 w 21400"/>
              <a:gd name="T23" fmla="*/ 11752 h 11800"/>
              <a:gd name="T24" fmla="*/ 21352 w 21400"/>
              <a:gd name="T25" fmla="*/ 11776 h 11800"/>
              <a:gd name="T26" fmla="*/ 21352 w 21400"/>
              <a:gd name="T27" fmla="*/ 24 h 11800"/>
              <a:gd name="T28" fmla="*/ 21376 w 21400"/>
              <a:gd name="T29" fmla="*/ 48 h 11800"/>
              <a:gd name="T30" fmla="*/ 24 w 21400"/>
              <a:gd name="T31" fmla="*/ 48 h 11800"/>
              <a:gd name="T32" fmla="*/ 48 w 21400"/>
              <a:gd name="T33" fmla="*/ 24 h 11800"/>
              <a:gd name="T34" fmla="*/ 48 w 21400"/>
              <a:gd name="T35" fmla="*/ 11776 h 11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400" h="11800">
                <a:moveTo>
                  <a:pt x="0" y="24"/>
                </a:moveTo>
                <a:cubicBezTo>
                  <a:pt x="0" y="11"/>
                  <a:pt x="11" y="0"/>
                  <a:pt x="24" y="0"/>
                </a:cubicBezTo>
                <a:lnTo>
                  <a:pt x="21376" y="0"/>
                </a:lnTo>
                <a:cubicBezTo>
                  <a:pt x="21390" y="0"/>
                  <a:pt x="21400" y="11"/>
                  <a:pt x="21400" y="24"/>
                </a:cubicBezTo>
                <a:lnTo>
                  <a:pt x="21400" y="11776"/>
                </a:lnTo>
                <a:cubicBezTo>
                  <a:pt x="21400" y="11790"/>
                  <a:pt x="21390" y="11800"/>
                  <a:pt x="21376" y="11800"/>
                </a:cubicBezTo>
                <a:lnTo>
                  <a:pt x="24" y="11800"/>
                </a:lnTo>
                <a:cubicBezTo>
                  <a:pt x="11" y="11800"/>
                  <a:pt x="0" y="11790"/>
                  <a:pt x="0" y="11776"/>
                </a:cubicBezTo>
                <a:lnTo>
                  <a:pt x="0" y="24"/>
                </a:lnTo>
                <a:close/>
                <a:moveTo>
                  <a:pt x="48" y="11776"/>
                </a:moveTo>
                <a:lnTo>
                  <a:pt x="24" y="11752"/>
                </a:lnTo>
                <a:lnTo>
                  <a:pt x="21376" y="11752"/>
                </a:lnTo>
                <a:lnTo>
                  <a:pt x="21352" y="11776"/>
                </a:lnTo>
                <a:lnTo>
                  <a:pt x="21352" y="24"/>
                </a:lnTo>
                <a:lnTo>
                  <a:pt x="21376" y="48"/>
                </a:lnTo>
                <a:lnTo>
                  <a:pt x="24" y="48"/>
                </a:lnTo>
                <a:lnTo>
                  <a:pt x="48" y="24"/>
                </a:lnTo>
                <a:lnTo>
                  <a:pt x="48" y="11776"/>
                </a:lnTo>
                <a:close/>
              </a:path>
            </a:pathLst>
          </a:custGeom>
          <a:solidFill>
            <a:srgbClr val="4F81BD"/>
          </a:solidFill>
          <a:ln w="3175" cap="flat">
            <a:solidFill>
              <a:srgbClr val="4F81BD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39417AF-1991-40BA-993F-9C154077672B}"/>
              </a:ext>
            </a:extLst>
          </p:cNvPr>
          <p:cNvSpPr>
            <a:spLocks/>
          </p:cNvSpPr>
          <p:nvPr/>
        </p:nvSpPr>
        <p:spPr bwMode="auto">
          <a:xfrm>
            <a:off x="3697305" y="3545189"/>
            <a:ext cx="7677150" cy="1393825"/>
          </a:xfrm>
          <a:custGeom>
            <a:avLst/>
            <a:gdLst>
              <a:gd name="T0" fmla="*/ 1592 w 21496"/>
              <a:gd name="T1" fmla="*/ 816 h 3904"/>
              <a:gd name="T2" fmla="*/ 1520 w 21496"/>
              <a:gd name="T3" fmla="*/ 536 h 3904"/>
              <a:gd name="T4" fmla="*/ 3120 w 21496"/>
              <a:gd name="T5" fmla="*/ 464 h 3904"/>
              <a:gd name="T6" fmla="*/ 3048 w 21496"/>
              <a:gd name="T7" fmla="*/ 72 h 3904"/>
              <a:gd name="T8" fmla="*/ 4648 w 21496"/>
              <a:gd name="T9" fmla="*/ 0 h 3904"/>
              <a:gd name="T10" fmla="*/ 4720 w 21496"/>
              <a:gd name="T11" fmla="*/ 424 h 3904"/>
              <a:gd name="T12" fmla="*/ 6168 w 21496"/>
              <a:gd name="T13" fmla="*/ 352 h 3904"/>
              <a:gd name="T14" fmla="*/ 6240 w 21496"/>
              <a:gd name="T15" fmla="*/ 1128 h 3904"/>
              <a:gd name="T16" fmla="*/ 7696 w 21496"/>
              <a:gd name="T17" fmla="*/ 1056 h 3904"/>
              <a:gd name="T18" fmla="*/ 7768 w 21496"/>
              <a:gd name="T19" fmla="*/ 1600 h 3904"/>
              <a:gd name="T20" fmla="*/ 9224 w 21496"/>
              <a:gd name="T21" fmla="*/ 1528 h 3904"/>
              <a:gd name="T22" fmla="*/ 9296 w 21496"/>
              <a:gd name="T23" fmla="*/ 1832 h 3904"/>
              <a:gd name="T24" fmla="*/ 10752 w 21496"/>
              <a:gd name="T25" fmla="*/ 1760 h 3904"/>
              <a:gd name="T26" fmla="*/ 10824 w 21496"/>
              <a:gd name="T27" fmla="*/ 2184 h 3904"/>
              <a:gd name="T28" fmla="*/ 12272 w 21496"/>
              <a:gd name="T29" fmla="*/ 2112 h 3904"/>
              <a:gd name="T30" fmla="*/ 12344 w 21496"/>
              <a:gd name="T31" fmla="*/ 2536 h 3904"/>
              <a:gd name="T32" fmla="*/ 13800 w 21496"/>
              <a:gd name="T33" fmla="*/ 2464 h 3904"/>
              <a:gd name="T34" fmla="*/ 13872 w 21496"/>
              <a:gd name="T35" fmla="*/ 2776 h 3904"/>
              <a:gd name="T36" fmla="*/ 15328 w 21496"/>
              <a:gd name="T37" fmla="*/ 2704 h 3904"/>
              <a:gd name="T38" fmla="*/ 15400 w 21496"/>
              <a:gd name="T39" fmla="*/ 3240 h 3904"/>
              <a:gd name="T40" fmla="*/ 16848 w 21496"/>
              <a:gd name="T41" fmla="*/ 3168 h 3904"/>
              <a:gd name="T42" fmla="*/ 16920 w 21496"/>
              <a:gd name="T43" fmla="*/ 3592 h 3904"/>
              <a:gd name="T44" fmla="*/ 18376 w 21496"/>
              <a:gd name="T45" fmla="*/ 3520 h 3904"/>
              <a:gd name="T46" fmla="*/ 19976 w 21496"/>
              <a:gd name="T47" fmla="*/ 3592 h 3904"/>
              <a:gd name="T48" fmla="*/ 19904 w 21496"/>
              <a:gd name="T49" fmla="*/ 3760 h 3904"/>
              <a:gd name="T50" fmla="*/ 21496 w 21496"/>
              <a:gd name="T51" fmla="*/ 3832 h 3904"/>
              <a:gd name="T52" fmla="*/ 19904 w 21496"/>
              <a:gd name="T53" fmla="*/ 3904 h 3904"/>
              <a:gd name="T54" fmla="*/ 19832 w 21496"/>
              <a:gd name="T55" fmla="*/ 3592 h 3904"/>
              <a:gd name="T56" fmla="*/ 18376 w 21496"/>
              <a:gd name="T57" fmla="*/ 3664 h 3904"/>
              <a:gd name="T58" fmla="*/ 16776 w 21496"/>
              <a:gd name="T59" fmla="*/ 3592 h 3904"/>
              <a:gd name="T60" fmla="*/ 16848 w 21496"/>
              <a:gd name="T61" fmla="*/ 3312 h 3904"/>
              <a:gd name="T62" fmla="*/ 15256 w 21496"/>
              <a:gd name="T63" fmla="*/ 3240 h 3904"/>
              <a:gd name="T64" fmla="*/ 15328 w 21496"/>
              <a:gd name="T65" fmla="*/ 2848 h 3904"/>
              <a:gd name="T66" fmla="*/ 13728 w 21496"/>
              <a:gd name="T67" fmla="*/ 2776 h 3904"/>
              <a:gd name="T68" fmla="*/ 13800 w 21496"/>
              <a:gd name="T69" fmla="*/ 2608 h 3904"/>
              <a:gd name="T70" fmla="*/ 12200 w 21496"/>
              <a:gd name="T71" fmla="*/ 2536 h 3904"/>
              <a:gd name="T72" fmla="*/ 12272 w 21496"/>
              <a:gd name="T73" fmla="*/ 2256 h 3904"/>
              <a:gd name="T74" fmla="*/ 10680 w 21496"/>
              <a:gd name="T75" fmla="*/ 2184 h 3904"/>
              <a:gd name="T76" fmla="*/ 10752 w 21496"/>
              <a:gd name="T77" fmla="*/ 1904 h 3904"/>
              <a:gd name="T78" fmla="*/ 9152 w 21496"/>
              <a:gd name="T79" fmla="*/ 1832 h 3904"/>
              <a:gd name="T80" fmla="*/ 9224 w 21496"/>
              <a:gd name="T81" fmla="*/ 1672 h 3904"/>
              <a:gd name="T82" fmla="*/ 7624 w 21496"/>
              <a:gd name="T83" fmla="*/ 1600 h 3904"/>
              <a:gd name="T84" fmla="*/ 7696 w 21496"/>
              <a:gd name="T85" fmla="*/ 1200 h 3904"/>
              <a:gd name="T86" fmla="*/ 6096 w 21496"/>
              <a:gd name="T87" fmla="*/ 1128 h 3904"/>
              <a:gd name="T88" fmla="*/ 6168 w 21496"/>
              <a:gd name="T89" fmla="*/ 496 h 3904"/>
              <a:gd name="T90" fmla="*/ 4576 w 21496"/>
              <a:gd name="T91" fmla="*/ 424 h 3904"/>
              <a:gd name="T92" fmla="*/ 4648 w 21496"/>
              <a:gd name="T93" fmla="*/ 144 h 3904"/>
              <a:gd name="T94" fmla="*/ 3192 w 21496"/>
              <a:gd name="T95" fmla="*/ 72 h 3904"/>
              <a:gd name="T96" fmla="*/ 3120 w 21496"/>
              <a:gd name="T97" fmla="*/ 608 h 3904"/>
              <a:gd name="T98" fmla="*/ 1664 w 21496"/>
              <a:gd name="T99" fmla="*/ 536 h 3904"/>
              <a:gd name="T100" fmla="*/ 1592 w 21496"/>
              <a:gd name="T101" fmla="*/ 960 h 3904"/>
              <a:gd name="T102" fmla="*/ 0 w 21496"/>
              <a:gd name="T103" fmla="*/ 888 h 39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496" h="3904">
                <a:moveTo>
                  <a:pt x="72" y="816"/>
                </a:moveTo>
                <a:lnTo>
                  <a:pt x="1592" y="816"/>
                </a:lnTo>
                <a:lnTo>
                  <a:pt x="1520" y="888"/>
                </a:lnTo>
                <a:lnTo>
                  <a:pt x="1520" y="536"/>
                </a:lnTo>
                <a:cubicBezTo>
                  <a:pt x="1520" y="497"/>
                  <a:pt x="1553" y="464"/>
                  <a:pt x="1592" y="464"/>
                </a:cubicBezTo>
                <a:lnTo>
                  <a:pt x="3120" y="464"/>
                </a:lnTo>
                <a:lnTo>
                  <a:pt x="3048" y="536"/>
                </a:lnTo>
                <a:lnTo>
                  <a:pt x="3048" y="72"/>
                </a:lnTo>
                <a:cubicBezTo>
                  <a:pt x="3048" y="33"/>
                  <a:pt x="3081" y="0"/>
                  <a:pt x="3120" y="0"/>
                </a:cubicBezTo>
                <a:lnTo>
                  <a:pt x="4648" y="0"/>
                </a:lnTo>
                <a:cubicBezTo>
                  <a:pt x="4688" y="0"/>
                  <a:pt x="4720" y="33"/>
                  <a:pt x="4720" y="72"/>
                </a:cubicBezTo>
                <a:lnTo>
                  <a:pt x="4720" y="424"/>
                </a:lnTo>
                <a:lnTo>
                  <a:pt x="4648" y="352"/>
                </a:lnTo>
                <a:lnTo>
                  <a:pt x="6168" y="352"/>
                </a:lnTo>
                <a:cubicBezTo>
                  <a:pt x="6208" y="352"/>
                  <a:pt x="6240" y="385"/>
                  <a:pt x="6240" y="424"/>
                </a:cubicBezTo>
                <a:lnTo>
                  <a:pt x="6240" y="1128"/>
                </a:lnTo>
                <a:lnTo>
                  <a:pt x="6168" y="1056"/>
                </a:lnTo>
                <a:lnTo>
                  <a:pt x="7696" y="1056"/>
                </a:lnTo>
                <a:cubicBezTo>
                  <a:pt x="7736" y="1056"/>
                  <a:pt x="7768" y="1089"/>
                  <a:pt x="7768" y="1128"/>
                </a:cubicBezTo>
                <a:lnTo>
                  <a:pt x="7768" y="1600"/>
                </a:lnTo>
                <a:lnTo>
                  <a:pt x="7696" y="1528"/>
                </a:lnTo>
                <a:lnTo>
                  <a:pt x="9224" y="1528"/>
                </a:lnTo>
                <a:cubicBezTo>
                  <a:pt x="9264" y="1528"/>
                  <a:pt x="9296" y="1561"/>
                  <a:pt x="9296" y="1600"/>
                </a:cubicBezTo>
                <a:lnTo>
                  <a:pt x="9296" y="1832"/>
                </a:lnTo>
                <a:lnTo>
                  <a:pt x="9224" y="1760"/>
                </a:lnTo>
                <a:lnTo>
                  <a:pt x="10752" y="1760"/>
                </a:lnTo>
                <a:cubicBezTo>
                  <a:pt x="10792" y="1760"/>
                  <a:pt x="10824" y="1793"/>
                  <a:pt x="10824" y="1832"/>
                </a:cubicBezTo>
                <a:lnTo>
                  <a:pt x="10824" y="2184"/>
                </a:lnTo>
                <a:lnTo>
                  <a:pt x="10752" y="2112"/>
                </a:lnTo>
                <a:lnTo>
                  <a:pt x="12272" y="2112"/>
                </a:lnTo>
                <a:cubicBezTo>
                  <a:pt x="12312" y="2112"/>
                  <a:pt x="12344" y="2145"/>
                  <a:pt x="12344" y="2184"/>
                </a:cubicBezTo>
                <a:lnTo>
                  <a:pt x="12344" y="2536"/>
                </a:lnTo>
                <a:lnTo>
                  <a:pt x="12272" y="2464"/>
                </a:lnTo>
                <a:lnTo>
                  <a:pt x="13800" y="2464"/>
                </a:lnTo>
                <a:cubicBezTo>
                  <a:pt x="13840" y="2464"/>
                  <a:pt x="13872" y="2497"/>
                  <a:pt x="13872" y="2536"/>
                </a:cubicBezTo>
                <a:lnTo>
                  <a:pt x="13872" y="2776"/>
                </a:lnTo>
                <a:lnTo>
                  <a:pt x="13800" y="2704"/>
                </a:lnTo>
                <a:lnTo>
                  <a:pt x="15328" y="2704"/>
                </a:lnTo>
                <a:cubicBezTo>
                  <a:pt x="15368" y="2704"/>
                  <a:pt x="15400" y="2737"/>
                  <a:pt x="15400" y="2776"/>
                </a:cubicBezTo>
                <a:lnTo>
                  <a:pt x="15400" y="3240"/>
                </a:lnTo>
                <a:lnTo>
                  <a:pt x="15328" y="3168"/>
                </a:lnTo>
                <a:lnTo>
                  <a:pt x="16848" y="3168"/>
                </a:lnTo>
                <a:cubicBezTo>
                  <a:pt x="16888" y="3168"/>
                  <a:pt x="16920" y="3201"/>
                  <a:pt x="16920" y="3240"/>
                </a:cubicBezTo>
                <a:lnTo>
                  <a:pt x="16920" y="3592"/>
                </a:lnTo>
                <a:lnTo>
                  <a:pt x="16848" y="3520"/>
                </a:lnTo>
                <a:lnTo>
                  <a:pt x="18376" y="3520"/>
                </a:lnTo>
                <a:lnTo>
                  <a:pt x="19904" y="3520"/>
                </a:lnTo>
                <a:cubicBezTo>
                  <a:pt x="19944" y="3520"/>
                  <a:pt x="19976" y="3553"/>
                  <a:pt x="19976" y="3592"/>
                </a:cubicBezTo>
                <a:lnTo>
                  <a:pt x="19976" y="3832"/>
                </a:lnTo>
                <a:lnTo>
                  <a:pt x="19904" y="3760"/>
                </a:lnTo>
                <a:lnTo>
                  <a:pt x="21424" y="3760"/>
                </a:lnTo>
                <a:cubicBezTo>
                  <a:pt x="21464" y="3760"/>
                  <a:pt x="21496" y="3793"/>
                  <a:pt x="21496" y="3832"/>
                </a:cubicBezTo>
                <a:cubicBezTo>
                  <a:pt x="21496" y="3872"/>
                  <a:pt x="21464" y="3904"/>
                  <a:pt x="21424" y="3904"/>
                </a:cubicBezTo>
                <a:lnTo>
                  <a:pt x="19904" y="3904"/>
                </a:lnTo>
                <a:cubicBezTo>
                  <a:pt x="19865" y="3904"/>
                  <a:pt x="19832" y="3872"/>
                  <a:pt x="19832" y="3832"/>
                </a:cubicBezTo>
                <a:lnTo>
                  <a:pt x="19832" y="3592"/>
                </a:lnTo>
                <a:lnTo>
                  <a:pt x="19904" y="3664"/>
                </a:lnTo>
                <a:lnTo>
                  <a:pt x="18376" y="3664"/>
                </a:lnTo>
                <a:lnTo>
                  <a:pt x="16848" y="3664"/>
                </a:lnTo>
                <a:cubicBezTo>
                  <a:pt x="16809" y="3664"/>
                  <a:pt x="16776" y="3632"/>
                  <a:pt x="16776" y="3592"/>
                </a:cubicBezTo>
                <a:lnTo>
                  <a:pt x="16776" y="3240"/>
                </a:lnTo>
                <a:lnTo>
                  <a:pt x="16848" y="3312"/>
                </a:lnTo>
                <a:lnTo>
                  <a:pt x="15328" y="3312"/>
                </a:lnTo>
                <a:cubicBezTo>
                  <a:pt x="15289" y="3312"/>
                  <a:pt x="15256" y="3280"/>
                  <a:pt x="15256" y="3240"/>
                </a:cubicBezTo>
                <a:lnTo>
                  <a:pt x="15256" y="2776"/>
                </a:lnTo>
                <a:lnTo>
                  <a:pt x="15328" y="2848"/>
                </a:lnTo>
                <a:lnTo>
                  <a:pt x="13800" y="2848"/>
                </a:lnTo>
                <a:cubicBezTo>
                  <a:pt x="13761" y="2848"/>
                  <a:pt x="13728" y="2816"/>
                  <a:pt x="13728" y="2776"/>
                </a:cubicBezTo>
                <a:lnTo>
                  <a:pt x="13728" y="2536"/>
                </a:lnTo>
                <a:lnTo>
                  <a:pt x="13800" y="2608"/>
                </a:lnTo>
                <a:lnTo>
                  <a:pt x="12272" y="2608"/>
                </a:lnTo>
                <a:cubicBezTo>
                  <a:pt x="12233" y="2608"/>
                  <a:pt x="12200" y="2576"/>
                  <a:pt x="12200" y="2536"/>
                </a:cubicBezTo>
                <a:lnTo>
                  <a:pt x="12200" y="2184"/>
                </a:lnTo>
                <a:lnTo>
                  <a:pt x="12272" y="2256"/>
                </a:lnTo>
                <a:lnTo>
                  <a:pt x="10752" y="2256"/>
                </a:lnTo>
                <a:cubicBezTo>
                  <a:pt x="10713" y="2256"/>
                  <a:pt x="10680" y="2224"/>
                  <a:pt x="10680" y="2184"/>
                </a:cubicBezTo>
                <a:lnTo>
                  <a:pt x="10680" y="1832"/>
                </a:lnTo>
                <a:lnTo>
                  <a:pt x="10752" y="1904"/>
                </a:lnTo>
                <a:lnTo>
                  <a:pt x="9224" y="1904"/>
                </a:lnTo>
                <a:cubicBezTo>
                  <a:pt x="9185" y="1904"/>
                  <a:pt x="9152" y="1872"/>
                  <a:pt x="9152" y="1832"/>
                </a:cubicBezTo>
                <a:lnTo>
                  <a:pt x="9152" y="1600"/>
                </a:lnTo>
                <a:lnTo>
                  <a:pt x="9224" y="1672"/>
                </a:lnTo>
                <a:lnTo>
                  <a:pt x="7696" y="1672"/>
                </a:lnTo>
                <a:cubicBezTo>
                  <a:pt x="7657" y="1672"/>
                  <a:pt x="7624" y="1640"/>
                  <a:pt x="7624" y="1600"/>
                </a:cubicBezTo>
                <a:lnTo>
                  <a:pt x="7624" y="1128"/>
                </a:lnTo>
                <a:lnTo>
                  <a:pt x="7696" y="1200"/>
                </a:lnTo>
                <a:lnTo>
                  <a:pt x="6168" y="1200"/>
                </a:lnTo>
                <a:cubicBezTo>
                  <a:pt x="6129" y="1200"/>
                  <a:pt x="6096" y="1168"/>
                  <a:pt x="6096" y="1128"/>
                </a:cubicBezTo>
                <a:lnTo>
                  <a:pt x="6096" y="424"/>
                </a:lnTo>
                <a:lnTo>
                  <a:pt x="6168" y="496"/>
                </a:lnTo>
                <a:lnTo>
                  <a:pt x="4648" y="496"/>
                </a:lnTo>
                <a:cubicBezTo>
                  <a:pt x="4609" y="496"/>
                  <a:pt x="4576" y="464"/>
                  <a:pt x="4576" y="424"/>
                </a:cubicBezTo>
                <a:lnTo>
                  <a:pt x="4576" y="72"/>
                </a:lnTo>
                <a:lnTo>
                  <a:pt x="4648" y="144"/>
                </a:lnTo>
                <a:lnTo>
                  <a:pt x="3120" y="144"/>
                </a:lnTo>
                <a:lnTo>
                  <a:pt x="3192" y="72"/>
                </a:lnTo>
                <a:lnTo>
                  <a:pt x="3192" y="536"/>
                </a:lnTo>
                <a:cubicBezTo>
                  <a:pt x="3192" y="576"/>
                  <a:pt x="3160" y="608"/>
                  <a:pt x="3120" y="608"/>
                </a:cubicBezTo>
                <a:lnTo>
                  <a:pt x="1592" y="608"/>
                </a:lnTo>
                <a:lnTo>
                  <a:pt x="1664" y="536"/>
                </a:lnTo>
                <a:lnTo>
                  <a:pt x="1664" y="888"/>
                </a:lnTo>
                <a:cubicBezTo>
                  <a:pt x="1664" y="928"/>
                  <a:pt x="1632" y="960"/>
                  <a:pt x="1592" y="960"/>
                </a:cubicBezTo>
                <a:lnTo>
                  <a:pt x="72" y="960"/>
                </a:lnTo>
                <a:cubicBezTo>
                  <a:pt x="33" y="960"/>
                  <a:pt x="0" y="928"/>
                  <a:pt x="0" y="888"/>
                </a:cubicBezTo>
                <a:cubicBezTo>
                  <a:pt x="0" y="849"/>
                  <a:pt x="33" y="816"/>
                  <a:pt x="72" y="816"/>
                </a:cubicBezTo>
                <a:close/>
              </a:path>
            </a:pathLst>
          </a:custGeom>
          <a:solidFill>
            <a:srgbClr val="4F81BD"/>
          </a:solidFill>
          <a:ln w="3175" cap="flat">
            <a:solidFill>
              <a:srgbClr val="4F81BD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4379BC97-908A-4559-997E-615946510D74}"/>
              </a:ext>
            </a:extLst>
          </p:cNvPr>
          <p:cNvSpPr>
            <a:spLocks/>
          </p:cNvSpPr>
          <p:nvPr/>
        </p:nvSpPr>
        <p:spPr bwMode="auto">
          <a:xfrm>
            <a:off x="3697305" y="2284714"/>
            <a:ext cx="7677150" cy="1603375"/>
          </a:xfrm>
          <a:custGeom>
            <a:avLst/>
            <a:gdLst>
              <a:gd name="T0" fmla="*/ 1592 w 21496"/>
              <a:gd name="T1" fmla="*/ 4344 h 4488"/>
              <a:gd name="T2" fmla="*/ 1520 w 21496"/>
              <a:gd name="T3" fmla="*/ 4064 h 4488"/>
              <a:gd name="T4" fmla="*/ 3120 w 21496"/>
              <a:gd name="T5" fmla="*/ 3992 h 4488"/>
              <a:gd name="T6" fmla="*/ 3048 w 21496"/>
              <a:gd name="T7" fmla="*/ 3600 h 4488"/>
              <a:gd name="T8" fmla="*/ 4648 w 21496"/>
              <a:gd name="T9" fmla="*/ 3528 h 4488"/>
              <a:gd name="T10" fmla="*/ 4576 w 21496"/>
              <a:gd name="T11" fmla="*/ 3248 h 4488"/>
              <a:gd name="T12" fmla="*/ 6168 w 21496"/>
              <a:gd name="T13" fmla="*/ 3176 h 4488"/>
              <a:gd name="T14" fmla="*/ 6096 w 21496"/>
              <a:gd name="T15" fmla="*/ 2888 h 4488"/>
              <a:gd name="T16" fmla="*/ 7696 w 21496"/>
              <a:gd name="T17" fmla="*/ 2816 h 4488"/>
              <a:gd name="T18" fmla="*/ 7624 w 21496"/>
              <a:gd name="T19" fmla="*/ 2520 h 4488"/>
              <a:gd name="T20" fmla="*/ 9224 w 21496"/>
              <a:gd name="T21" fmla="*/ 2448 h 4488"/>
              <a:gd name="T22" fmla="*/ 9152 w 21496"/>
              <a:gd name="T23" fmla="*/ 2136 h 4488"/>
              <a:gd name="T24" fmla="*/ 10752 w 21496"/>
              <a:gd name="T25" fmla="*/ 2064 h 4488"/>
              <a:gd name="T26" fmla="*/ 10680 w 21496"/>
              <a:gd name="T27" fmla="*/ 1480 h 4488"/>
              <a:gd name="T28" fmla="*/ 12272 w 21496"/>
              <a:gd name="T29" fmla="*/ 1408 h 4488"/>
              <a:gd name="T30" fmla="*/ 13728 w 21496"/>
              <a:gd name="T31" fmla="*/ 1480 h 4488"/>
              <a:gd name="T32" fmla="*/ 13800 w 21496"/>
              <a:gd name="T33" fmla="*/ 1232 h 4488"/>
              <a:gd name="T34" fmla="*/ 15256 w 21496"/>
              <a:gd name="T35" fmla="*/ 1304 h 4488"/>
              <a:gd name="T36" fmla="*/ 15328 w 21496"/>
              <a:gd name="T37" fmla="*/ 824 h 4488"/>
              <a:gd name="T38" fmla="*/ 16776 w 21496"/>
              <a:gd name="T39" fmla="*/ 896 h 4488"/>
              <a:gd name="T40" fmla="*/ 16848 w 21496"/>
              <a:gd name="T41" fmla="*/ 448 h 4488"/>
              <a:gd name="T42" fmla="*/ 18304 w 21496"/>
              <a:gd name="T43" fmla="*/ 520 h 4488"/>
              <a:gd name="T44" fmla="*/ 18376 w 21496"/>
              <a:gd name="T45" fmla="*/ 232 h 4488"/>
              <a:gd name="T46" fmla="*/ 19832 w 21496"/>
              <a:gd name="T47" fmla="*/ 304 h 4488"/>
              <a:gd name="T48" fmla="*/ 19904 w 21496"/>
              <a:gd name="T49" fmla="*/ 0 h 4488"/>
              <a:gd name="T50" fmla="*/ 21496 w 21496"/>
              <a:gd name="T51" fmla="*/ 72 h 4488"/>
              <a:gd name="T52" fmla="*/ 19904 w 21496"/>
              <a:gd name="T53" fmla="*/ 144 h 4488"/>
              <a:gd name="T54" fmla="*/ 19976 w 21496"/>
              <a:gd name="T55" fmla="*/ 304 h 4488"/>
              <a:gd name="T56" fmla="*/ 18376 w 21496"/>
              <a:gd name="T57" fmla="*/ 376 h 4488"/>
              <a:gd name="T58" fmla="*/ 18448 w 21496"/>
              <a:gd name="T59" fmla="*/ 520 h 4488"/>
              <a:gd name="T60" fmla="*/ 16848 w 21496"/>
              <a:gd name="T61" fmla="*/ 592 h 4488"/>
              <a:gd name="T62" fmla="*/ 16920 w 21496"/>
              <a:gd name="T63" fmla="*/ 896 h 4488"/>
              <a:gd name="T64" fmla="*/ 15328 w 21496"/>
              <a:gd name="T65" fmla="*/ 968 h 4488"/>
              <a:gd name="T66" fmla="*/ 15400 w 21496"/>
              <a:gd name="T67" fmla="*/ 1304 h 4488"/>
              <a:gd name="T68" fmla="*/ 13800 w 21496"/>
              <a:gd name="T69" fmla="*/ 1376 h 4488"/>
              <a:gd name="T70" fmla="*/ 13872 w 21496"/>
              <a:gd name="T71" fmla="*/ 1480 h 4488"/>
              <a:gd name="T72" fmla="*/ 12272 w 21496"/>
              <a:gd name="T73" fmla="*/ 1552 h 4488"/>
              <a:gd name="T74" fmla="*/ 10824 w 21496"/>
              <a:gd name="T75" fmla="*/ 1480 h 4488"/>
              <a:gd name="T76" fmla="*/ 10752 w 21496"/>
              <a:gd name="T77" fmla="*/ 2208 h 4488"/>
              <a:gd name="T78" fmla="*/ 9296 w 21496"/>
              <a:gd name="T79" fmla="*/ 2136 h 4488"/>
              <a:gd name="T80" fmla="*/ 9224 w 21496"/>
              <a:gd name="T81" fmla="*/ 2592 h 4488"/>
              <a:gd name="T82" fmla="*/ 7768 w 21496"/>
              <a:gd name="T83" fmla="*/ 2520 h 4488"/>
              <a:gd name="T84" fmla="*/ 7696 w 21496"/>
              <a:gd name="T85" fmla="*/ 2960 h 4488"/>
              <a:gd name="T86" fmla="*/ 6240 w 21496"/>
              <a:gd name="T87" fmla="*/ 2888 h 4488"/>
              <a:gd name="T88" fmla="*/ 6168 w 21496"/>
              <a:gd name="T89" fmla="*/ 3320 h 4488"/>
              <a:gd name="T90" fmla="*/ 4720 w 21496"/>
              <a:gd name="T91" fmla="*/ 3248 h 4488"/>
              <a:gd name="T92" fmla="*/ 4648 w 21496"/>
              <a:gd name="T93" fmla="*/ 3672 h 4488"/>
              <a:gd name="T94" fmla="*/ 3192 w 21496"/>
              <a:gd name="T95" fmla="*/ 3600 h 4488"/>
              <a:gd name="T96" fmla="*/ 3120 w 21496"/>
              <a:gd name="T97" fmla="*/ 4136 h 4488"/>
              <a:gd name="T98" fmla="*/ 1664 w 21496"/>
              <a:gd name="T99" fmla="*/ 4064 h 4488"/>
              <a:gd name="T100" fmla="*/ 1592 w 21496"/>
              <a:gd name="T101" fmla="*/ 4488 h 4488"/>
              <a:gd name="T102" fmla="*/ 0 w 21496"/>
              <a:gd name="T103" fmla="*/ 4416 h 4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496" h="4488">
                <a:moveTo>
                  <a:pt x="72" y="4344"/>
                </a:moveTo>
                <a:lnTo>
                  <a:pt x="1592" y="4344"/>
                </a:lnTo>
                <a:lnTo>
                  <a:pt x="1520" y="4416"/>
                </a:lnTo>
                <a:lnTo>
                  <a:pt x="1520" y="4064"/>
                </a:lnTo>
                <a:cubicBezTo>
                  <a:pt x="1520" y="4025"/>
                  <a:pt x="1553" y="3992"/>
                  <a:pt x="1592" y="3992"/>
                </a:cubicBezTo>
                <a:lnTo>
                  <a:pt x="3120" y="3992"/>
                </a:lnTo>
                <a:lnTo>
                  <a:pt x="3048" y="4064"/>
                </a:lnTo>
                <a:lnTo>
                  <a:pt x="3048" y="3600"/>
                </a:lnTo>
                <a:cubicBezTo>
                  <a:pt x="3048" y="3561"/>
                  <a:pt x="3081" y="3528"/>
                  <a:pt x="3120" y="3528"/>
                </a:cubicBezTo>
                <a:lnTo>
                  <a:pt x="4648" y="3528"/>
                </a:lnTo>
                <a:lnTo>
                  <a:pt x="4576" y="3600"/>
                </a:lnTo>
                <a:lnTo>
                  <a:pt x="4576" y="3248"/>
                </a:lnTo>
                <a:cubicBezTo>
                  <a:pt x="4576" y="3209"/>
                  <a:pt x="4609" y="3176"/>
                  <a:pt x="4648" y="3176"/>
                </a:cubicBezTo>
                <a:lnTo>
                  <a:pt x="6168" y="3176"/>
                </a:lnTo>
                <a:lnTo>
                  <a:pt x="6096" y="3248"/>
                </a:lnTo>
                <a:lnTo>
                  <a:pt x="6096" y="2888"/>
                </a:lnTo>
                <a:cubicBezTo>
                  <a:pt x="6096" y="2849"/>
                  <a:pt x="6129" y="2816"/>
                  <a:pt x="6168" y="2816"/>
                </a:cubicBezTo>
                <a:lnTo>
                  <a:pt x="7696" y="2816"/>
                </a:lnTo>
                <a:lnTo>
                  <a:pt x="7624" y="2888"/>
                </a:lnTo>
                <a:lnTo>
                  <a:pt x="7624" y="2520"/>
                </a:lnTo>
                <a:cubicBezTo>
                  <a:pt x="7624" y="2481"/>
                  <a:pt x="7657" y="2448"/>
                  <a:pt x="7696" y="2448"/>
                </a:cubicBezTo>
                <a:lnTo>
                  <a:pt x="9224" y="2448"/>
                </a:lnTo>
                <a:lnTo>
                  <a:pt x="9152" y="2520"/>
                </a:lnTo>
                <a:lnTo>
                  <a:pt x="9152" y="2136"/>
                </a:lnTo>
                <a:cubicBezTo>
                  <a:pt x="9152" y="2097"/>
                  <a:pt x="9185" y="2064"/>
                  <a:pt x="9224" y="2064"/>
                </a:cubicBezTo>
                <a:lnTo>
                  <a:pt x="10752" y="2064"/>
                </a:lnTo>
                <a:lnTo>
                  <a:pt x="10680" y="2136"/>
                </a:lnTo>
                <a:lnTo>
                  <a:pt x="10680" y="1480"/>
                </a:lnTo>
                <a:cubicBezTo>
                  <a:pt x="10680" y="1441"/>
                  <a:pt x="10713" y="1408"/>
                  <a:pt x="10752" y="1408"/>
                </a:cubicBezTo>
                <a:lnTo>
                  <a:pt x="12272" y="1408"/>
                </a:lnTo>
                <a:lnTo>
                  <a:pt x="13800" y="1408"/>
                </a:lnTo>
                <a:lnTo>
                  <a:pt x="13728" y="1480"/>
                </a:lnTo>
                <a:lnTo>
                  <a:pt x="13728" y="1304"/>
                </a:lnTo>
                <a:cubicBezTo>
                  <a:pt x="13728" y="1265"/>
                  <a:pt x="13761" y="1232"/>
                  <a:pt x="13800" y="1232"/>
                </a:cubicBezTo>
                <a:lnTo>
                  <a:pt x="15328" y="1232"/>
                </a:lnTo>
                <a:lnTo>
                  <a:pt x="15256" y="1304"/>
                </a:lnTo>
                <a:lnTo>
                  <a:pt x="15256" y="896"/>
                </a:lnTo>
                <a:cubicBezTo>
                  <a:pt x="15256" y="857"/>
                  <a:pt x="15289" y="824"/>
                  <a:pt x="15328" y="824"/>
                </a:cubicBezTo>
                <a:lnTo>
                  <a:pt x="16848" y="824"/>
                </a:lnTo>
                <a:lnTo>
                  <a:pt x="16776" y="896"/>
                </a:lnTo>
                <a:lnTo>
                  <a:pt x="16776" y="520"/>
                </a:lnTo>
                <a:cubicBezTo>
                  <a:pt x="16776" y="481"/>
                  <a:pt x="16809" y="448"/>
                  <a:pt x="16848" y="448"/>
                </a:cubicBezTo>
                <a:lnTo>
                  <a:pt x="18376" y="448"/>
                </a:lnTo>
                <a:lnTo>
                  <a:pt x="18304" y="520"/>
                </a:lnTo>
                <a:lnTo>
                  <a:pt x="18304" y="304"/>
                </a:lnTo>
                <a:cubicBezTo>
                  <a:pt x="18304" y="265"/>
                  <a:pt x="18337" y="232"/>
                  <a:pt x="18376" y="232"/>
                </a:cubicBezTo>
                <a:lnTo>
                  <a:pt x="19904" y="232"/>
                </a:lnTo>
                <a:lnTo>
                  <a:pt x="19832" y="304"/>
                </a:lnTo>
                <a:lnTo>
                  <a:pt x="19832" y="72"/>
                </a:lnTo>
                <a:cubicBezTo>
                  <a:pt x="19832" y="33"/>
                  <a:pt x="19865" y="0"/>
                  <a:pt x="19904" y="0"/>
                </a:cubicBezTo>
                <a:lnTo>
                  <a:pt x="21424" y="0"/>
                </a:lnTo>
                <a:cubicBezTo>
                  <a:pt x="21464" y="0"/>
                  <a:pt x="21496" y="33"/>
                  <a:pt x="21496" y="72"/>
                </a:cubicBezTo>
                <a:cubicBezTo>
                  <a:pt x="21496" y="112"/>
                  <a:pt x="21464" y="144"/>
                  <a:pt x="21424" y="144"/>
                </a:cubicBezTo>
                <a:lnTo>
                  <a:pt x="19904" y="144"/>
                </a:lnTo>
                <a:lnTo>
                  <a:pt x="19976" y="72"/>
                </a:lnTo>
                <a:lnTo>
                  <a:pt x="19976" y="304"/>
                </a:lnTo>
                <a:cubicBezTo>
                  <a:pt x="19976" y="344"/>
                  <a:pt x="19944" y="376"/>
                  <a:pt x="19904" y="376"/>
                </a:cubicBezTo>
                <a:lnTo>
                  <a:pt x="18376" y="376"/>
                </a:lnTo>
                <a:lnTo>
                  <a:pt x="18448" y="304"/>
                </a:lnTo>
                <a:lnTo>
                  <a:pt x="18448" y="520"/>
                </a:lnTo>
                <a:cubicBezTo>
                  <a:pt x="18448" y="560"/>
                  <a:pt x="18416" y="592"/>
                  <a:pt x="18376" y="592"/>
                </a:cubicBezTo>
                <a:lnTo>
                  <a:pt x="16848" y="592"/>
                </a:lnTo>
                <a:lnTo>
                  <a:pt x="16920" y="520"/>
                </a:lnTo>
                <a:lnTo>
                  <a:pt x="16920" y="896"/>
                </a:lnTo>
                <a:cubicBezTo>
                  <a:pt x="16920" y="936"/>
                  <a:pt x="16888" y="968"/>
                  <a:pt x="16848" y="968"/>
                </a:cubicBezTo>
                <a:lnTo>
                  <a:pt x="15328" y="968"/>
                </a:lnTo>
                <a:lnTo>
                  <a:pt x="15400" y="896"/>
                </a:lnTo>
                <a:lnTo>
                  <a:pt x="15400" y="1304"/>
                </a:lnTo>
                <a:cubicBezTo>
                  <a:pt x="15400" y="1344"/>
                  <a:pt x="15368" y="1376"/>
                  <a:pt x="15328" y="1376"/>
                </a:cubicBezTo>
                <a:lnTo>
                  <a:pt x="13800" y="1376"/>
                </a:lnTo>
                <a:lnTo>
                  <a:pt x="13872" y="1304"/>
                </a:lnTo>
                <a:lnTo>
                  <a:pt x="13872" y="1480"/>
                </a:lnTo>
                <a:cubicBezTo>
                  <a:pt x="13872" y="1520"/>
                  <a:pt x="13840" y="1552"/>
                  <a:pt x="13800" y="1552"/>
                </a:cubicBezTo>
                <a:lnTo>
                  <a:pt x="12272" y="1552"/>
                </a:lnTo>
                <a:lnTo>
                  <a:pt x="10752" y="1552"/>
                </a:lnTo>
                <a:lnTo>
                  <a:pt x="10824" y="1480"/>
                </a:lnTo>
                <a:lnTo>
                  <a:pt x="10824" y="2136"/>
                </a:lnTo>
                <a:cubicBezTo>
                  <a:pt x="10824" y="2176"/>
                  <a:pt x="10792" y="2208"/>
                  <a:pt x="10752" y="2208"/>
                </a:cubicBezTo>
                <a:lnTo>
                  <a:pt x="9224" y="2208"/>
                </a:lnTo>
                <a:lnTo>
                  <a:pt x="9296" y="2136"/>
                </a:lnTo>
                <a:lnTo>
                  <a:pt x="9296" y="2520"/>
                </a:lnTo>
                <a:cubicBezTo>
                  <a:pt x="9296" y="2560"/>
                  <a:pt x="9264" y="2592"/>
                  <a:pt x="9224" y="2592"/>
                </a:cubicBezTo>
                <a:lnTo>
                  <a:pt x="7696" y="2592"/>
                </a:lnTo>
                <a:lnTo>
                  <a:pt x="7768" y="2520"/>
                </a:lnTo>
                <a:lnTo>
                  <a:pt x="7768" y="2888"/>
                </a:lnTo>
                <a:cubicBezTo>
                  <a:pt x="7768" y="2928"/>
                  <a:pt x="7736" y="2960"/>
                  <a:pt x="7696" y="2960"/>
                </a:cubicBezTo>
                <a:lnTo>
                  <a:pt x="6168" y="2960"/>
                </a:lnTo>
                <a:lnTo>
                  <a:pt x="6240" y="2888"/>
                </a:lnTo>
                <a:lnTo>
                  <a:pt x="6240" y="3248"/>
                </a:lnTo>
                <a:cubicBezTo>
                  <a:pt x="6240" y="3288"/>
                  <a:pt x="6208" y="3320"/>
                  <a:pt x="6168" y="3320"/>
                </a:cubicBezTo>
                <a:lnTo>
                  <a:pt x="4648" y="3320"/>
                </a:lnTo>
                <a:lnTo>
                  <a:pt x="4720" y="3248"/>
                </a:lnTo>
                <a:lnTo>
                  <a:pt x="4720" y="3600"/>
                </a:lnTo>
                <a:cubicBezTo>
                  <a:pt x="4720" y="3640"/>
                  <a:pt x="4688" y="3672"/>
                  <a:pt x="4648" y="3672"/>
                </a:cubicBezTo>
                <a:lnTo>
                  <a:pt x="3120" y="3672"/>
                </a:lnTo>
                <a:lnTo>
                  <a:pt x="3192" y="3600"/>
                </a:lnTo>
                <a:lnTo>
                  <a:pt x="3192" y="4064"/>
                </a:lnTo>
                <a:cubicBezTo>
                  <a:pt x="3192" y="4104"/>
                  <a:pt x="3160" y="4136"/>
                  <a:pt x="3120" y="4136"/>
                </a:cubicBezTo>
                <a:lnTo>
                  <a:pt x="1592" y="4136"/>
                </a:lnTo>
                <a:lnTo>
                  <a:pt x="1664" y="4064"/>
                </a:lnTo>
                <a:lnTo>
                  <a:pt x="1664" y="4416"/>
                </a:lnTo>
                <a:cubicBezTo>
                  <a:pt x="1664" y="4456"/>
                  <a:pt x="1632" y="4488"/>
                  <a:pt x="1592" y="4488"/>
                </a:cubicBezTo>
                <a:lnTo>
                  <a:pt x="72" y="4488"/>
                </a:lnTo>
                <a:cubicBezTo>
                  <a:pt x="33" y="4488"/>
                  <a:pt x="0" y="4456"/>
                  <a:pt x="0" y="4416"/>
                </a:cubicBezTo>
                <a:cubicBezTo>
                  <a:pt x="0" y="4377"/>
                  <a:pt x="33" y="4344"/>
                  <a:pt x="72" y="4344"/>
                </a:cubicBezTo>
                <a:close/>
              </a:path>
            </a:pathLst>
          </a:custGeom>
          <a:solidFill>
            <a:srgbClr val="BE4B48"/>
          </a:solidFill>
          <a:ln w="3175" cap="flat">
            <a:solidFill>
              <a:srgbClr val="BE4B48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031FAE97-40BE-4948-AD3E-27795255ED66}"/>
              </a:ext>
            </a:extLst>
          </p:cNvPr>
          <p:cNvSpPr>
            <a:spLocks/>
          </p:cNvSpPr>
          <p:nvPr/>
        </p:nvSpPr>
        <p:spPr bwMode="auto">
          <a:xfrm>
            <a:off x="3694130" y="2619677"/>
            <a:ext cx="7681913" cy="1776413"/>
          </a:xfrm>
          <a:custGeom>
            <a:avLst/>
            <a:gdLst>
              <a:gd name="T0" fmla="*/ 63 w 21505"/>
              <a:gd name="T1" fmla="*/ 4827 h 4977"/>
              <a:gd name="T2" fmla="*/ 1583 w 21505"/>
              <a:gd name="T3" fmla="*/ 4475 h 4977"/>
              <a:gd name="T4" fmla="*/ 3111 w 21505"/>
              <a:gd name="T5" fmla="*/ 4123 h 4977"/>
              <a:gd name="T6" fmla="*/ 4634 w 21505"/>
              <a:gd name="T7" fmla="*/ 3653 h 4977"/>
              <a:gd name="T8" fmla="*/ 6156 w 21505"/>
              <a:gd name="T9" fmla="*/ 3236 h 4977"/>
              <a:gd name="T10" fmla="*/ 7685 w 21505"/>
              <a:gd name="T11" fmla="*/ 2828 h 4977"/>
              <a:gd name="T12" fmla="*/ 9213 w 21505"/>
              <a:gd name="T13" fmla="*/ 2420 h 4977"/>
              <a:gd name="T14" fmla="*/ 10738 w 21505"/>
              <a:gd name="T15" fmla="*/ 1949 h 4977"/>
              <a:gd name="T16" fmla="*/ 12258 w 21505"/>
              <a:gd name="T17" fmla="*/ 1477 h 4977"/>
              <a:gd name="T18" fmla="*/ 13791 w 21505"/>
              <a:gd name="T19" fmla="*/ 1123 h 4977"/>
              <a:gd name="T20" fmla="*/ 15319 w 21505"/>
              <a:gd name="T21" fmla="*/ 771 h 4977"/>
              <a:gd name="T22" fmla="*/ 16842 w 21505"/>
              <a:gd name="T23" fmla="*/ 475 h 4977"/>
              <a:gd name="T24" fmla="*/ 18373 w 21505"/>
              <a:gd name="T25" fmla="*/ 242 h 4977"/>
              <a:gd name="T26" fmla="*/ 19903 w 21505"/>
              <a:gd name="T27" fmla="*/ 66 h 4977"/>
              <a:gd name="T28" fmla="*/ 21428 w 21505"/>
              <a:gd name="T29" fmla="*/ 2 h 4977"/>
              <a:gd name="T30" fmla="*/ 21503 w 21505"/>
              <a:gd name="T31" fmla="*/ 70 h 4977"/>
              <a:gd name="T32" fmla="*/ 21434 w 21505"/>
              <a:gd name="T33" fmla="*/ 145 h 4977"/>
              <a:gd name="T34" fmla="*/ 19920 w 21505"/>
              <a:gd name="T35" fmla="*/ 209 h 4977"/>
              <a:gd name="T36" fmla="*/ 18394 w 21505"/>
              <a:gd name="T37" fmla="*/ 385 h 4977"/>
              <a:gd name="T38" fmla="*/ 16869 w 21505"/>
              <a:gd name="T39" fmla="*/ 616 h 4977"/>
              <a:gd name="T40" fmla="*/ 15352 w 21505"/>
              <a:gd name="T41" fmla="*/ 912 h 4977"/>
              <a:gd name="T42" fmla="*/ 13824 w 21505"/>
              <a:gd name="T43" fmla="*/ 1264 h 4977"/>
              <a:gd name="T44" fmla="*/ 12301 w 21505"/>
              <a:gd name="T45" fmla="*/ 1614 h 4977"/>
              <a:gd name="T46" fmla="*/ 10781 w 21505"/>
              <a:gd name="T47" fmla="*/ 2086 h 4977"/>
              <a:gd name="T48" fmla="*/ 9250 w 21505"/>
              <a:gd name="T49" fmla="*/ 2559 h 4977"/>
              <a:gd name="T50" fmla="*/ 7722 w 21505"/>
              <a:gd name="T51" fmla="*/ 2967 h 4977"/>
              <a:gd name="T52" fmla="*/ 6194 w 21505"/>
              <a:gd name="T53" fmla="*/ 3375 h 4977"/>
              <a:gd name="T54" fmla="*/ 4677 w 21505"/>
              <a:gd name="T55" fmla="*/ 3790 h 4977"/>
              <a:gd name="T56" fmla="*/ 3144 w 21505"/>
              <a:gd name="T57" fmla="*/ 4264 h 4977"/>
              <a:gd name="T58" fmla="*/ 1616 w 21505"/>
              <a:gd name="T59" fmla="*/ 4616 h 4977"/>
              <a:gd name="T60" fmla="*/ 96 w 21505"/>
              <a:gd name="T61" fmla="*/ 4968 h 4977"/>
              <a:gd name="T62" fmla="*/ 9 w 21505"/>
              <a:gd name="T63" fmla="*/ 4914 h 4977"/>
              <a:gd name="T64" fmla="*/ 63 w 21505"/>
              <a:gd name="T65" fmla="*/ 4827 h 4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505" h="4977">
                <a:moveTo>
                  <a:pt x="63" y="4827"/>
                </a:moveTo>
                <a:lnTo>
                  <a:pt x="1583" y="4475"/>
                </a:lnTo>
                <a:lnTo>
                  <a:pt x="3111" y="4123"/>
                </a:lnTo>
                <a:lnTo>
                  <a:pt x="4634" y="3653"/>
                </a:lnTo>
                <a:lnTo>
                  <a:pt x="6156" y="3236"/>
                </a:lnTo>
                <a:lnTo>
                  <a:pt x="7685" y="2828"/>
                </a:lnTo>
                <a:lnTo>
                  <a:pt x="9213" y="2420"/>
                </a:lnTo>
                <a:lnTo>
                  <a:pt x="10738" y="1949"/>
                </a:lnTo>
                <a:lnTo>
                  <a:pt x="12258" y="1477"/>
                </a:lnTo>
                <a:lnTo>
                  <a:pt x="13791" y="1123"/>
                </a:lnTo>
                <a:lnTo>
                  <a:pt x="15319" y="771"/>
                </a:lnTo>
                <a:lnTo>
                  <a:pt x="16842" y="475"/>
                </a:lnTo>
                <a:lnTo>
                  <a:pt x="18373" y="242"/>
                </a:lnTo>
                <a:lnTo>
                  <a:pt x="19903" y="66"/>
                </a:lnTo>
                <a:lnTo>
                  <a:pt x="21428" y="2"/>
                </a:lnTo>
                <a:cubicBezTo>
                  <a:pt x="21468" y="0"/>
                  <a:pt x="21502" y="31"/>
                  <a:pt x="21503" y="70"/>
                </a:cubicBezTo>
                <a:cubicBezTo>
                  <a:pt x="21505" y="110"/>
                  <a:pt x="21474" y="144"/>
                  <a:pt x="21434" y="145"/>
                </a:cubicBezTo>
                <a:lnTo>
                  <a:pt x="19920" y="209"/>
                </a:lnTo>
                <a:lnTo>
                  <a:pt x="18394" y="385"/>
                </a:lnTo>
                <a:lnTo>
                  <a:pt x="16869" y="616"/>
                </a:lnTo>
                <a:lnTo>
                  <a:pt x="15352" y="912"/>
                </a:lnTo>
                <a:lnTo>
                  <a:pt x="13824" y="1264"/>
                </a:lnTo>
                <a:lnTo>
                  <a:pt x="12301" y="1614"/>
                </a:lnTo>
                <a:lnTo>
                  <a:pt x="10781" y="2086"/>
                </a:lnTo>
                <a:lnTo>
                  <a:pt x="9250" y="2559"/>
                </a:lnTo>
                <a:lnTo>
                  <a:pt x="7722" y="2967"/>
                </a:lnTo>
                <a:lnTo>
                  <a:pt x="6194" y="3375"/>
                </a:lnTo>
                <a:lnTo>
                  <a:pt x="4677" y="3790"/>
                </a:lnTo>
                <a:lnTo>
                  <a:pt x="3144" y="4264"/>
                </a:lnTo>
                <a:lnTo>
                  <a:pt x="1616" y="4616"/>
                </a:lnTo>
                <a:lnTo>
                  <a:pt x="96" y="4968"/>
                </a:lnTo>
                <a:cubicBezTo>
                  <a:pt x="57" y="4977"/>
                  <a:pt x="18" y="4952"/>
                  <a:pt x="9" y="4914"/>
                </a:cubicBezTo>
                <a:cubicBezTo>
                  <a:pt x="0" y="4875"/>
                  <a:pt x="24" y="4836"/>
                  <a:pt x="63" y="4827"/>
                </a:cubicBezTo>
                <a:close/>
              </a:path>
            </a:pathLst>
          </a:custGeom>
          <a:solidFill>
            <a:srgbClr val="33CC33"/>
          </a:solidFill>
          <a:ln w="3175" cap="flat">
            <a:solidFill>
              <a:srgbClr val="33CC33"/>
            </a:solidFill>
            <a:prstDash val="solid"/>
            <a:bevel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B0E1543F-8582-4E54-B04C-CEB4D92C62B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05012" y="3385077"/>
            <a:ext cx="15559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Arial" pitchFamily="34" charset="0"/>
              </a:rPr>
              <a:t>Capacity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A98AD2F-7BAC-47A1-9BDF-2BEEFCCB1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780" y="6001052"/>
            <a:ext cx="7604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Arial" pitchFamily="34" charset="0"/>
              </a:rPr>
              <a:t>Time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8E9517-EF51-4954-B48F-F6DFD16EA10C}"/>
              </a:ext>
            </a:extLst>
          </p:cNvPr>
          <p:cNvCxnSpPr/>
          <p:nvPr/>
        </p:nvCxnSpPr>
        <p:spPr>
          <a:xfrm>
            <a:off x="10458615" y="3767653"/>
            <a:ext cx="0" cy="104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A9B63-5D6D-4EB2-ABB5-CFC51950A707}"/>
              </a:ext>
            </a:extLst>
          </p:cNvPr>
          <p:cNvCxnSpPr/>
          <p:nvPr/>
        </p:nvCxnSpPr>
        <p:spPr>
          <a:xfrm flipV="1">
            <a:off x="10458615" y="2874629"/>
            <a:ext cx="0" cy="47870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86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3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Within each of these sectors, the energy demand varies over time and </a:t>
            </a:r>
            <a:r>
              <a:rPr lang="en-US" b="1" dirty="0"/>
              <a:t>across different classes of consumers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For instance, within the residential sector, different demands might come from </a:t>
            </a:r>
            <a:r>
              <a:rPr lang="en-US" b="1" dirty="0"/>
              <a:t>urban </a:t>
            </a:r>
            <a:r>
              <a:rPr lang="en-US" dirty="0"/>
              <a:t>and</a:t>
            </a:r>
            <a:r>
              <a:rPr lang="en-US" b="1" dirty="0"/>
              <a:t> rural households</a:t>
            </a:r>
          </a:p>
          <a:p>
            <a:endParaRPr lang="en-US" b="1" dirty="0"/>
          </a:p>
          <a:p>
            <a:r>
              <a:rPr lang="en-US" dirty="0"/>
              <a:t>Again, for rural households different demands might come from </a:t>
            </a:r>
            <a:r>
              <a:rPr lang="en-US" b="1" dirty="0"/>
              <a:t>grid-connected </a:t>
            </a:r>
            <a:r>
              <a:rPr lang="en-US" dirty="0"/>
              <a:t>and</a:t>
            </a:r>
            <a:r>
              <a:rPr lang="en-US" b="1" dirty="0"/>
              <a:t> off-grid households</a:t>
            </a: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25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5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Within each of these sectors, the energy demand varies over time and across different classes of consumers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Therefore, energy planners must make sure that the energy demand is met </a:t>
            </a:r>
            <a:r>
              <a:rPr lang="en-US" b="1" dirty="0"/>
              <a:t>at any point in time for all the classes of consumers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67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long-term planning of the energy system, when defining an energy demand, it is important to identify:</a:t>
            </a:r>
          </a:p>
          <a:p>
            <a:r>
              <a:rPr lang="en-US" dirty="0"/>
              <a:t>The </a:t>
            </a:r>
            <a:r>
              <a:rPr lang="en-US" b="1" dirty="0"/>
              <a:t>energy carrier </a:t>
            </a:r>
            <a:r>
              <a:rPr lang="en-US" dirty="0"/>
              <a:t>which the demand rises for</a:t>
            </a:r>
          </a:p>
          <a:p>
            <a:pPr marL="457200" lvl="1" indent="0">
              <a:buNone/>
            </a:pPr>
            <a:r>
              <a:rPr lang="en-US" i="1" dirty="0"/>
              <a:t>E.g. electricity, heat, gasoline for transportation, biomass for cooking, etc.</a:t>
            </a:r>
          </a:p>
          <a:p>
            <a:r>
              <a:rPr lang="en-US" dirty="0"/>
              <a:t>The </a:t>
            </a:r>
            <a:r>
              <a:rPr lang="en-US" b="1" dirty="0"/>
              <a:t>sector </a:t>
            </a:r>
            <a:r>
              <a:rPr lang="en-US" dirty="0"/>
              <a:t>where the demand rises from;</a:t>
            </a:r>
          </a:p>
          <a:p>
            <a:pPr marL="457200" lvl="1" indent="0">
              <a:buNone/>
            </a:pPr>
            <a:r>
              <a:rPr lang="en-US" i="1" dirty="0"/>
              <a:t>E.g. residential (urban and/or rural, off- or on-grid), industry, services, etc.</a:t>
            </a:r>
            <a:r>
              <a:rPr lang="en-US" dirty="0"/>
              <a:t> </a:t>
            </a:r>
          </a:p>
          <a:p>
            <a:r>
              <a:rPr lang="en-US" dirty="0"/>
              <a:t>The </a:t>
            </a:r>
            <a:r>
              <a:rPr lang="en-US" b="1" dirty="0"/>
              <a:t>average variability </a:t>
            </a:r>
            <a:r>
              <a:rPr lang="en-US" dirty="0"/>
              <a:t>of such demand within a year.</a:t>
            </a:r>
          </a:p>
          <a:p>
            <a:pPr marL="457200" lvl="1" indent="0">
              <a:buNone/>
            </a:pPr>
            <a:r>
              <a:rPr lang="en-US" dirty="0"/>
              <a:t>It is typically expressed by load curves</a:t>
            </a:r>
          </a:p>
          <a:p>
            <a:r>
              <a:rPr lang="en-US" dirty="0"/>
              <a:t>The </a:t>
            </a:r>
            <a:r>
              <a:rPr lang="en-US" b="1" dirty="0"/>
              <a:t>current</a:t>
            </a:r>
            <a:r>
              <a:rPr lang="en-US" dirty="0"/>
              <a:t> and </a:t>
            </a:r>
            <a:r>
              <a:rPr lang="en-US" b="1" dirty="0"/>
              <a:t>expected annual average demand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It is hard to predict the future demand, but </a:t>
            </a:r>
            <a:r>
              <a:rPr lang="en-US" b="1" i="1" dirty="0"/>
              <a:t>scenarios</a:t>
            </a:r>
            <a:r>
              <a:rPr lang="en-US" dirty="0"/>
              <a:t> can be elaborated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</p:spPr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060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FA18291-69B5-4F64-84AA-6B0587A6B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281" y="6075650"/>
            <a:ext cx="2523914" cy="2719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i="1" dirty="0"/>
              <a:t>Source: IEA, World Energy Outlook 2016</a:t>
            </a:r>
            <a:endParaRPr lang="en-US" sz="1600" b="1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40024F-1FA6-4688-88AA-FBE4E5DF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9656"/>
            <a:ext cx="5019675" cy="448627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97BCD8-4565-4A5B-B01E-C20CCE205D9A}"/>
              </a:ext>
            </a:extLst>
          </p:cNvPr>
          <p:cNvCxnSpPr/>
          <p:nvPr/>
        </p:nvCxnSpPr>
        <p:spPr>
          <a:xfrm flipV="1">
            <a:off x="3581400" y="2084439"/>
            <a:ext cx="0" cy="350028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949CC3-C313-49CE-AB75-EB756AE4A2B1}"/>
              </a:ext>
            </a:extLst>
          </p:cNvPr>
          <p:cNvCxnSpPr/>
          <p:nvPr/>
        </p:nvCxnSpPr>
        <p:spPr>
          <a:xfrm>
            <a:off x="3581400" y="3608439"/>
            <a:ext cx="13543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98AE852-503A-4F91-B674-3DCCE2A19C6B}"/>
              </a:ext>
            </a:extLst>
          </p:cNvPr>
          <p:cNvSpPr txBox="1">
            <a:spLocks/>
          </p:cNvSpPr>
          <p:nvPr/>
        </p:nvSpPr>
        <p:spPr>
          <a:xfrm>
            <a:off x="6428409" y="1962658"/>
            <a:ext cx="4925391" cy="1206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Since future is uncertain, scenarios of energy demand are made for future years, assuming different levels of growth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7ECA133-1813-42B2-8FF9-A19D5269F5D7}"/>
              </a:ext>
            </a:extLst>
          </p:cNvPr>
          <p:cNvSpPr txBox="1">
            <a:spLocks/>
          </p:cNvSpPr>
          <p:nvPr/>
        </p:nvSpPr>
        <p:spPr>
          <a:xfrm>
            <a:off x="3742062" y="3643398"/>
            <a:ext cx="1193730" cy="365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Scenarios</a:t>
            </a:r>
            <a:endParaRPr lang="en-US" sz="1600" b="1" i="1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0A50115-EA81-4DF4-877B-188150F12B8D}"/>
              </a:ext>
            </a:extLst>
          </p:cNvPr>
          <p:cNvSpPr txBox="1">
            <a:spLocks/>
          </p:cNvSpPr>
          <p:nvPr/>
        </p:nvSpPr>
        <p:spPr>
          <a:xfrm>
            <a:off x="7038825" y="4017021"/>
            <a:ext cx="3940274" cy="1126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Current policies scenario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New policies scenario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450 scenario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093E1-3F7C-4D06-B13E-576689B35BAC}"/>
              </a:ext>
            </a:extLst>
          </p:cNvPr>
          <p:cNvCxnSpPr>
            <a:cxnSpLocks/>
          </p:cNvCxnSpPr>
          <p:nvPr/>
        </p:nvCxnSpPr>
        <p:spPr>
          <a:xfrm>
            <a:off x="6428409" y="4164508"/>
            <a:ext cx="4350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8ACA6F-6CE8-4F0A-A6C2-E8ED7D814A9E}"/>
              </a:ext>
            </a:extLst>
          </p:cNvPr>
          <p:cNvCxnSpPr>
            <a:cxnSpLocks/>
          </p:cNvCxnSpPr>
          <p:nvPr/>
        </p:nvCxnSpPr>
        <p:spPr>
          <a:xfrm>
            <a:off x="6438241" y="4631540"/>
            <a:ext cx="43507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8AF6C4-2F6A-44D6-BE2D-2D1DE013C714}"/>
              </a:ext>
            </a:extLst>
          </p:cNvPr>
          <p:cNvCxnSpPr>
            <a:cxnSpLocks/>
          </p:cNvCxnSpPr>
          <p:nvPr/>
        </p:nvCxnSpPr>
        <p:spPr>
          <a:xfrm>
            <a:off x="6443156" y="5049412"/>
            <a:ext cx="43507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</p:spPr>
        <p:txBody>
          <a:bodyPr/>
          <a:lstStyle/>
          <a:p>
            <a:r>
              <a:rPr lang="en-US" dirty="0"/>
              <a:t>Characteristics and types of energy demand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361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7405</TotalTime>
  <Words>574</Words>
  <Application>Microsoft Office PowerPoint</Application>
  <PresentationFormat>Widescreen</PresentationFormat>
  <Paragraphs>94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KTH-OpTIMUS-DFID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  <vt:lpstr>Characteristics and types of energy demand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158</cp:revision>
  <dcterms:created xsi:type="dcterms:W3CDTF">2017-06-07T13:22:49Z</dcterms:created>
  <dcterms:modified xsi:type="dcterms:W3CDTF">2020-04-02T16:26:19Z</dcterms:modified>
</cp:coreProperties>
</file>