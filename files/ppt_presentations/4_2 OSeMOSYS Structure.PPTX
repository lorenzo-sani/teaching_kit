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9"/>
  </p:notesMasterIdLst>
  <p:handoutMasterIdLst>
    <p:handoutMasterId r:id="rId20"/>
  </p:handoutMasterIdLst>
  <p:sldIdLst>
    <p:sldId id="475" r:id="rId13"/>
    <p:sldId id="476" r:id="rId14"/>
    <p:sldId id="366" r:id="rId15"/>
    <p:sldId id="526" r:id="rId16"/>
    <p:sldId id="371" r:id="rId17"/>
    <p:sldId id="5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slide" Target="slides/slide5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semosys.readthedocs.io/en/latest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OSeMOSYS</a:t>
            </a:r>
            <a:r>
              <a:rPr lang="en-US" dirty="0" smtClean="0"/>
              <a:t> Structure </a:t>
            </a:r>
            <a:r>
              <a:rPr lang="en-US" dirty="0"/>
              <a:t>– Blocks of </a:t>
            </a:r>
            <a:r>
              <a:rPr lang="en-US" dirty="0" smtClean="0"/>
              <a:t>functionality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98CCA-3C19-444A-92D9-BDE56F982BF1}"/>
              </a:ext>
            </a:extLst>
          </p:cNvPr>
          <p:cNvSpPr/>
          <p:nvPr/>
        </p:nvSpPr>
        <p:spPr>
          <a:xfrm>
            <a:off x="577591" y="1493480"/>
            <a:ext cx="11036818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solidFill>
                  <a:srgbClr val="FF0000"/>
                </a:solidFill>
                <a:cs typeface="Arial" pitchFamily="34" charset="0"/>
              </a:rPr>
              <a:t>Three levels of abstraction: Plain English description, Mathematical formulation and Code formulation</a:t>
            </a:r>
          </a:p>
          <a:p>
            <a:pPr algn="just"/>
            <a:r>
              <a:rPr lang="en-GB" sz="2000" b="1" dirty="0">
                <a:solidFill>
                  <a:srgbClr val="FF0000"/>
                </a:solidFill>
                <a:cs typeface="Arial" pitchFamily="34" charset="0"/>
              </a:rPr>
              <a:t>Ref: </a:t>
            </a:r>
            <a:r>
              <a:rPr lang="en-GB" sz="2000" b="1" dirty="0" err="1">
                <a:solidFill>
                  <a:srgbClr val="FF0000"/>
                </a:solidFill>
                <a:cs typeface="Arial" pitchFamily="34" charset="0"/>
              </a:rPr>
              <a:t>OSeMOSYS</a:t>
            </a:r>
            <a:r>
              <a:rPr lang="en-GB" sz="2000" b="1" dirty="0">
                <a:solidFill>
                  <a:srgbClr val="FF0000"/>
                </a:solidFill>
                <a:cs typeface="Arial" pitchFamily="34" charset="0"/>
              </a:rPr>
              <a:t> Manual - </a:t>
            </a:r>
            <a:r>
              <a:rPr lang="en-GB" sz="2000" b="1" dirty="0">
                <a:solidFill>
                  <a:srgbClr val="FF0000"/>
                </a:solidFill>
                <a:cs typeface="Arial" pitchFamily="34" charset="0"/>
                <a:hlinkClick r:id="rId2"/>
              </a:rPr>
              <a:t>https://osemosys.readthedocs.io/en/latest/</a:t>
            </a:r>
            <a:r>
              <a:rPr lang="en-GB" sz="2000" b="1" dirty="0">
                <a:solidFill>
                  <a:srgbClr val="FF0000"/>
                </a:solidFill>
                <a:cs typeface="Arial" pitchFamily="34" charset="0"/>
              </a:rPr>
              <a:t> </a:t>
            </a:r>
          </a:p>
          <a:p>
            <a:pPr algn="just"/>
            <a:endParaRPr lang="en-GB" sz="2000" b="1" dirty="0">
              <a:cs typeface="Arial" pitchFamily="34" charset="0"/>
            </a:endParaRPr>
          </a:p>
          <a:p>
            <a:pPr algn="just"/>
            <a:r>
              <a:rPr lang="en-GB" sz="2000" b="1" dirty="0">
                <a:cs typeface="Arial" pitchFamily="34" charset="0"/>
              </a:rPr>
              <a:t>Objective</a:t>
            </a:r>
          </a:p>
          <a:p>
            <a:pPr marL="258762" lvl="1" indent="0" algn="just">
              <a:buNone/>
            </a:pPr>
            <a:r>
              <a:rPr lang="en-GB" sz="2000" dirty="0">
                <a:cs typeface="Arial" pitchFamily="34" charset="0"/>
              </a:rPr>
              <a:t>To estimate the </a:t>
            </a:r>
            <a:r>
              <a:rPr lang="en-GB" sz="2000" dirty="0" smtClean="0">
                <a:cs typeface="Arial" pitchFamily="34" charset="0"/>
              </a:rPr>
              <a:t>lowest Net Present Value (NPV) </a:t>
            </a:r>
            <a:r>
              <a:rPr lang="en-GB" sz="2000" dirty="0">
                <a:cs typeface="Arial" pitchFamily="34" charset="0"/>
              </a:rPr>
              <a:t>of an energy system to meet given demand(s) for energy</a:t>
            </a:r>
          </a:p>
          <a:p>
            <a:pPr algn="just">
              <a:spcBef>
                <a:spcPts val="1200"/>
              </a:spcBef>
            </a:pPr>
            <a:r>
              <a:rPr lang="en-GB" sz="2000" b="1" dirty="0">
                <a:cs typeface="Arial" pitchFamily="34" charset="0"/>
              </a:rPr>
              <a:t>Costs</a:t>
            </a:r>
          </a:p>
          <a:p>
            <a:pPr marL="258762" lvl="1" indent="0" algn="just">
              <a:buNone/>
            </a:pPr>
            <a:r>
              <a:rPr lang="en-GB" sz="2000" dirty="0">
                <a:cs typeface="Arial" pitchFamily="34" charset="0"/>
              </a:rPr>
              <a:t>Account for the costs incurred by each </a:t>
            </a:r>
            <a:r>
              <a:rPr lang="en-GB" sz="2000" b="1" dirty="0">
                <a:cs typeface="Arial" pitchFamily="34" charset="0"/>
              </a:rPr>
              <a:t>technology</a:t>
            </a:r>
            <a:r>
              <a:rPr lang="en-GB" sz="2000" dirty="0">
                <a:cs typeface="Arial" pitchFamily="34" charset="0"/>
              </a:rPr>
              <a:t> in each </a:t>
            </a:r>
            <a:r>
              <a:rPr lang="en-GB" sz="2000" b="1" dirty="0">
                <a:cs typeface="Arial" pitchFamily="34" charset="0"/>
              </a:rPr>
              <a:t>year</a:t>
            </a:r>
            <a:r>
              <a:rPr lang="en-GB" sz="2000" dirty="0">
                <a:cs typeface="Arial" pitchFamily="34" charset="0"/>
              </a:rPr>
              <a:t> and in each </a:t>
            </a:r>
            <a:r>
              <a:rPr lang="en-GB" sz="2000" b="1" dirty="0">
                <a:cs typeface="Arial" pitchFamily="34" charset="0"/>
              </a:rPr>
              <a:t>region</a:t>
            </a:r>
          </a:p>
          <a:p>
            <a:pPr marL="0" lvl="1" indent="0" algn="just">
              <a:spcBef>
                <a:spcPts val="1200"/>
              </a:spcBef>
              <a:buClr>
                <a:schemeClr val="accent2"/>
              </a:buClr>
              <a:buNone/>
            </a:pPr>
            <a:r>
              <a:rPr lang="en-GB" sz="2000" b="1" dirty="0">
                <a:cs typeface="Arial" pitchFamily="34" charset="0"/>
              </a:rPr>
              <a:t>Capacity adequacy</a:t>
            </a:r>
          </a:p>
          <a:p>
            <a:pPr marL="258762" lvl="1" indent="0" algn="just">
              <a:buNone/>
            </a:pPr>
            <a:r>
              <a:rPr lang="en-GB" sz="2000" dirty="0">
                <a:cs typeface="Arial" pitchFamily="34" charset="0"/>
              </a:rPr>
              <a:t>There must be enough capacity for each technology in order to meet its energy use or production </a:t>
            </a:r>
            <a:r>
              <a:rPr lang="en-GB" sz="2000" dirty="0" smtClean="0">
                <a:cs typeface="Arial" pitchFamily="34" charset="0"/>
              </a:rPr>
              <a:t>requirements:</a:t>
            </a:r>
            <a:endParaRPr lang="en-GB" sz="2000" dirty="0">
              <a:cs typeface="Arial" pitchFamily="34" charset="0"/>
            </a:endParaRPr>
          </a:p>
          <a:p>
            <a:pPr lvl="2" algn="just"/>
            <a:r>
              <a:rPr lang="en-GB" sz="2000" dirty="0">
                <a:cs typeface="Arial" pitchFamily="34" charset="0"/>
              </a:rPr>
              <a:t>Capacity adequacy A: Each time slice / Capacity adequacy B: Each year</a:t>
            </a:r>
          </a:p>
          <a:p>
            <a:pPr algn="just">
              <a:spcBef>
                <a:spcPts val="1200"/>
              </a:spcBef>
            </a:pPr>
            <a:r>
              <a:rPr lang="en-GB" sz="2000" b="1" dirty="0">
                <a:cs typeface="Arial" pitchFamily="34" charset="0"/>
              </a:rPr>
              <a:t>Storage</a:t>
            </a:r>
          </a:p>
          <a:p>
            <a:pPr marL="258762" lvl="1" indent="0" algn="just">
              <a:buNone/>
            </a:pPr>
            <a:r>
              <a:rPr lang="en-GB" sz="2000" dirty="0">
                <a:cs typeface="Arial" pitchFamily="34" charset="0"/>
              </a:rPr>
              <a:t>It adds independent energy balances and constraints for storage </a:t>
            </a:r>
            <a:r>
              <a:rPr lang="en-GB" sz="2000" dirty="0" smtClean="0">
                <a:cs typeface="Arial" pitchFamily="34" charset="0"/>
              </a:rPr>
              <a:t>options.</a:t>
            </a:r>
            <a:endParaRPr lang="en-GB" sz="2000" dirty="0">
              <a:cs typeface="Arial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E0DF2-6AC7-44A9-9C1F-4BFDB3A8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47AF-1EBE-4E30-BE8A-37FFC2FA1656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OSeMOSYS</a:t>
            </a:r>
            <a:r>
              <a:rPr lang="en-US" dirty="0"/>
              <a:t> Structure – Blocks of functionality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F98CCA-3C19-444A-92D9-BDE56F982BF1}"/>
              </a:ext>
            </a:extLst>
          </p:cNvPr>
          <p:cNvSpPr/>
          <p:nvPr/>
        </p:nvSpPr>
        <p:spPr>
          <a:xfrm>
            <a:off x="932698" y="1731941"/>
            <a:ext cx="10515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GB" sz="2000" b="1" dirty="0">
                <a:cs typeface="Arial" pitchFamily="34" charset="0"/>
              </a:rPr>
              <a:t>Energy balance</a:t>
            </a:r>
          </a:p>
          <a:p>
            <a:pPr marL="258762" lvl="1" indent="0" algn="just">
              <a:buNone/>
            </a:pPr>
            <a:r>
              <a:rPr lang="en-GB" sz="2000" dirty="0">
                <a:cs typeface="Arial" pitchFamily="34" charset="0"/>
              </a:rPr>
              <a:t>Operation levels are calculated for each time slice and each year. The production, use and demand must be feasible at each </a:t>
            </a:r>
            <a:r>
              <a:rPr lang="en-GB" sz="2000" dirty="0" err="1">
                <a:cs typeface="Arial" pitchFamily="34" charset="0"/>
              </a:rPr>
              <a:t>timeslice</a:t>
            </a:r>
            <a:r>
              <a:rPr lang="en-GB" sz="2000" dirty="0">
                <a:cs typeface="Arial" pitchFamily="34" charset="0"/>
              </a:rPr>
              <a:t> and annually</a:t>
            </a:r>
          </a:p>
          <a:p>
            <a:pPr lvl="2" algn="just"/>
            <a:r>
              <a:rPr lang="en-GB" sz="2000" dirty="0">
                <a:cs typeface="Arial" pitchFamily="34" charset="0"/>
              </a:rPr>
              <a:t>Energy balance A: Each time slice / Energy balance B: Each year</a:t>
            </a:r>
          </a:p>
          <a:p>
            <a:pPr algn="just"/>
            <a:r>
              <a:rPr lang="en-GB" sz="2000" b="1" dirty="0">
                <a:cs typeface="Arial" pitchFamily="34" charset="0"/>
              </a:rPr>
              <a:t>Constraints</a:t>
            </a:r>
          </a:p>
          <a:p>
            <a:pPr lvl="1" algn="just"/>
            <a:r>
              <a:rPr lang="en-GB" sz="2000" dirty="0">
                <a:cs typeface="Arial" pitchFamily="34" charset="0"/>
              </a:rPr>
              <a:t>Maximum/minimum limit on capacity of a technology allowed for a year or total period and a region</a:t>
            </a:r>
          </a:p>
          <a:p>
            <a:pPr lvl="1" algn="just"/>
            <a:r>
              <a:rPr lang="en-GB" sz="2000" dirty="0">
                <a:cs typeface="Arial" pitchFamily="34" charset="0"/>
              </a:rPr>
              <a:t>Maximum/minimum limit on new capacities of a technology for a year and a region</a:t>
            </a:r>
          </a:p>
          <a:p>
            <a:pPr lvl="1" algn="just"/>
            <a:r>
              <a:rPr lang="en-GB" sz="2000" dirty="0">
                <a:cs typeface="Arial" pitchFamily="34" charset="0"/>
              </a:rPr>
              <a:t>Maximum/minimum limit on activity of a technology for a year or total period and a region</a:t>
            </a:r>
          </a:p>
          <a:p>
            <a:pPr lvl="1" algn="just"/>
            <a:r>
              <a:rPr lang="en-GB" sz="2000" dirty="0">
                <a:cs typeface="Arial" pitchFamily="34" charset="0"/>
              </a:rPr>
              <a:t>There must be enough capacity to provide a reserve margin (for specified technologies)</a:t>
            </a:r>
          </a:p>
          <a:p>
            <a:pPr algn="just">
              <a:spcBef>
                <a:spcPts val="1200"/>
              </a:spcBef>
            </a:pPr>
            <a:r>
              <a:rPr lang="en-GB" sz="2000" b="1" dirty="0">
                <a:cs typeface="Arial" pitchFamily="34" charset="0"/>
              </a:rPr>
              <a:t>Emissions</a:t>
            </a:r>
          </a:p>
          <a:p>
            <a:pPr lvl="1" algn="just"/>
            <a:r>
              <a:rPr lang="en-GB" sz="2000" dirty="0">
                <a:cs typeface="Arial" pitchFamily="34" charset="0"/>
              </a:rPr>
              <a:t>The extent to which pollutants are emitted is determined by multiplying “emissions per unit of activity” and the annual activity of a technology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4E535-32C4-4010-AE3D-4FF0378D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5B94-3CE2-423B-A9CC-4233D1EDB71F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6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Mathematical Formulation </a:t>
            </a:r>
            <a:r>
              <a:rPr lang="en-US" dirty="0"/>
              <a:t>of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OSeMOSYS</a:t>
            </a:r>
            <a:endParaRPr lang="it-IT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AD54683-E8C8-402D-85E6-CDA9561A6A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6149"/>
                <a:ext cx="11137490" cy="455073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sv-SE" dirty="0"/>
                  <a:t>Objective function:</a:t>
                </a:r>
              </a:p>
              <a:p>
                <a:endParaRPr lang="sv-S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𝑇𝑜𝑡𝑎𝑙𝐷𝑖𝑠𝑐𝑜𝑢𝑛𝑡𝑒𝑑𝐶𝑜𝑠𝑡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  <a:p>
                <a:r>
                  <a:rPr lang="sv-SE" dirty="0"/>
                  <a:t>Sample constraints:</a:t>
                </a:r>
              </a:p>
              <a:p>
                <a:endParaRPr lang="sv-S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𝑇𝑜𝑡𝑎𝑙𝐷𝑖𝑠𝑐𝑜𝑢𝑛𝑡𝑒𝑑𝐶𝑜𝑠𝑡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𝐷𝑖𝑠𝑐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𝐶𝑎𝑝𝑖𝑡𝑎𝑙𝐶𝑜𝑠𝑡</m:t>
                          </m:r>
                        </m:e>
                        <m:sub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𝐷𝑖𝑠𝑐𝑂𝑝𝑒𝑟𝑎𝑡𝑖𝑜𝑛𝐶𝑜𝑠𝑡𝑠</m:t>
                          </m:r>
                        </m:e>
                        <m:sub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𝐷𝑖𝑠𝑐𝐸𝑚𝑖𝑠𝑠𝑖𝑜𝑛𝐶𝑜𝑠𝑡𝑠</m:t>
                          </m:r>
                        </m:e>
                        <m:sub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𝐷𝑖𝑠𝑐𝑆𝑎𝑙𝑣𝑎𝑔𝑒𝑉𝑎𝑙𝑢𝑒</m:t>
                          </m:r>
                        </m:e>
                        <m:sub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sv-SE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𝐶𝑎𝑝𝑖𝑡𝑎𝑙𝐶𝑜𝑠𝑡𝑠</m:t>
                          </m:r>
                        </m:e>
                        <m:sub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𝑁𝑒𝑤𝐶𝑎𝑝𝑎𝑐𝑖𝑡𝑦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𝑈𝑛𝑖𝑡𝐼𝑛𝑣𝑒𝑠𝑡𝑚𝑒𝑛𝑡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𝐶𝑜𝑠𝑡𝑠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𝑃𝑟𝑜𝑑𝑢𝑐𝑡𝑖𝑜𝑛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sv-SE" sz="18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𝐷𝑒𝑚𝑎𝑛𝑑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𝑈𝑠𝑒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𝑇𝑟𝑎𝑑𝑒</m:t>
                          </m:r>
                        </m:e>
                        <m:sub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sv-SE" sz="1800" dirty="0"/>
              </a:p>
              <a:p>
                <a:endParaRPr lang="sv-SE" sz="1800" dirty="0"/>
              </a:p>
              <a:p>
                <a:r>
                  <a:rPr lang="sv-SE" sz="2000" b="1" i="1" dirty="0"/>
                  <a:t>r = Region, t = technology, y = year, f = fuel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AD54683-E8C8-402D-85E6-CDA9561A6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6149"/>
                <a:ext cx="11137490" cy="4550734"/>
              </a:xfrm>
              <a:blipFill>
                <a:blip r:embed="rId2"/>
                <a:stretch>
                  <a:fillRect l="-1149" t="-29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53597-767B-4A1E-A276-0AA486D8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C7BD-FAA3-4285-8E64-F3345BBB2B59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1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0762" y="1650368"/>
            <a:ext cx="9337573" cy="45147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Example of Mathematical Formulation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of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OSeMOSYS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3B378-9C11-4177-93D6-DE104433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2782-B222-4906-9C69-4385B440650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 preferRelativeResize="0"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400" y="1630800"/>
            <a:ext cx="8935200" cy="432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Example of Code of </a:t>
            </a:r>
            <a:r>
              <a:rPr lang="en-US" dirty="0" err="1">
                <a:solidFill>
                  <a:schemeClr val="tx1"/>
                </a:solidFill>
              </a:rPr>
              <a:t>OSeMOSYS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1600D-0487-431F-88AF-908F9B4D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08C5-D477-407C-8C3E-3DA0011489E2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7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/>
              <a:t>Five key terms in </a:t>
            </a:r>
            <a:r>
              <a:rPr lang="en-GB" dirty="0" err="1" smtClean="0"/>
              <a:t>OSeMOSYS</a:t>
            </a:r>
            <a:r>
              <a:rPr lang="en-GB" dirty="0" smtClean="0"/>
              <a:t>: 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 smtClean="0"/>
              <a:t>Sets:</a:t>
            </a:r>
            <a:r>
              <a:rPr lang="en-GB" dirty="0" smtClean="0"/>
              <a:t> Input, constant for all scenarios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 smtClean="0"/>
              <a:t>Parameters</a:t>
            </a:r>
            <a:r>
              <a:rPr lang="en-GB" dirty="0" smtClean="0"/>
              <a:t>: Input, can differ between scenarios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 smtClean="0"/>
              <a:t>Variables</a:t>
            </a:r>
            <a:r>
              <a:rPr lang="en-GB" dirty="0" smtClean="0"/>
              <a:t>: Modelling outputs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 smtClean="0"/>
              <a:t>Constraints</a:t>
            </a:r>
            <a:r>
              <a:rPr lang="en-GB" dirty="0" smtClean="0"/>
              <a:t>:  can be </a:t>
            </a:r>
            <a:r>
              <a:rPr lang="sv-SE" dirty="0" err="1"/>
              <a:t>equalities</a:t>
            </a:r>
            <a:r>
              <a:rPr lang="sv-SE" dirty="0"/>
              <a:t> or </a:t>
            </a:r>
            <a:r>
              <a:rPr lang="sv-SE" dirty="0" err="1" smtClean="0"/>
              <a:t>inequalities</a:t>
            </a:r>
            <a:r>
              <a:rPr lang="sv-SE" dirty="0"/>
              <a:t> </a:t>
            </a:r>
            <a:r>
              <a:rPr lang="sv-SE" dirty="0" smtClean="0"/>
              <a:t>the limit the solution space and </a:t>
            </a:r>
            <a:r>
              <a:rPr lang="sv-SE" dirty="0" err="1" smtClean="0"/>
              <a:t>should</a:t>
            </a:r>
            <a:r>
              <a:rPr lang="sv-SE" dirty="0" smtClean="0"/>
              <a:t> be </a:t>
            </a:r>
            <a:r>
              <a:rPr lang="sv-SE" dirty="0" err="1" smtClean="0"/>
              <a:t>satisfied</a:t>
            </a:r>
            <a:r>
              <a:rPr lang="sv-SE" dirty="0" smtClean="0"/>
              <a:t> all the </a:t>
            </a:r>
            <a:r>
              <a:rPr lang="sv-SE" dirty="0" err="1" smtClean="0"/>
              <a:t>time</a:t>
            </a:r>
            <a:r>
              <a:rPr lang="sv-SE" dirty="0" smtClean="0"/>
              <a:t>. </a:t>
            </a:r>
            <a:endParaRPr lang="en-GB" dirty="0" smtClean="0"/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 smtClean="0"/>
              <a:t>Objective Function: </a:t>
            </a:r>
            <a:r>
              <a:rPr lang="en-GB" dirty="0" smtClean="0"/>
              <a:t>of the linear programing problem (to minimize cost)</a:t>
            </a:r>
            <a:endParaRPr lang="en-GB" b="1" dirty="0" smtClean="0"/>
          </a:p>
          <a:p>
            <a:endParaRPr lang="en-GB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/>
              <a:t>Two versions of the code: 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/>
              <a:t>Long code</a:t>
            </a:r>
            <a:r>
              <a:rPr lang="en-GB" dirty="0"/>
              <a:t>: </a:t>
            </a:r>
            <a:r>
              <a:rPr lang="en-US" dirty="0"/>
              <a:t>easy to read but requires larger matrix size and computational </a:t>
            </a:r>
            <a:r>
              <a:rPr lang="en-US" dirty="0" smtClean="0"/>
              <a:t>time.</a:t>
            </a:r>
            <a:endParaRPr lang="sv-SE" dirty="0"/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GB" b="1" dirty="0" smtClean="0"/>
              <a:t>Short code</a:t>
            </a:r>
            <a:r>
              <a:rPr lang="en-GB" dirty="0" smtClean="0"/>
              <a:t>: </a:t>
            </a:r>
            <a:r>
              <a:rPr lang="en-US" dirty="0"/>
              <a:t>combines some of the intermediate equations to reduce the matrix size and computational time</a:t>
            </a:r>
            <a:r>
              <a:rPr lang="en-US" dirty="0" smtClean="0"/>
              <a:t>.</a:t>
            </a:r>
            <a:endParaRPr lang="en-GB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OSeMOSYS</a:t>
            </a:r>
            <a:r>
              <a:rPr lang="en-GB" dirty="0" smtClean="0"/>
              <a:t> – Key terms </a:t>
            </a:r>
            <a:endParaRPr lang="sv-S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0EB7-FFA7-41F4-9ECF-B326B647F393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8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539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OSeMOSYS_dESA_OpTIMUS</vt:lpstr>
      <vt:lpstr>Custom Design</vt:lpstr>
      <vt:lpstr>OSeMOSYS Structure – Blocks of functionality</vt:lpstr>
      <vt:lpstr>OSeMOSYS Structure – Blocks of functionality </vt:lpstr>
      <vt:lpstr>Mathematical Formulation of OSeMOSYS</vt:lpstr>
      <vt:lpstr>Example of Mathematical Formulation  of OSeMOSYS</vt:lpstr>
      <vt:lpstr>Example of Code of OSeMOSYS</vt:lpstr>
      <vt:lpstr>OSeMOSYS – Key terms 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2020-04-02T16:14:43Z</dcterms:modified>
</cp:coreProperties>
</file>