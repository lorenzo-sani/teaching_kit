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4"/>
  </p:notesMasterIdLst>
  <p:handoutMasterIdLst>
    <p:handoutMasterId r:id="rId5"/>
  </p:handoutMasterIdLst>
  <p:sldIdLst>
    <p:sldId id="278" r:id="rId2"/>
    <p:sldId id="28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nis Pappis" initials="IP" lastIdx="1" clrIdx="0">
    <p:extLst>
      <p:ext uri="{19B8F6BF-5375-455C-9EA6-DF929625EA0E}">
        <p15:presenceInfo xmlns:p15="http://schemas.microsoft.com/office/powerpoint/2012/main" userId="S-1-5-21-4270984560-2697355171-1338322823-71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9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130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04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8686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744322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32007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74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53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46697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917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9029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29823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0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87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583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840125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13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5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408" y="1027906"/>
            <a:ext cx="6215192" cy="569299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848299" y="2122714"/>
            <a:ext cx="2733101" cy="3682859"/>
            <a:chOff x="848299" y="2122714"/>
            <a:chExt cx="2733101" cy="3682859"/>
          </a:xfrm>
        </p:grpSpPr>
        <p:sp>
          <p:nvSpPr>
            <p:cNvPr id="51" name="Rectangle 50"/>
            <p:cNvSpPr/>
            <p:nvPr/>
          </p:nvSpPr>
          <p:spPr>
            <a:xfrm>
              <a:off x="2209800" y="2122714"/>
              <a:ext cx="1371600" cy="2432957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48299" y="4882243"/>
              <a:ext cx="27331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Fuel dependent emissions can be accounted for at the primary energy supply level</a:t>
              </a:r>
            </a:p>
          </p:txBody>
        </p:sp>
        <p:cxnSp>
          <p:nvCxnSpPr>
            <p:cNvPr id="57" name="Straight Arrow Connector 56"/>
            <p:cNvCxnSpPr>
              <a:stCxn id="51" idx="2"/>
            </p:cNvCxnSpPr>
            <p:nvPr/>
          </p:nvCxnSpPr>
          <p:spPr>
            <a:xfrm flipH="1">
              <a:off x="2890158" y="4555671"/>
              <a:ext cx="5442" cy="326572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/>
          <p:cNvGrpSpPr/>
          <p:nvPr/>
        </p:nvGrpSpPr>
        <p:grpSpPr>
          <a:xfrm>
            <a:off x="4321629" y="4143579"/>
            <a:ext cx="7032172" cy="1477328"/>
            <a:chOff x="4321629" y="4143579"/>
            <a:chExt cx="7032172" cy="1477328"/>
          </a:xfrm>
        </p:grpSpPr>
        <p:sp>
          <p:nvSpPr>
            <p:cNvPr id="53" name="Rectangle 52"/>
            <p:cNvSpPr/>
            <p:nvPr/>
          </p:nvSpPr>
          <p:spPr>
            <a:xfrm>
              <a:off x="4321629" y="4735286"/>
              <a:ext cx="1371600" cy="734785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5704850" y="4735286"/>
              <a:ext cx="3373836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9105351" y="4143579"/>
              <a:ext cx="224845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Technology dependent emissions should be accounted for within the respective technology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 Representation </a:t>
            </a:r>
            <a:r>
              <a:rPr lang="en-US" dirty="0" smtClean="0"/>
              <a:t>in </a:t>
            </a:r>
            <a:r>
              <a:rPr lang="en-US" dirty="0" err="1" smtClean="0"/>
              <a:t>OSeMOSYS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53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148"/>
            <a:ext cx="10515600" cy="474020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000" dirty="0"/>
              <a:t>In </a:t>
            </a:r>
            <a:r>
              <a:rPr lang="en-US" sz="3000" dirty="0" err="1"/>
              <a:t>OSeMOSYS</a:t>
            </a:r>
            <a:r>
              <a:rPr lang="en-US" sz="3000" dirty="0"/>
              <a:t>, </a:t>
            </a:r>
            <a:r>
              <a:rPr lang="en-US" sz="3000" dirty="0" smtClean="0"/>
              <a:t>emissions are </a:t>
            </a:r>
            <a:r>
              <a:rPr lang="en-US" sz="3000" dirty="0"/>
              <a:t>characterized by the following parameters: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err="1" smtClean="0"/>
              <a:t>EmissionActivityRatio</a:t>
            </a:r>
            <a:r>
              <a:rPr lang="en-US" sz="2600" b="1" dirty="0" smtClean="0"/>
              <a:t> [Mt/PJ or Mt/</a:t>
            </a:r>
            <a:r>
              <a:rPr lang="en-US" sz="2600" b="1" dirty="0" err="1" smtClean="0"/>
              <a:t>GWh</a:t>
            </a:r>
            <a:r>
              <a:rPr lang="en-US" sz="2600" b="1" dirty="0" smtClean="0"/>
              <a:t>]</a:t>
            </a:r>
            <a:r>
              <a:rPr lang="en-US" sz="2600" i="1" dirty="0" smtClean="0"/>
              <a:t>: </a:t>
            </a:r>
            <a:r>
              <a:rPr lang="en-US" sz="2600" dirty="0"/>
              <a:t>defines the rate of emission by each </a:t>
            </a:r>
            <a:r>
              <a:rPr lang="en-US" sz="2600" dirty="0" smtClean="0"/>
              <a:t>technology.</a:t>
            </a:r>
          </a:p>
          <a:p>
            <a:pPr>
              <a:spcBef>
                <a:spcPts val="1800"/>
              </a:spcBef>
            </a:pPr>
            <a:r>
              <a:rPr lang="en-US" sz="3000" dirty="0" smtClean="0"/>
              <a:t>Optional:</a:t>
            </a: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err="1" smtClean="0"/>
              <a:t>EmissionsPenalty</a:t>
            </a:r>
            <a:r>
              <a:rPr lang="en-US" sz="2600" b="1" dirty="0" smtClean="0"/>
              <a:t> [M$/Mt]</a:t>
            </a:r>
            <a:r>
              <a:rPr lang="en-US" sz="2600" dirty="0" smtClean="0"/>
              <a:t>: </a:t>
            </a:r>
            <a:r>
              <a:rPr lang="en-US" sz="2600" dirty="0"/>
              <a:t>defines the cost per unit of </a:t>
            </a:r>
            <a:r>
              <a:rPr lang="en-US" sz="2600" dirty="0" smtClean="0"/>
              <a:t>emission.</a:t>
            </a: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err="1" smtClean="0"/>
              <a:t>AnnualExogenousEmission</a:t>
            </a:r>
            <a:r>
              <a:rPr lang="en-US" sz="2600" b="1" dirty="0" smtClean="0"/>
              <a:t> [</a:t>
            </a:r>
            <a:r>
              <a:rPr lang="en-US" sz="2600" b="1" dirty="0" err="1" smtClean="0"/>
              <a:t>Mton</a:t>
            </a:r>
            <a:r>
              <a:rPr lang="en-US" sz="2600" b="1" dirty="0" smtClean="0"/>
              <a:t>]</a:t>
            </a:r>
            <a:r>
              <a:rPr lang="en-US" sz="2600" dirty="0" smtClean="0"/>
              <a:t>: </a:t>
            </a:r>
            <a:r>
              <a:rPr lang="en-US" sz="2600" dirty="0"/>
              <a:t>defines annual level of emissions not captured by the considered system, but that should be accounted for.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err="1" smtClean="0"/>
              <a:t>AnnualEmissionLimit</a:t>
            </a:r>
            <a:r>
              <a:rPr lang="en-US" sz="2600" b="1" dirty="0" smtClean="0"/>
              <a:t> [</a:t>
            </a:r>
            <a:r>
              <a:rPr lang="en-US" sz="2600" b="1" dirty="0" err="1" smtClean="0"/>
              <a:t>Mton</a:t>
            </a:r>
            <a:r>
              <a:rPr lang="en-US" sz="2600" b="1" dirty="0" smtClean="0"/>
              <a:t>]</a:t>
            </a:r>
            <a:r>
              <a:rPr lang="en-US" sz="2600" dirty="0" smtClean="0"/>
              <a:t>: </a:t>
            </a:r>
            <a:r>
              <a:rPr lang="en-US" sz="2600" dirty="0"/>
              <a:t>sets an annual upper limit on the total emissions of a particular pollutant.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err="1" smtClean="0"/>
              <a:t>ModelPeriodExogenousEmission</a:t>
            </a:r>
            <a:r>
              <a:rPr lang="en-US" sz="2600" b="1" dirty="0" smtClean="0"/>
              <a:t> [</a:t>
            </a:r>
            <a:r>
              <a:rPr lang="en-US" sz="2600" b="1" dirty="0" err="1" smtClean="0"/>
              <a:t>Mton</a:t>
            </a:r>
            <a:r>
              <a:rPr lang="en-US" sz="2600" b="1" dirty="0" smtClean="0"/>
              <a:t>]</a:t>
            </a:r>
            <a:r>
              <a:rPr lang="en-US" sz="2600" dirty="0" smtClean="0"/>
              <a:t>: </a:t>
            </a:r>
            <a:r>
              <a:rPr lang="en-US" sz="2600" dirty="0"/>
              <a:t>defines model period level of emissions not captured by the considered system, but that should be accounted for.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err="1" smtClean="0"/>
              <a:t>ModelPeriodEmissionLimit</a:t>
            </a:r>
            <a:r>
              <a:rPr lang="en-US" sz="2600" b="1" dirty="0" smtClean="0"/>
              <a:t> [</a:t>
            </a:r>
            <a:r>
              <a:rPr lang="en-US" sz="2600" b="1" dirty="0" err="1" smtClean="0"/>
              <a:t>Mton</a:t>
            </a:r>
            <a:r>
              <a:rPr lang="en-US" sz="2600" b="1" dirty="0" smtClean="0"/>
              <a:t>]</a:t>
            </a:r>
            <a:r>
              <a:rPr lang="en-US" sz="2600" dirty="0" smtClean="0"/>
              <a:t>: </a:t>
            </a:r>
            <a:r>
              <a:rPr lang="en-US" sz="2600" dirty="0"/>
              <a:t>sets an upper limit on the model period on the total emissions of a particular pollutant.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</a:t>
            </a:r>
            <a:r>
              <a:rPr lang="en-US" dirty="0" smtClean="0"/>
              <a:t>emissions in </a:t>
            </a:r>
            <a:r>
              <a:rPr lang="en-US" dirty="0" err="1" smtClean="0"/>
              <a:t>OSeMOSYS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67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7144</TotalTime>
  <Words>164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KTH-OpTIMUS-DFID</vt:lpstr>
      <vt:lpstr>Emission Representation in OSeMOSYS</vt:lpstr>
      <vt:lpstr>Representing emissions in OSeMOSYS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162</cp:revision>
  <dcterms:created xsi:type="dcterms:W3CDTF">2017-06-07T13:22:49Z</dcterms:created>
  <dcterms:modified xsi:type="dcterms:W3CDTF">2020-04-02T17:05:40Z</dcterms:modified>
</cp:coreProperties>
</file>