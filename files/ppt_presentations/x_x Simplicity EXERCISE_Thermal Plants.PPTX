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handoutMasterIdLst>
    <p:handoutMasterId r:id="rId13"/>
  </p:handoutMasterIdLst>
  <p:sldIdLst>
    <p:sldId id="281" r:id="rId2"/>
    <p:sldId id="282" r:id="rId3"/>
    <p:sldId id="283" r:id="rId4"/>
    <p:sldId id="263" r:id="rId5"/>
    <p:sldId id="269" r:id="rId6"/>
    <p:sldId id="265" r:id="rId7"/>
    <p:sldId id="268" r:id="rId8"/>
    <p:sldId id="266" r:id="rId9"/>
    <p:sldId id="27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gnese Beltramo" initials="AB" lastIdx="3" clrIdx="0">
    <p:extLst>
      <p:ext uri="{19B8F6BF-5375-455C-9EA6-DF929625EA0E}">
        <p15:presenceInfo xmlns:p15="http://schemas.microsoft.com/office/powerpoint/2012/main" userId="S-1-5-21-4270984560-2697355171-1338322823-68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32" autoAdjust="0"/>
    <p:restoredTop sz="84902" autoAdjust="0"/>
  </p:normalViewPr>
  <p:slideViewPr>
    <p:cSldViewPr snapToGrid="0">
      <p:cViewPr varScale="1">
        <p:scale>
          <a:sx n="100" d="100"/>
          <a:sy n="100" d="100"/>
        </p:scale>
        <p:origin x="988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4390-4F06-4AC1-A02F-F9827C930455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F50F8-7C6A-40E2-ACF6-24EB82F408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8690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BBFCB-AF14-4840-A42D-4BE299CC3B6F}" type="datetimeFigureOut">
              <a:rPr lang="en-US" smtClean="0"/>
              <a:t>4/3/2020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1B068-BE6A-4C82-9505-14C84DEF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570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1 GW (installed capacity) x 8760 h/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yr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= 8760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GWh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→ Activity per year = 31.536 PJ</a:t>
            </a:r>
          </a:p>
          <a:p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CapacityToActivityUnit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TotMaxCapacity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GW * 8760h * 1yr *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ConversionUnit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(PJ/GW) → (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a conversion factor) 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8760 </a:t>
            </a:r>
            <a:r>
              <a:rPr lang="fr-F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GWh</a:t>
            </a:r>
            <a:r>
              <a:rPr lang="fr-F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31.536 PJ</a:t>
            </a:r>
            <a:endParaRPr lang="fr-FR" b="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1B068-BE6A-4C82-9505-14C84DEFDB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4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/4.0/" TargetMode="External"/><Relationship Id="rId2" Type="http://schemas.openxmlformats.org/officeDocument/2006/relationships/hyperlink" Target="http://www.optimus.community/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s-B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38199" y="6085489"/>
            <a:ext cx="10515601" cy="163293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algn="l" fontAlgn="ctr"/>
            <a:r>
              <a:rPr lang="en-US" sz="1000" dirty="0"/>
              <a:t>This work by </a:t>
            </a:r>
            <a:r>
              <a:rPr lang="en-US" sz="1000" dirty="0" err="1">
                <a:hlinkClick r:id="rId2"/>
              </a:rPr>
              <a:t>OpTIMUS.community</a:t>
            </a:r>
            <a:r>
              <a:rPr lang="en-US" sz="1000" dirty="0"/>
              <a:t> is licensed under the Creative Commons Attribution 4.0 International License. To view a copy of this license, visit </a:t>
            </a:r>
            <a:r>
              <a:rPr lang="en-US" sz="1000" dirty="0">
                <a:hlinkClick r:id="rId3"/>
              </a:rPr>
              <a:t>http://creativecommons.org/licenses/by/4.0/</a:t>
            </a:r>
            <a:r>
              <a:rPr lang="en-US" sz="1000" dirty="0"/>
              <a:t>.</a:t>
            </a:r>
            <a:endParaRPr lang="sv-SE" sz="1000" b="1" spc="-15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8" name="Picture 7">
            <a:hlinkClick r:id="rId3"/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91" y="6095649"/>
            <a:ext cx="437309" cy="153004"/>
          </a:xfrm>
          <a:prstGeom prst="rect">
            <a:avLst/>
          </a:prstGeom>
        </p:spPr>
      </p:pic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4687330" y="5257800"/>
            <a:ext cx="1837038" cy="41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90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80195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ngelog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3984075"/>
              </p:ext>
            </p:extLst>
          </p:nvPr>
        </p:nvGraphicFramePr>
        <p:xfrm>
          <a:off x="838200" y="1616075"/>
          <a:ext cx="1051560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0083">
                  <a:extLst>
                    <a:ext uri="{9D8B030D-6E8A-4147-A177-3AD203B41FA5}">
                      <a16:colId xmlns:a16="http://schemas.microsoft.com/office/drawing/2014/main" val="46406547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760605769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2954716314"/>
                    </a:ext>
                  </a:extLst>
                </a:gridCol>
                <a:gridCol w="3008506">
                  <a:extLst>
                    <a:ext uri="{9D8B030D-6E8A-4147-A177-3AD203B41FA5}">
                      <a16:colId xmlns:a16="http://schemas.microsoft.com/office/drawing/2014/main" val="36649047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Reviewer</a:t>
                      </a:r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Reviser</a:t>
                      </a:r>
                      <a:r>
                        <a:rPr lang="en-US" baseline="0" dirty="0"/>
                        <a:t> </a:t>
                      </a:r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66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44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sv-S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7502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</p:spPr>
        <p:txBody>
          <a:bodyPr vert="horz" wrap="square" lIns="91440" tIns="0" rIns="91440" bIns="0" rtlCol="0" anchor="t">
            <a:noAutofit/>
          </a:bodyPr>
          <a:lstStyle/>
          <a:p>
            <a:pPr indent="0"/>
            <a:r>
              <a:rPr lang="sv-SE" i="1" dirty="0"/>
              <a:t>To </a:t>
            </a:r>
            <a:r>
              <a:rPr lang="sv-SE" i="1" dirty="0" err="1"/>
              <a:t>correctly</a:t>
            </a:r>
            <a:r>
              <a:rPr lang="sv-SE" i="1" dirty="0"/>
              <a:t> </a:t>
            </a:r>
            <a:r>
              <a:rPr lang="sv-SE" i="1" dirty="0" err="1"/>
              <a:t>reference</a:t>
            </a:r>
            <a:r>
              <a:rPr lang="sv-SE" i="1" dirty="0"/>
              <a:t> </a:t>
            </a:r>
            <a:r>
              <a:rPr lang="sv-SE" i="1" dirty="0" err="1"/>
              <a:t>this</a:t>
            </a:r>
            <a:r>
              <a:rPr lang="sv-SE" i="1" dirty="0"/>
              <a:t> </a:t>
            </a:r>
            <a:r>
              <a:rPr lang="sv-SE" i="1" dirty="0" err="1"/>
              <a:t>work</a:t>
            </a:r>
            <a:r>
              <a:rPr lang="sv-SE" i="1" dirty="0"/>
              <a:t>, </a:t>
            </a:r>
            <a:r>
              <a:rPr lang="sv-SE" i="1" dirty="0" err="1"/>
              <a:t>please</a:t>
            </a:r>
            <a:r>
              <a:rPr lang="sv-SE" i="1" dirty="0"/>
              <a:t> </a:t>
            </a:r>
            <a:r>
              <a:rPr lang="sv-SE" i="1" dirty="0" err="1"/>
              <a:t>use</a:t>
            </a:r>
            <a:r>
              <a:rPr lang="sv-SE" i="1" dirty="0"/>
              <a:t> the </a:t>
            </a:r>
            <a:r>
              <a:rPr lang="sv-SE" i="1" dirty="0" err="1"/>
              <a:t>following</a:t>
            </a:r>
            <a:r>
              <a:rPr lang="sv-SE" i="1" dirty="0"/>
              <a:t>: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  <a:endParaRPr lang="fr-FR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B23EEE3-DD26-4109-9996-A0F31E800E6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47529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13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606188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34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579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18488"/>
            <a:ext cx="5181600" cy="4579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23768" y="372221"/>
            <a:ext cx="9226296" cy="669507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9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2123768" y="1051561"/>
            <a:ext cx="9230032" cy="398776"/>
          </a:xfrm>
        </p:spPr>
        <p:txBody>
          <a:bodyPr tIns="0" bIns="0"/>
          <a:lstStyle>
            <a:lvl1pPr marL="914400" indent="0">
              <a:defRPr b="1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lvl="0"/>
            <a:r>
              <a:rPr lang="es-BO" noProof="0" dirty="0" err="1"/>
              <a:t>Edit</a:t>
            </a:r>
            <a:r>
              <a:rPr lang="es-BO" noProof="0" dirty="0"/>
              <a:t> Master </a:t>
            </a:r>
            <a:r>
              <a:rPr lang="es-BO" noProof="0" dirty="0" err="1"/>
              <a:t>Subtitle</a:t>
            </a:r>
            <a:r>
              <a:rPr lang="es-BO" noProof="0" dirty="0"/>
              <a:t> </a:t>
            </a:r>
            <a:r>
              <a:rPr lang="es-BO" noProof="0" dirty="0" err="1"/>
              <a:t>style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4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09087"/>
            <a:ext cx="5157787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184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09087"/>
            <a:ext cx="5183188" cy="358057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1152566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2965240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618488"/>
            <a:ext cx="6172200" cy="451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162300"/>
            <a:ext cx="3932237" cy="297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1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</p:spTree>
    <p:extLst>
      <p:ext uri="{BB962C8B-B14F-4D97-AF65-F5344CB8AC3E}">
        <p14:creationId xmlns:p14="http://schemas.microsoft.com/office/powerpoint/2010/main" val="3814619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noProof="0"/>
              <a:t>Click to edit Master title style</a:t>
            </a:r>
            <a:endParaRPr lang="es-BO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88720" cy="365125"/>
          </a:xfrm>
          <a:prstGeom prst="rect">
            <a:avLst/>
          </a:prstGeom>
        </p:spPr>
        <p:txBody>
          <a:bodyPr/>
          <a:lstStyle>
            <a:lvl1pPr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</p:spPr>
        <p:txBody>
          <a:bodyPr/>
          <a:lstStyle>
            <a:lvl1pPr algn="ct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</p:spPr>
        <p:txBody>
          <a:bodyPr/>
          <a:lstStyle>
            <a:lvl1pPr algn="r">
              <a:defRPr sz="1400" spc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511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Energy Modelling Platform for Africa - 14-29 January 2019 University of Cape Town (South Africa)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pc="-15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92A4DE5B-D266-47DA-B86B-5B95BCF9A6FB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upp 28"/>
          <p:cNvGrpSpPr/>
          <p:nvPr/>
        </p:nvGrpSpPr>
        <p:grpSpPr>
          <a:xfrm>
            <a:off x="839972" y="364809"/>
            <a:ext cx="10513828" cy="5859118"/>
            <a:chOff x="0" y="2049787"/>
            <a:chExt cx="9144000" cy="3091924"/>
          </a:xfrm>
        </p:grpSpPr>
        <p:sp>
          <p:nvSpPr>
            <p:cNvPr id="6" name="Rektangel 13"/>
            <p:cNvSpPr/>
            <p:nvPr/>
          </p:nvSpPr>
          <p:spPr bwMode="gray">
            <a:xfrm>
              <a:off x="0" y="2049787"/>
              <a:ext cx="9144000" cy="3091924"/>
            </a:xfrm>
            <a:prstGeom prst="rect">
              <a:avLst/>
            </a:prstGeom>
            <a:solidFill>
              <a:srgbClr val="1954A6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395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7" name="Grupp 22"/>
            <p:cNvGrpSpPr/>
            <p:nvPr/>
          </p:nvGrpSpPr>
          <p:grpSpPr>
            <a:xfrm>
              <a:off x="0" y="3282722"/>
              <a:ext cx="9144000" cy="1514670"/>
              <a:chOff x="900907" y="2781178"/>
              <a:chExt cx="9144000" cy="1514670"/>
            </a:xfrm>
          </p:grpSpPr>
          <p:sp>
            <p:nvSpPr>
              <p:cNvPr id="8" name="Rektangel 4"/>
              <p:cNvSpPr/>
              <p:nvPr/>
            </p:nvSpPr>
            <p:spPr>
              <a:xfrm>
                <a:off x="900907" y="3979937"/>
                <a:ext cx="9144000" cy="252412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252412">
                    <a:moveTo>
                      <a:pt x="1395140" y="0"/>
                    </a:moveTo>
                    <a:cubicBezTo>
                      <a:pt x="7995403" y="0"/>
                      <a:pt x="7995403" y="0"/>
                      <a:pt x="7995403" y="0"/>
                    </a:cubicBezTo>
                    <a:cubicBezTo>
                      <a:pt x="8024494" y="0"/>
                      <a:pt x="8046740" y="22171"/>
                      <a:pt x="8046740" y="51165"/>
                    </a:cubicBezTo>
                    <a:cubicBezTo>
                      <a:pt x="8046740" y="201248"/>
                      <a:pt x="8046740" y="201248"/>
                      <a:pt x="8046740" y="201248"/>
                    </a:cubicBezTo>
                    <a:cubicBezTo>
                      <a:pt x="8046740" y="225124"/>
                      <a:pt x="8067275" y="245590"/>
                      <a:pt x="8091233" y="245590"/>
                    </a:cubicBezTo>
                    <a:cubicBezTo>
                      <a:pt x="8497615" y="245590"/>
                      <a:pt x="8845755" y="245590"/>
                      <a:pt x="9144000" y="245590"/>
                    </a:cubicBezTo>
                    <a:lnTo>
                      <a:pt x="9144000" y="252412"/>
                    </a:lnTo>
                    <a:cubicBezTo>
                      <a:pt x="8091233" y="252412"/>
                      <a:pt x="8091233" y="252412"/>
                      <a:pt x="8091233" y="252412"/>
                    </a:cubicBezTo>
                    <a:cubicBezTo>
                      <a:pt x="8063853" y="252412"/>
                      <a:pt x="8039895" y="228535"/>
                      <a:pt x="8039895" y="201248"/>
                    </a:cubicBezTo>
                    <a:cubicBezTo>
                      <a:pt x="8039895" y="51165"/>
                      <a:pt x="8039895" y="51165"/>
                      <a:pt x="8039895" y="51165"/>
                    </a:cubicBezTo>
                    <a:cubicBezTo>
                      <a:pt x="8039895" y="27288"/>
                      <a:pt x="8019361" y="6822"/>
                      <a:pt x="7995403" y="6822"/>
                    </a:cubicBezTo>
                    <a:cubicBezTo>
                      <a:pt x="1395140" y="6822"/>
                      <a:pt x="1395140" y="6822"/>
                      <a:pt x="1395140" y="6822"/>
                    </a:cubicBezTo>
                    <a:cubicBezTo>
                      <a:pt x="1371183" y="6822"/>
                      <a:pt x="1350648" y="27288"/>
                      <a:pt x="1350648" y="51165"/>
                    </a:cubicBezTo>
                    <a:cubicBezTo>
                      <a:pt x="1350648" y="197837"/>
                      <a:pt x="1350648" y="197837"/>
                      <a:pt x="1350648" y="197837"/>
                    </a:cubicBezTo>
                    <a:cubicBezTo>
                      <a:pt x="1350648" y="226830"/>
                      <a:pt x="1328402" y="249001"/>
                      <a:pt x="1299311" y="249001"/>
                    </a:cubicBezTo>
                    <a:cubicBezTo>
                      <a:pt x="796791" y="249001"/>
                      <a:pt x="367217" y="249001"/>
                      <a:pt x="0" y="249001"/>
                    </a:cubicBezTo>
                    <a:lnTo>
                      <a:pt x="0" y="242179"/>
                    </a:lnTo>
                    <a:cubicBezTo>
                      <a:pt x="1299311" y="242179"/>
                      <a:pt x="1299311" y="242179"/>
                      <a:pt x="1299311" y="242179"/>
                    </a:cubicBezTo>
                    <a:cubicBezTo>
                      <a:pt x="1324979" y="242179"/>
                      <a:pt x="1343803" y="223419"/>
                      <a:pt x="1343803" y="197837"/>
                    </a:cubicBezTo>
                    <a:cubicBezTo>
                      <a:pt x="1343803" y="51165"/>
                      <a:pt x="1343803" y="51165"/>
                      <a:pt x="1343803" y="51165"/>
                    </a:cubicBezTo>
                    <a:cubicBezTo>
                      <a:pt x="1343803" y="22171"/>
                      <a:pt x="1367761" y="0"/>
                      <a:pt x="1395140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" name="Rektangel 10"/>
              <p:cNvSpPr/>
              <p:nvPr/>
            </p:nvSpPr>
            <p:spPr>
              <a:xfrm>
                <a:off x="900907" y="2841700"/>
                <a:ext cx="9144000" cy="840441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840441">
                    <a:moveTo>
                      <a:pt x="7625775" y="0"/>
                    </a:moveTo>
                    <a:cubicBezTo>
                      <a:pt x="8520853" y="0"/>
                      <a:pt x="8943978" y="0"/>
                      <a:pt x="9144000" y="0"/>
                    </a:cubicBezTo>
                    <a:lnTo>
                      <a:pt x="9144000" y="6847"/>
                    </a:lnTo>
                    <a:cubicBezTo>
                      <a:pt x="7625775" y="6847"/>
                      <a:pt x="7625775" y="6847"/>
                      <a:pt x="7625775" y="6847"/>
                    </a:cubicBezTo>
                    <a:cubicBezTo>
                      <a:pt x="7600106" y="6847"/>
                      <a:pt x="7581282" y="27387"/>
                      <a:pt x="7581282" y="51351"/>
                    </a:cubicBezTo>
                    <a:cubicBezTo>
                      <a:pt x="7581282" y="534048"/>
                      <a:pt x="7581282" y="534048"/>
                      <a:pt x="7581282" y="534048"/>
                    </a:cubicBezTo>
                    <a:cubicBezTo>
                      <a:pt x="7581282" y="561435"/>
                      <a:pt x="7557325" y="585399"/>
                      <a:pt x="7529945" y="585399"/>
                    </a:cubicBezTo>
                    <a:cubicBezTo>
                      <a:pt x="6551114" y="585399"/>
                      <a:pt x="6551114" y="585399"/>
                      <a:pt x="6551114" y="585399"/>
                    </a:cubicBezTo>
                    <a:cubicBezTo>
                      <a:pt x="6523734" y="585399"/>
                      <a:pt x="6499777" y="561435"/>
                      <a:pt x="6499777" y="534048"/>
                    </a:cubicBezTo>
                    <a:cubicBezTo>
                      <a:pt x="6499777" y="371437"/>
                      <a:pt x="6499777" y="371437"/>
                      <a:pt x="6499777" y="371437"/>
                    </a:cubicBezTo>
                    <a:cubicBezTo>
                      <a:pt x="6499777" y="345762"/>
                      <a:pt x="6480953" y="326933"/>
                      <a:pt x="6455285" y="326933"/>
                    </a:cubicBezTo>
                    <a:cubicBezTo>
                      <a:pt x="3746388" y="326933"/>
                      <a:pt x="3746388" y="326933"/>
                      <a:pt x="3746388" y="326933"/>
                    </a:cubicBezTo>
                    <a:cubicBezTo>
                      <a:pt x="3720719" y="326933"/>
                      <a:pt x="3701896" y="345762"/>
                      <a:pt x="3701896" y="371437"/>
                    </a:cubicBezTo>
                    <a:cubicBezTo>
                      <a:pt x="3701896" y="789090"/>
                      <a:pt x="3701896" y="789090"/>
                      <a:pt x="3701896" y="789090"/>
                    </a:cubicBezTo>
                    <a:cubicBezTo>
                      <a:pt x="3701896" y="816477"/>
                      <a:pt x="3677938" y="840441"/>
                      <a:pt x="3650558" y="840441"/>
                    </a:cubicBezTo>
                    <a:cubicBezTo>
                      <a:pt x="1088828" y="840441"/>
                      <a:pt x="1088828" y="840441"/>
                      <a:pt x="1088828" y="840441"/>
                    </a:cubicBezTo>
                    <a:cubicBezTo>
                      <a:pt x="1059737" y="840441"/>
                      <a:pt x="1037491" y="816477"/>
                      <a:pt x="1037491" y="789090"/>
                    </a:cubicBezTo>
                    <a:cubicBezTo>
                      <a:pt x="1037491" y="65044"/>
                      <a:pt x="1037491" y="65044"/>
                      <a:pt x="1037491" y="65044"/>
                    </a:cubicBezTo>
                    <a:cubicBezTo>
                      <a:pt x="1037491" y="41081"/>
                      <a:pt x="1016956" y="20540"/>
                      <a:pt x="992998" y="20540"/>
                    </a:cubicBezTo>
                    <a:cubicBezTo>
                      <a:pt x="542461" y="20540"/>
                      <a:pt x="224457" y="20540"/>
                      <a:pt x="0" y="20540"/>
                    </a:cubicBezTo>
                    <a:lnTo>
                      <a:pt x="0" y="13694"/>
                    </a:lnTo>
                    <a:cubicBezTo>
                      <a:pt x="992998" y="13694"/>
                      <a:pt x="992998" y="13694"/>
                      <a:pt x="992998" y="13694"/>
                    </a:cubicBezTo>
                    <a:cubicBezTo>
                      <a:pt x="1020378" y="13694"/>
                      <a:pt x="1044336" y="37657"/>
                      <a:pt x="1044336" y="65044"/>
                    </a:cubicBezTo>
                    <a:cubicBezTo>
                      <a:pt x="1044336" y="789090"/>
                      <a:pt x="1044336" y="789090"/>
                      <a:pt x="1044336" y="789090"/>
                    </a:cubicBezTo>
                    <a:cubicBezTo>
                      <a:pt x="1044336" y="813054"/>
                      <a:pt x="1063159" y="833594"/>
                      <a:pt x="1088828" y="833594"/>
                    </a:cubicBezTo>
                    <a:cubicBezTo>
                      <a:pt x="3650558" y="833594"/>
                      <a:pt x="3650558" y="833594"/>
                      <a:pt x="3650558" y="833594"/>
                    </a:cubicBezTo>
                    <a:cubicBezTo>
                      <a:pt x="3674516" y="833594"/>
                      <a:pt x="3695051" y="813054"/>
                      <a:pt x="3695051" y="789090"/>
                    </a:cubicBezTo>
                    <a:cubicBezTo>
                      <a:pt x="3695051" y="371437"/>
                      <a:pt x="3695051" y="371437"/>
                      <a:pt x="3695051" y="371437"/>
                    </a:cubicBezTo>
                    <a:cubicBezTo>
                      <a:pt x="3695051" y="342339"/>
                      <a:pt x="3717297" y="320087"/>
                      <a:pt x="3746388" y="320087"/>
                    </a:cubicBezTo>
                    <a:cubicBezTo>
                      <a:pt x="6455285" y="320087"/>
                      <a:pt x="6455285" y="320087"/>
                      <a:pt x="6455285" y="320087"/>
                    </a:cubicBezTo>
                    <a:cubicBezTo>
                      <a:pt x="6484376" y="320087"/>
                      <a:pt x="6506622" y="342339"/>
                      <a:pt x="6506622" y="371437"/>
                    </a:cubicBezTo>
                    <a:cubicBezTo>
                      <a:pt x="6506622" y="534048"/>
                      <a:pt x="6506622" y="534048"/>
                      <a:pt x="6506622" y="534048"/>
                    </a:cubicBezTo>
                    <a:cubicBezTo>
                      <a:pt x="6506622" y="558012"/>
                      <a:pt x="6527157" y="578552"/>
                      <a:pt x="6551114" y="578552"/>
                    </a:cubicBezTo>
                    <a:cubicBezTo>
                      <a:pt x="7529945" y="578552"/>
                      <a:pt x="7529945" y="578552"/>
                      <a:pt x="7529945" y="578552"/>
                    </a:cubicBezTo>
                    <a:cubicBezTo>
                      <a:pt x="7553903" y="578552"/>
                      <a:pt x="7574437" y="558012"/>
                      <a:pt x="7574437" y="534048"/>
                    </a:cubicBezTo>
                    <a:cubicBezTo>
                      <a:pt x="7574437" y="51351"/>
                      <a:pt x="7574437" y="51351"/>
                      <a:pt x="7574437" y="51351"/>
                    </a:cubicBezTo>
                    <a:cubicBezTo>
                      <a:pt x="7574437" y="23964"/>
                      <a:pt x="7596684" y="0"/>
                      <a:pt x="7625775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0" name="Rektangel 11"/>
              <p:cNvSpPr/>
              <p:nvPr/>
            </p:nvSpPr>
            <p:spPr>
              <a:xfrm>
                <a:off x="900907" y="2781178"/>
                <a:ext cx="9144000" cy="900963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22337">
                    <a:moveTo>
                      <a:pt x="5562016" y="0"/>
                    </a:moveTo>
                    <a:cubicBezTo>
                      <a:pt x="6735929" y="0"/>
                      <a:pt x="6735929" y="0"/>
                      <a:pt x="6735929" y="0"/>
                    </a:cubicBezTo>
                    <a:cubicBezTo>
                      <a:pt x="6765020" y="0"/>
                      <a:pt x="6787266" y="22246"/>
                      <a:pt x="6787266" y="51336"/>
                    </a:cubicBezTo>
                    <a:cubicBezTo>
                      <a:pt x="6787266" y="658812"/>
                      <a:pt x="6787266" y="658812"/>
                      <a:pt x="6787266" y="658812"/>
                    </a:cubicBezTo>
                    <a:cubicBezTo>
                      <a:pt x="6787266" y="684480"/>
                      <a:pt x="6807801" y="703303"/>
                      <a:pt x="6831758" y="703303"/>
                    </a:cubicBezTo>
                    <a:cubicBezTo>
                      <a:pt x="8616584" y="703303"/>
                      <a:pt x="8616584" y="703303"/>
                      <a:pt x="8616584" y="703303"/>
                    </a:cubicBezTo>
                    <a:cubicBezTo>
                      <a:pt x="8640542" y="703303"/>
                      <a:pt x="8661077" y="684480"/>
                      <a:pt x="8661077" y="658812"/>
                    </a:cubicBezTo>
                    <a:cubicBezTo>
                      <a:pt x="8661077" y="193366"/>
                      <a:pt x="8661077" y="193366"/>
                      <a:pt x="8661077" y="193366"/>
                    </a:cubicBezTo>
                    <a:cubicBezTo>
                      <a:pt x="8661077" y="165987"/>
                      <a:pt x="8683323" y="142030"/>
                      <a:pt x="8712414" y="142030"/>
                    </a:cubicBezTo>
                    <a:cubicBezTo>
                      <a:pt x="8866788" y="142030"/>
                      <a:pt x="9010400" y="142030"/>
                      <a:pt x="9144000" y="142030"/>
                    </a:cubicBezTo>
                    <a:lnTo>
                      <a:pt x="9144000" y="148875"/>
                    </a:lnTo>
                    <a:cubicBezTo>
                      <a:pt x="8712414" y="148875"/>
                      <a:pt x="8712414" y="148875"/>
                      <a:pt x="8712414" y="148875"/>
                    </a:cubicBezTo>
                    <a:cubicBezTo>
                      <a:pt x="8686745" y="148875"/>
                      <a:pt x="8667922" y="169409"/>
                      <a:pt x="8667922" y="193366"/>
                    </a:cubicBezTo>
                    <a:cubicBezTo>
                      <a:pt x="8667922" y="658812"/>
                      <a:pt x="8667922" y="658812"/>
                      <a:pt x="8667922" y="658812"/>
                    </a:cubicBezTo>
                    <a:cubicBezTo>
                      <a:pt x="8667922" y="687903"/>
                      <a:pt x="8643964" y="710148"/>
                      <a:pt x="8616584" y="710148"/>
                    </a:cubicBezTo>
                    <a:cubicBezTo>
                      <a:pt x="6831758" y="710148"/>
                      <a:pt x="6831758" y="710148"/>
                      <a:pt x="6831758" y="710148"/>
                    </a:cubicBezTo>
                    <a:cubicBezTo>
                      <a:pt x="6804378" y="710148"/>
                      <a:pt x="6780421" y="687903"/>
                      <a:pt x="6780421" y="658812"/>
                    </a:cubicBezTo>
                    <a:cubicBezTo>
                      <a:pt x="6780421" y="51336"/>
                      <a:pt x="6780421" y="51336"/>
                      <a:pt x="6780421" y="51336"/>
                    </a:cubicBezTo>
                    <a:cubicBezTo>
                      <a:pt x="6780421" y="27379"/>
                      <a:pt x="6761597" y="6845"/>
                      <a:pt x="6735929" y="6845"/>
                    </a:cubicBezTo>
                    <a:cubicBezTo>
                      <a:pt x="5562016" y="6845"/>
                      <a:pt x="5562016" y="6845"/>
                      <a:pt x="5562016" y="6845"/>
                    </a:cubicBezTo>
                    <a:cubicBezTo>
                      <a:pt x="5538059" y="6845"/>
                      <a:pt x="5517524" y="27379"/>
                      <a:pt x="5517524" y="51336"/>
                    </a:cubicBezTo>
                    <a:cubicBezTo>
                      <a:pt x="5517524" y="773463"/>
                      <a:pt x="5517524" y="773463"/>
                      <a:pt x="5517524" y="773463"/>
                    </a:cubicBezTo>
                    <a:cubicBezTo>
                      <a:pt x="5517524" y="802553"/>
                      <a:pt x="5495278" y="824799"/>
                      <a:pt x="5467898" y="824799"/>
                    </a:cubicBezTo>
                    <a:cubicBezTo>
                      <a:pt x="1906802" y="824799"/>
                      <a:pt x="1906802" y="824799"/>
                      <a:pt x="1906802" y="824799"/>
                    </a:cubicBezTo>
                    <a:cubicBezTo>
                      <a:pt x="1879422" y="824799"/>
                      <a:pt x="1855465" y="802553"/>
                      <a:pt x="1855465" y="773463"/>
                    </a:cubicBezTo>
                    <a:cubicBezTo>
                      <a:pt x="1855465" y="662235"/>
                      <a:pt x="1855465" y="662235"/>
                      <a:pt x="1855465" y="662235"/>
                    </a:cubicBezTo>
                    <a:cubicBezTo>
                      <a:pt x="1855465" y="636567"/>
                      <a:pt x="1834930" y="617743"/>
                      <a:pt x="1810972" y="617743"/>
                    </a:cubicBezTo>
                    <a:cubicBezTo>
                      <a:pt x="1295888" y="617743"/>
                      <a:pt x="1295888" y="617743"/>
                      <a:pt x="1295888" y="617743"/>
                    </a:cubicBezTo>
                    <a:cubicBezTo>
                      <a:pt x="1271931" y="617743"/>
                      <a:pt x="1253107" y="636567"/>
                      <a:pt x="1253107" y="662235"/>
                    </a:cubicBezTo>
                    <a:cubicBezTo>
                      <a:pt x="1253107" y="871001"/>
                      <a:pt x="1253107" y="871001"/>
                      <a:pt x="1253107" y="871001"/>
                    </a:cubicBezTo>
                    <a:cubicBezTo>
                      <a:pt x="1253107" y="898380"/>
                      <a:pt x="1229150" y="922337"/>
                      <a:pt x="1201770" y="922337"/>
                    </a:cubicBezTo>
                    <a:cubicBezTo>
                      <a:pt x="782516" y="922337"/>
                      <a:pt x="782516" y="922337"/>
                      <a:pt x="782516" y="922337"/>
                    </a:cubicBezTo>
                    <a:cubicBezTo>
                      <a:pt x="755136" y="922337"/>
                      <a:pt x="731178" y="898380"/>
                      <a:pt x="731178" y="871001"/>
                    </a:cubicBezTo>
                    <a:cubicBezTo>
                      <a:pt x="731178" y="564696"/>
                      <a:pt x="731178" y="564696"/>
                      <a:pt x="731178" y="564696"/>
                    </a:cubicBezTo>
                    <a:cubicBezTo>
                      <a:pt x="731178" y="540739"/>
                      <a:pt x="712355" y="520205"/>
                      <a:pt x="688397" y="520205"/>
                    </a:cubicBezTo>
                    <a:cubicBezTo>
                      <a:pt x="412149" y="520205"/>
                      <a:pt x="185673" y="520205"/>
                      <a:pt x="0" y="520205"/>
                    </a:cubicBezTo>
                    <a:lnTo>
                      <a:pt x="0" y="513360"/>
                    </a:lnTo>
                    <a:cubicBezTo>
                      <a:pt x="688397" y="513360"/>
                      <a:pt x="688397" y="513360"/>
                      <a:pt x="688397" y="513360"/>
                    </a:cubicBezTo>
                    <a:cubicBezTo>
                      <a:pt x="715777" y="513360"/>
                      <a:pt x="738023" y="535606"/>
                      <a:pt x="738023" y="564696"/>
                    </a:cubicBezTo>
                    <a:cubicBezTo>
                      <a:pt x="738023" y="871001"/>
                      <a:pt x="738023" y="871001"/>
                      <a:pt x="738023" y="871001"/>
                    </a:cubicBezTo>
                    <a:cubicBezTo>
                      <a:pt x="738023" y="894958"/>
                      <a:pt x="758558" y="915492"/>
                      <a:pt x="782516" y="915492"/>
                    </a:cubicBezTo>
                    <a:cubicBezTo>
                      <a:pt x="1201770" y="915492"/>
                      <a:pt x="1201770" y="915492"/>
                      <a:pt x="1201770" y="915492"/>
                    </a:cubicBezTo>
                    <a:cubicBezTo>
                      <a:pt x="1225727" y="915492"/>
                      <a:pt x="1246262" y="894958"/>
                      <a:pt x="1246262" y="871001"/>
                    </a:cubicBezTo>
                    <a:cubicBezTo>
                      <a:pt x="1246262" y="662235"/>
                      <a:pt x="1246262" y="662235"/>
                      <a:pt x="1246262" y="662235"/>
                    </a:cubicBezTo>
                    <a:cubicBezTo>
                      <a:pt x="1246262" y="633144"/>
                      <a:pt x="1268508" y="610899"/>
                      <a:pt x="1295888" y="610899"/>
                    </a:cubicBezTo>
                    <a:cubicBezTo>
                      <a:pt x="1810972" y="610899"/>
                      <a:pt x="1810972" y="610899"/>
                      <a:pt x="1810972" y="610899"/>
                    </a:cubicBezTo>
                    <a:cubicBezTo>
                      <a:pt x="1840064" y="610899"/>
                      <a:pt x="1862310" y="633144"/>
                      <a:pt x="1862310" y="662235"/>
                    </a:cubicBezTo>
                    <a:cubicBezTo>
                      <a:pt x="1862310" y="773463"/>
                      <a:pt x="1862310" y="773463"/>
                      <a:pt x="1862310" y="773463"/>
                    </a:cubicBezTo>
                    <a:cubicBezTo>
                      <a:pt x="1862310" y="799131"/>
                      <a:pt x="1882845" y="817954"/>
                      <a:pt x="1906802" y="817954"/>
                    </a:cubicBezTo>
                    <a:cubicBezTo>
                      <a:pt x="5467898" y="817954"/>
                      <a:pt x="5467898" y="817954"/>
                      <a:pt x="5467898" y="817954"/>
                    </a:cubicBezTo>
                    <a:cubicBezTo>
                      <a:pt x="5491855" y="817954"/>
                      <a:pt x="5510679" y="799131"/>
                      <a:pt x="5510679" y="773463"/>
                    </a:cubicBezTo>
                    <a:cubicBezTo>
                      <a:pt x="5510679" y="51336"/>
                      <a:pt x="5510679" y="51336"/>
                      <a:pt x="5510679" y="51336"/>
                    </a:cubicBezTo>
                    <a:cubicBezTo>
                      <a:pt x="5510679" y="22246"/>
                      <a:pt x="5534636" y="0"/>
                      <a:pt x="5562016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1" name="Rektangel 12"/>
              <p:cNvSpPr/>
              <p:nvPr/>
            </p:nvSpPr>
            <p:spPr>
              <a:xfrm>
                <a:off x="900907" y="2950674"/>
                <a:ext cx="9144000" cy="1345174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536700">
                    <a:moveTo>
                      <a:pt x="2822317" y="0"/>
                    </a:moveTo>
                    <a:cubicBezTo>
                      <a:pt x="5028108" y="0"/>
                      <a:pt x="5028108" y="0"/>
                      <a:pt x="5028108" y="0"/>
                    </a:cubicBezTo>
                    <a:cubicBezTo>
                      <a:pt x="5055488" y="0"/>
                      <a:pt x="5079446" y="22246"/>
                      <a:pt x="5079446" y="51338"/>
                    </a:cubicBezTo>
                    <a:cubicBezTo>
                      <a:pt x="5079446" y="884715"/>
                      <a:pt x="5079446" y="884715"/>
                      <a:pt x="5079446" y="884715"/>
                    </a:cubicBezTo>
                    <a:cubicBezTo>
                      <a:pt x="5079446" y="908672"/>
                      <a:pt x="5098269" y="929207"/>
                      <a:pt x="5123938" y="929207"/>
                    </a:cubicBezTo>
                    <a:cubicBezTo>
                      <a:pt x="5734852" y="929207"/>
                      <a:pt x="5734852" y="929207"/>
                      <a:pt x="5734852" y="929207"/>
                    </a:cubicBezTo>
                    <a:cubicBezTo>
                      <a:pt x="5760520" y="929207"/>
                      <a:pt x="5779344" y="908672"/>
                      <a:pt x="5779344" y="884715"/>
                    </a:cubicBezTo>
                    <a:cubicBezTo>
                      <a:pt x="5779344" y="352517"/>
                      <a:pt x="5779344" y="352517"/>
                      <a:pt x="5779344" y="352517"/>
                    </a:cubicBezTo>
                    <a:cubicBezTo>
                      <a:pt x="5779344" y="323426"/>
                      <a:pt x="5803301" y="301180"/>
                      <a:pt x="5830681" y="301180"/>
                    </a:cubicBezTo>
                    <a:cubicBezTo>
                      <a:pt x="7452939" y="301180"/>
                      <a:pt x="7452939" y="301180"/>
                      <a:pt x="7452939" y="301180"/>
                    </a:cubicBezTo>
                    <a:cubicBezTo>
                      <a:pt x="7480319" y="301180"/>
                      <a:pt x="7502565" y="323426"/>
                      <a:pt x="7502565" y="352517"/>
                    </a:cubicBezTo>
                    <a:cubicBezTo>
                      <a:pt x="7502565" y="1485363"/>
                      <a:pt x="7502565" y="1485363"/>
                      <a:pt x="7502565" y="1485363"/>
                    </a:cubicBezTo>
                    <a:cubicBezTo>
                      <a:pt x="7502565" y="1509320"/>
                      <a:pt x="7523100" y="1529855"/>
                      <a:pt x="7547058" y="1529855"/>
                    </a:cubicBezTo>
                    <a:cubicBezTo>
                      <a:pt x="8799687" y="1529855"/>
                      <a:pt x="8799687" y="1529855"/>
                      <a:pt x="8799687" y="1529855"/>
                    </a:cubicBezTo>
                    <a:cubicBezTo>
                      <a:pt x="8823645" y="1529855"/>
                      <a:pt x="8844180" y="1509320"/>
                      <a:pt x="8844180" y="1485363"/>
                    </a:cubicBezTo>
                    <a:cubicBezTo>
                      <a:pt x="8844180" y="966855"/>
                      <a:pt x="8844180" y="966855"/>
                      <a:pt x="8844180" y="966855"/>
                    </a:cubicBezTo>
                    <a:cubicBezTo>
                      <a:pt x="8844180" y="937764"/>
                      <a:pt x="8866426" y="915517"/>
                      <a:pt x="8895517" y="915517"/>
                    </a:cubicBezTo>
                    <a:cubicBezTo>
                      <a:pt x="8981972" y="915517"/>
                      <a:pt x="9064748" y="915517"/>
                      <a:pt x="9144000" y="915517"/>
                    </a:cubicBezTo>
                    <a:lnTo>
                      <a:pt x="9144000" y="922362"/>
                    </a:lnTo>
                    <a:cubicBezTo>
                      <a:pt x="8895517" y="922362"/>
                      <a:pt x="8895517" y="922362"/>
                      <a:pt x="8895517" y="922362"/>
                    </a:cubicBezTo>
                    <a:cubicBezTo>
                      <a:pt x="8869848" y="922362"/>
                      <a:pt x="8851025" y="941186"/>
                      <a:pt x="8851025" y="966855"/>
                    </a:cubicBezTo>
                    <a:cubicBezTo>
                      <a:pt x="8851025" y="1485363"/>
                      <a:pt x="8851025" y="1485363"/>
                      <a:pt x="8851025" y="1485363"/>
                    </a:cubicBezTo>
                    <a:cubicBezTo>
                      <a:pt x="8851025" y="1512743"/>
                      <a:pt x="8827067" y="1536700"/>
                      <a:pt x="8799687" y="1536700"/>
                    </a:cubicBezTo>
                    <a:cubicBezTo>
                      <a:pt x="7547058" y="1536700"/>
                      <a:pt x="7547058" y="1536700"/>
                      <a:pt x="7547058" y="1536700"/>
                    </a:cubicBezTo>
                    <a:cubicBezTo>
                      <a:pt x="7519678" y="1536700"/>
                      <a:pt x="7495720" y="1512743"/>
                      <a:pt x="7495720" y="1485363"/>
                    </a:cubicBezTo>
                    <a:cubicBezTo>
                      <a:pt x="7495720" y="352517"/>
                      <a:pt x="7495720" y="352517"/>
                      <a:pt x="7495720" y="352517"/>
                    </a:cubicBezTo>
                    <a:cubicBezTo>
                      <a:pt x="7495720" y="328560"/>
                      <a:pt x="7476897" y="308025"/>
                      <a:pt x="7452939" y="308025"/>
                    </a:cubicBezTo>
                    <a:cubicBezTo>
                      <a:pt x="5830681" y="308025"/>
                      <a:pt x="5830681" y="308025"/>
                      <a:pt x="5830681" y="308025"/>
                    </a:cubicBezTo>
                    <a:cubicBezTo>
                      <a:pt x="5806724" y="308025"/>
                      <a:pt x="5786189" y="328560"/>
                      <a:pt x="5786189" y="352517"/>
                    </a:cubicBezTo>
                    <a:cubicBezTo>
                      <a:pt x="5786189" y="884715"/>
                      <a:pt x="5786189" y="884715"/>
                      <a:pt x="5786189" y="884715"/>
                    </a:cubicBezTo>
                    <a:cubicBezTo>
                      <a:pt x="5786189" y="912095"/>
                      <a:pt x="5763943" y="936052"/>
                      <a:pt x="5734852" y="936052"/>
                    </a:cubicBezTo>
                    <a:cubicBezTo>
                      <a:pt x="5123938" y="936052"/>
                      <a:pt x="5123938" y="936052"/>
                      <a:pt x="5123938" y="936052"/>
                    </a:cubicBezTo>
                    <a:cubicBezTo>
                      <a:pt x="5094847" y="936052"/>
                      <a:pt x="5072601" y="912095"/>
                      <a:pt x="5072601" y="884715"/>
                    </a:cubicBezTo>
                    <a:cubicBezTo>
                      <a:pt x="5072601" y="51338"/>
                      <a:pt x="5072601" y="51338"/>
                      <a:pt x="5072601" y="51338"/>
                    </a:cubicBezTo>
                    <a:cubicBezTo>
                      <a:pt x="5072601" y="25669"/>
                      <a:pt x="5052066" y="6845"/>
                      <a:pt x="5028108" y="6845"/>
                    </a:cubicBezTo>
                    <a:cubicBezTo>
                      <a:pt x="2822317" y="6845"/>
                      <a:pt x="2822317" y="6845"/>
                      <a:pt x="2822317" y="6845"/>
                    </a:cubicBezTo>
                    <a:cubicBezTo>
                      <a:pt x="2798359" y="6845"/>
                      <a:pt x="2777825" y="25669"/>
                      <a:pt x="2777825" y="51338"/>
                    </a:cubicBezTo>
                    <a:cubicBezTo>
                      <a:pt x="2777825" y="1276591"/>
                      <a:pt x="2777825" y="1276591"/>
                      <a:pt x="2777825" y="1276591"/>
                    </a:cubicBezTo>
                    <a:cubicBezTo>
                      <a:pt x="2777825" y="1303971"/>
                      <a:pt x="2755578" y="1327928"/>
                      <a:pt x="2726487" y="1327928"/>
                    </a:cubicBezTo>
                    <a:cubicBezTo>
                      <a:pt x="279410" y="1327928"/>
                      <a:pt x="279410" y="1327928"/>
                      <a:pt x="279410" y="1327928"/>
                    </a:cubicBezTo>
                    <a:cubicBezTo>
                      <a:pt x="252030" y="1327928"/>
                      <a:pt x="228073" y="1303971"/>
                      <a:pt x="228073" y="1276591"/>
                    </a:cubicBezTo>
                    <a:cubicBezTo>
                      <a:pt x="228073" y="453481"/>
                      <a:pt x="228073" y="453481"/>
                      <a:pt x="228073" y="453481"/>
                    </a:cubicBezTo>
                    <a:cubicBezTo>
                      <a:pt x="228073" y="427812"/>
                      <a:pt x="207538" y="408988"/>
                      <a:pt x="183580" y="408988"/>
                    </a:cubicBezTo>
                    <a:cubicBezTo>
                      <a:pt x="120092" y="408988"/>
                      <a:pt x="58927" y="408988"/>
                      <a:pt x="0" y="408988"/>
                    </a:cubicBezTo>
                    <a:lnTo>
                      <a:pt x="0" y="402143"/>
                    </a:lnTo>
                    <a:cubicBezTo>
                      <a:pt x="183580" y="402143"/>
                      <a:pt x="183580" y="402143"/>
                      <a:pt x="183580" y="402143"/>
                    </a:cubicBezTo>
                    <a:cubicBezTo>
                      <a:pt x="212672" y="402143"/>
                      <a:pt x="234918" y="424389"/>
                      <a:pt x="234918" y="453481"/>
                    </a:cubicBezTo>
                    <a:cubicBezTo>
                      <a:pt x="234918" y="1276591"/>
                      <a:pt x="234918" y="1276591"/>
                      <a:pt x="234918" y="1276591"/>
                    </a:cubicBezTo>
                    <a:cubicBezTo>
                      <a:pt x="234918" y="1300548"/>
                      <a:pt x="255453" y="1321083"/>
                      <a:pt x="279410" y="1321083"/>
                    </a:cubicBezTo>
                    <a:cubicBezTo>
                      <a:pt x="2726487" y="1321083"/>
                      <a:pt x="2726487" y="1321083"/>
                      <a:pt x="2726487" y="1321083"/>
                    </a:cubicBezTo>
                    <a:cubicBezTo>
                      <a:pt x="2750445" y="1321083"/>
                      <a:pt x="2770980" y="1300548"/>
                      <a:pt x="2770980" y="1276591"/>
                    </a:cubicBezTo>
                    <a:cubicBezTo>
                      <a:pt x="2770980" y="51338"/>
                      <a:pt x="2770980" y="51338"/>
                      <a:pt x="2770980" y="51338"/>
                    </a:cubicBezTo>
                    <a:cubicBezTo>
                      <a:pt x="2770980" y="22246"/>
                      <a:pt x="2794937" y="0"/>
                      <a:pt x="282231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2" name="Rektangel 13"/>
              <p:cNvSpPr/>
              <p:nvPr/>
            </p:nvSpPr>
            <p:spPr>
              <a:xfrm>
                <a:off x="900907" y="3041048"/>
                <a:ext cx="9144000" cy="1250039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1435100">
                    <a:moveTo>
                      <a:pt x="4819337" y="0"/>
                    </a:moveTo>
                    <a:cubicBezTo>
                      <a:pt x="5888863" y="0"/>
                      <a:pt x="5888863" y="0"/>
                      <a:pt x="5888863" y="0"/>
                    </a:cubicBezTo>
                    <a:cubicBezTo>
                      <a:pt x="5917955" y="0"/>
                      <a:pt x="5940201" y="23947"/>
                      <a:pt x="5940201" y="51315"/>
                    </a:cubicBezTo>
                    <a:cubicBezTo>
                      <a:pt x="5940201" y="1228131"/>
                      <a:pt x="5940201" y="1228131"/>
                      <a:pt x="5940201" y="1228131"/>
                    </a:cubicBezTo>
                    <a:cubicBezTo>
                      <a:pt x="5940201" y="1253788"/>
                      <a:pt x="5960736" y="1272604"/>
                      <a:pt x="5984693" y="1272604"/>
                    </a:cubicBezTo>
                    <a:cubicBezTo>
                      <a:pt x="8152838" y="1272604"/>
                      <a:pt x="8152838" y="1272604"/>
                      <a:pt x="8152838" y="1272604"/>
                    </a:cubicBezTo>
                    <a:cubicBezTo>
                      <a:pt x="8176795" y="1272604"/>
                      <a:pt x="8197330" y="1253788"/>
                      <a:pt x="8197330" y="1228131"/>
                    </a:cubicBezTo>
                    <a:cubicBezTo>
                      <a:pt x="8197330" y="256573"/>
                      <a:pt x="8197330" y="256573"/>
                      <a:pt x="8197330" y="256573"/>
                    </a:cubicBezTo>
                    <a:cubicBezTo>
                      <a:pt x="8197330" y="227495"/>
                      <a:pt x="8219576" y="205259"/>
                      <a:pt x="8248667" y="205259"/>
                    </a:cubicBezTo>
                    <a:cubicBezTo>
                      <a:pt x="8970812" y="205259"/>
                      <a:pt x="8970812" y="205259"/>
                      <a:pt x="8970812" y="205259"/>
                    </a:cubicBezTo>
                    <a:cubicBezTo>
                      <a:pt x="8998191" y="205259"/>
                      <a:pt x="9020438" y="227495"/>
                      <a:pt x="9020438" y="256573"/>
                    </a:cubicBezTo>
                    <a:cubicBezTo>
                      <a:pt x="9020438" y="465253"/>
                      <a:pt x="9020438" y="465253"/>
                      <a:pt x="9020438" y="465253"/>
                    </a:cubicBezTo>
                    <a:cubicBezTo>
                      <a:pt x="9020438" y="489200"/>
                      <a:pt x="9040972" y="508015"/>
                      <a:pt x="9064930" y="508015"/>
                    </a:cubicBezTo>
                    <a:lnTo>
                      <a:pt x="9144000" y="508015"/>
                    </a:lnTo>
                    <a:lnTo>
                      <a:pt x="9144000" y="514857"/>
                    </a:lnTo>
                    <a:cubicBezTo>
                      <a:pt x="9064930" y="514857"/>
                      <a:pt x="9064930" y="514857"/>
                      <a:pt x="9064930" y="514857"/>
                    </a:cubicBezTo>
                    <a:cubicBezTo>
                      <a:pt x="9037550" y="514857"/>
                      <a:pt x="9013593" y="492621"/>
                      <a:pt x="9013593" y="465253"/>
                    </a:cubicBezTo>
                    <a:cubicBezTo>
                      <a:pt x="9013593" y="256573"/>
                      <a:pt x="9013593" y="256573"/>
                      <a:pt x="9013593" y="256573"/>
                    </a:cubicBezTo>
                    <a:cubicBezTo>
                      <a:pt x="9013593" y="232627"/>
                      <a:pt x="8994769" y="212101"/>
                      <a:pt x="8970812" y="212101"/>
                    </a:cubicBezTo>
                    <a:cubicBezTo>
                      <a:pt x="8248667" y="212101"/>
                      <a:pt x="8248667" y="212101"/>
                      <a:pt x="8248667" y="212101"/>
                    </a:cubicBezTo>
                    <a:cubicBezTo>
                      <a:pt x="8222998" y="212101"/>
                      <a:pt x="8204175" y="232627"/>
                      <a:pt x="8204175" y="256573"/>
                    </a:cubicBezTo>
                    <a:cubicBezTo>
                      <a:pt x="8204175" y="1228131"/>
                      <a:pt x="8204175" y="1228131"/>
                      <a:pt x="8204175" y="1228131"/>
                    </a:cubicBezTo>
                    <a:cubicBezTo>
                      <a:pt x="8204175" y="1257209"/>
                      <a:pt x="8180217" y="1279446"/>
                      <a:pt x="8152838" y="1279446"/>
                    </a:cubicBezTo>
                    <a:cubicBezTo>
                      <a:pt x="5984693" y="1279446"/>
                      <a:pt x="5984693" y="1279446"/>
                      <a:pt x="5984693" y="1279446"/>
                    </a:cubicBezTo>
                    <a:cubicBezTo>
                      <a:pt x="5957313" y="1279446"/>
                      <a:pt x="5933356" y="1257209"/>
                      <a:pt x="5933356" y="1228131"/>
                    </a:cubicBezTo>
                    <a:cubicBezTo>
                      <a:pt x="5933356" y="51315"/>
                      <a:pt x="5933356" y="51315"/>
                      <a:pt x="5933356" y="51315"/>
                    </a:cubicBezTo>
                    <a:cubicBezTo>
                      <a:pt x="5933356" y="27368"/>
                      <a:pt x="5914532" y="6842"/>
                      <a:pt x="5888863" y="6842"/>
                    </a:cubicBezTo>
                    <a:cubicBezTo>
                      <a:pt x="4819337" y="6842"/>
                      <a:pt x="4819337" y="6842"/>
                      <a:pt x="4819337" y="6842"/>
                    </a:cubicBezTo>
                    <a:cubicBezTo>
                      <a:pt x="4795380" y="6842"/>
                      <a:pt x="4774845" y="27368"/>
                      <a:pt x="4774845" y="51315"/>
                    </a:cubicBezTo>
                    <a:cubicBezTo>
                      <a:pt x="4774845" y="1383786"/>
                      <a:pt x="4774845" y="1383786"/>
                      <a:pt x="4774845" y="1383786"/>
                    </a:cubicBezTo>
                    <a:cubicBezTo>
                      <a:pt x="4774845" y="1412864"/>
                      <a:pt x="4752599" y="1435100"/>
                      <a:pt x="4723507" y="1435100"/>
                    </a:cubicBezTo>
                    <a:cubicBezTo>
                      <a:pt x="3236438" y="1435100"/>
                      <a:pt x="3236438" y="1435100"/>
                      <a:pt x="3236438" y="1435100"/>
                    </a:cubicBezTo>
                    <a:cubicBezTo>
                      <a:pt x="3207346" y="1435100"/>
                      <a:pt x="3185100" y="1412864"/>
                      <a:pt x="3185100" y="1383786"/>
                    </a:cubicBezTo>
                    <a:cubicBezTo>
                      <a:pt x="3185100" y="259994"/>
                      <a:pt x="3185100" y="259994"/>
                      <a:pt x="3185100" y="259994"/>
                    </a:cubicBezTo>
                    <a:cubicBezTo>
                      <a:pt x="3185100" y="236048"/>
                      <a:pt x="3164565" y="215522"/>
                      <a:pt x="3140608" y="215522"/>
                    </a:cubicBezTo>
                    <a:cubicBezTo>
                      <a:pt x="986153" y="215522"/>
                      <a:pt x="986153" y="215522"/>
                      <a:pt x="986153" y="215522"/>
                    </a:cubicBezTo>
                    <a:cubicBezTo>
                      <a:pt x="960485" y="215522"/>
                      <a:pt x="941661" y="236048"/>
                      <a:pt x="941661" y="259994"/>
                    </a:cubicBezTo>
                    <a:cubicBezTo>
                      <a:pt x="941661" y="1079319"/>
                      <a:pt x="941661" y="1079319"/>
                      <a:pt x="941661" y="1079319"/>
                    </a:cubicBezTo>
                    <a:cubicBezTo>
                      <a:pt x="941661" y="1108397"/>
                      <a:pt x="917704" y="1130633"/>
                      <a:pt x="890324" y="1130633"/>
                    </a:cubicBezTo>
                    <a:cubicBezTo>
                      <a:pt x="538949" y="1130633"/>
                      <a:pt x="245341" y="1130633"/>
                      <a:pt x="0" y="1130633"/>
                    </a:cubicBezTo>
                    <a:lnTo>
                      <a:pt x="0" y="1123791"/>
                    </a:lnTo>
                    <a:cubicBezTo>
                      <a:pt x="890324" y="1123791"/>
                      <a:pt x="890324" y="1123791"/>
                      <a:pt x="890324" y="1123791"/>
                    </a:cubicBezTo>
                    <a:cubicBezTo>
                      <a:pt x="914281" y="1123791"/>
                      <a:pt x="934816" y="1103265"/>
                      <a:pt x="934816" y="1079319"/>
                    </a:cubicBezTo>
                    <a:cubicBezTo>
                      <a:pt x="934816" y="259994"/>
                      <a:pt x="934816" y="259994"/>
                      <a:pt x="934816" y="259994"/>
                    </a:cubicBezTo>
                    <a:cubicBezTo>
                      <a:pt x="934816" y="230916"/>
                      <a:pt x="957062" y="208680"/>
                      <a:pt x="986153" y="208680"/>
                    </a:cubicBezTo>
                    <a:cubicBezTo>
                      <a:pt x="3140608" y="208680"/>
                      <a:pt x="3140608" y="208680"/>
                      <a:pt x="3140608" y="208680"/>
                    </a:cubicBezTo>
                    <a:cubicBezTo>
                      <a:pt x="3167988" y="208680"/>
                      <a:pt x="3191945" y="230916"/>
                      <a:pt x="3191945" y="259994"/>
                    </a:cubicBezTo>
                    <a:cubicBezTo>
                      <a:pt x="3191945" y="1383786"/>
                      <a:pt x="3191945" y="1383786"/>
                      <a:pt x="3191945" y="1383786"/>
                    </a:cubicBezTo>
                    <a:cubicBezTo>
                      <a:pt x="3191945" y="1409443"/>
                      <a:pt x="3210769" y="1428258"/>
                      <a:pt x="3236438" y="1428258"/>
                    </a:cubicBezTo>
                    <a:cubicBezTo>
                      <a:pt x="4723507" y="1428258"/>
                      <a:pt x="4723507" y="1428258"/>
                      <a:pt x="4723507" y="1428258"/>
                    </a:cubicBezTo>
                    <a:cubicBezTo>
                      <a:pt x="4749176" y="1428258"/>
                      <a:pt x="4768000" y="1409443"/>
                      <a:pt x="4768000" y="1383786"/>
                    </a:cubicBezTo>
                    <a:cubicBezTo>
                      <a:pt x="4768000" y="51315"/>
                      <a:pt x="4768000" y="51315"/>
                      <a:pt x="4768000" y="51315"/>
                    </a:cubicBezTo>
                    <a:cubicBezTo>
                      <a:pt x="4768000" y="23947"/>
                      <a:pt x="4791957" y="0"/>
                      <a:pt x="481933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sv-SE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3956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sv-SE" sz="1800" b="0" i="0" u="none" strike="noStrike" kern="1200" cap="none" spc="0" normalizeH="0" baseline="0" noProof="0">
                  <a:ln>
                    <a:solidFill>
                      <a:srgbClr val="1F497D"/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4808"/>
            <a:ext cx="1097280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44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FFFFF"/>
            </a:gs>
            <a:gs pos="69000">
              <a:srgbClr val="FDFDFD"/>
            </a:gs>
            <a:gs pos="100000">
              <a:schemeClr val="bg2">
                <a:alpha val="50000"/>
              </a:schemeClr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BO" noProof="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838200" y="6323905"/>
            <a:ext cx="10515600" cy="0"/>
          </a:xfrm>
          <a:prstGeom prst="line">
            <a:avLst/>
          </a:prstGeom>
          <a:ln w="1905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2132456" y="364808"/>
            <a:ext cx="9221344" cy="1097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 dirty="0"/>
              <a:t>Click to edit Master title style</a:t>
            </a:r>
            <a:endParaRPr lang="es-BO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11650" r="6449" b="15113"/>
          <a:stretch/>
        </p:blipFill>
        <p:spPr>
          <a:xfrm>
            <a:off x="906186" y="1041144"/>
            <a:ext cx="1158284" cy="3498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6647"/>
            <a:ext cx="1294256" cy="5109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628" y="364808"/>
            <a:ext cx="619172" cy="6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spc="-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spc="-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spc="-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spc="-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By the end of this exercise you will be able to: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Define an already existing thermal power plant taking in fuel to generate electricity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smtClean="0"/>
              <a:t>Run </a:t>
            </a:r>
            <a:r>
              <a:rPr lang="en-US" dirty="0"/>
              <a:t>the model and check results on production by technology and capacity of each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- Learning Objectives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7324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2310507" y="313419"/>
            <a:ext cx="7570987" cy="6042931"/>
            <a:chOff x="2310507" y="313419"/>
            <a:chExt cx="7570987" cy="6042931"/>
          </a:xfrm>
        </p:grpSpPr>
        <p:grpSp>
          <p:nvGrpSpPr>
            <p:cNvPr id="61" name="Group 60"/>
            <p:cNvGrpSpPr/>
            <p:nvPr/>
          </p:nvGrpSpPr>
          <p:grpSpPr>
            <a:xfrm>
              <a:off x="2310507" y="313419"/>
              <a:ext cx="7570987" cy="6042931"/>
              <a:chOff x="1859055" y="400958"/>
              <a:chExt cx="7570987" cy="6042931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1859055" y="2653395"/>
                <a:ext cx="1265143" cy="904341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Natural Gas Imports</a:t>
                </a:r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1859055" y="1221118"/>
                <a:ext cx="1265143" cy="904341"/>
              </a:xfrm>
              <a:prstGeom prst="round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Natural Gas Production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 rot="2514107">
                <a:off x="2711182" y="696101"/>
                <a:ext cx="126136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Natural Gas</a:t>
                </a:r>
              </a:p>
            </p:txBody>
          </p:sp>
          <p:cxnSp>
            <p:nvCxnSpPr>
              <p:cNvPr id="12" name="Straight Connector 11"/>
              <p:cNvCxnSpPr/>
              <p:nvPr/>
            </p:nvCxnSpPr>
            <p:spPr>
              <a:xfrm>
                <a:off x="3476288" y="1093908"/>
                <a:ext cx="0" cy="5334101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947076" y="1093908"/>
                <a:ext cx="0" cy="534827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/>
              <p:cNvSpPr/>
              <p:nvPr/>
            </p:nvSpPr>
            <p:spPr>
              <a:xfrm>
                <a:off x="4352794" y="3123600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Wind</a:t>
                </a: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>
                <a:off x="5961593" y="2393123"/>
                <a:ext cx="637370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/>
              <p:cNvSpPr/>
              <p:nvPr/>
            </p:nvSpPr>
            <p:spPr>
              <a:xfrm>
                <a:off x="4352794" y="4200164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New CCGT/GT</a:t>
                </a:r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5634989" y="4504092"/>
                <a:ext cx="32660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endCxn id="16" idx="1"/>
              </p:cNvCxnSpPr>
              <p:nvPr/>
            </p:nvCxnSpPr>
            <p:spPr>
              <a:xfrm>
                <a:off x="3476288" y="4499174"/>
                <a:ext cx="876506" cy="1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4352796" y="1093908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Hydro run-of-river</a:t>
                </a: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352795" y="2125459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Hydro Dam</a:t>
                </a: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5623945" y="1388000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/>
              <p:nvPr/>
            </p:nvCxnSpPr>
            <p:spPr>
              <a:xfrm flipV="1">
                <a:off x="5634990" y="3404568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8367979" y="1093908"/>
                <a:ext cx="0" cy="532363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>
              <a:xfrm rot="2514107">
                <a:off x="7246820" y="579304"/>
                <a:ext cx="178661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Demand for electrified population</a:t>
                </a:r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605350" y="1093908"/>
                <a:ext cx="1265143" cy="904341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Transmission &amp; Distribution</a:t>
                </a: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 flipV="1">
                <a:off x="5614087" y="2398743"/>
                <a:ext cx="326603" cy="4918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7870493" y="1546078"/>
                <a:ext cx="49748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7896074" y="4574376"/>
                <a:ext cx="966113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 28"/>
              <p:cNvSpPr/>
              <p:nvPr/>
            </p:nvSpPr>
            <p:spPr>
              <a:xfrm>
                <a:off x="6605350" y="3180724"/>
                <a:ext cx="1265143" cy="797461"/>
              </a:xfrm>
              <a:prstGeom prst="rect">
                <a:avLst/>
              </a:prstGeom>
              <a:noFill/>
              <a:ln w="25400">
                <a:solidFill>
                  <a:srgbClr val="F5EA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Dist. Solar PV</a:t>
                </a:r>
              </a:p>
            </p:txBody>
          </p:sp>
          <p:cxnSp>
            <p:nvCxnSpPr>
              <p:cNvPr id="30" name="Straight Arrow Connector 29"/>
              <p:cNvCxnSpPr/>
              <p:nvPr/>
            </p:nvCxnSpPr>
            <p:spPr>
              <a:xfrm>
                <a:off x="7885973" y="3579454"/>
                <a:ext cx="976214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Rectangle 30"/>
              <p:cNvSpPr/>
              <p:nvPr/>
            </p:nvSpPr>
            <p:spPr>
              <a:xfrm>
                <a:off x="6605350" y="4175646"/>
                <a:ext cx="1265143" cy="797461"/>
              </a:xfrm>
              <a:prstGeom prst="rect">
                <a:avLst/>
              </a:prstGeom>
              <a:noFill/>
              <a:ln w="25400">
                <a:solidFill>
                  <a:srgbClr val="F5EA1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Dist. Solar PV with battery</a:t>
                </a:r>
              </a:p>
            </p:txBody>
          </p:sp>
          <p:cxnSp>
            <p:nvCxnSpPr>
              <p:cNvPr id="32" name="Straight Connector 31"/>
              <p:cNvCxnSpPr/>
              <p:nvPr/>
            </p:nvCxnSpPr>
            <p:spPr>
              <a:xfrm>
                <a:off x="8863279" y="1093908"/>
                <a:ext cx="0" cy="533410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ounded Rectangle 32"/>
              <p:cNvSpPr/>
              <p:nvPr/>
            </p:nvSpPr>
            <p:spPr>
              <a:xfrm>
                <a:off x="6605350" y="2114299"/>
                <a:ext cx="1265143" cy="904341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Grid Expansion</a:t>
                </a:r>
              </a:p>
            </p:txBody>
          </p:sp>
          <p:cxnSp>
            <p:nvCxnSpPr>
              <p:cNvPr id="34" name="Straight Arrow Connector 33"/>
              <p:cNvCxnSpPr/>
              <p:nvPr/>
            </p:nvCxnSpPr>
            <p:spPr>
              <a:xfrm flipV="1">
                <a:off x="5961593" y="1388000"/>
                <a:ext cx="640286" cy="4216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Arrow Connector 34"/>
              <p:cNvCxnSpPr/>
              <p:nvPr/>
            </p:nvCxnSpPr>
            <p:spPr>
              <a:xfrm>
                <a:off x="7871586" y="2566469"/>
                <a:ext cx="992786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/>
              <p:cNvSpPr txBox="1"/>
              <p:nvPr/>
            </p:nvSpPr>
            <p:spPr>
              <a:xfrm rot="2514107">
                <a:off x="8200163" y="400958"/>
                <a:ext cx="1229879" cy="601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Demand for future connections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605350" y="5129934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Backstop 1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6605349" y="5845868"/>
                <a:ext cx="1265143" cy="59802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400" b="1" dirty="0">
                    <a:solidFill>
                      <a:schemeClr val="tx1"/>
                    </a:solidFill>
                  </a:rPr>
                  <a:t>Backstop 2</a:t>
                </a:r>
              </a:p>
            </p:txBody>
          </p:sp>
          <p:cxnSp>
            <p:nvCxnSpPr>
              <p:cNvPr id="39" name="Straight Arrow Connector 38"/>
              <p:cNvCxnSpPr/>
              <p:nvPr/>
            </p:nvCxnSpPr>
            <p:spPr>
              <a:xfrm>
                <a:off x="7917551" y="5415103"/>
                <a:ext cx="448241" cy="0"/>
              </a:xfrm>
              <a:prstGeom prst="straightConnector1">
                <a:avLst/>
              </a:prstGeom>
              <a:ln w="25400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>
              <a:xfrm flipV="1">
                <a:off x="7917551" y="6137055"/>
                <a:ext cx="944636" cy="1"/>
              </a:xfrm>
              <a:prstGeom prst="straightConnector1">
                <a:avLst/>
              </a:prstGeom>
              <a:ln w="25400"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/>
              <p:cNvCxnSpPr/>
              <p:nvPr/>
            </p:nvCxnSpPr>
            <p:spPr>
              <a:xfrm>
                <a:off x="3131371" y="3105626"/>
                <a:ext cx="344917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/>
              <p:nvPr/>
            </p:nvCxnSpPr>
            <p:spPr>
              <a:xfrm>
                <a:off x="3124198" y="1673288"/>
                <a:ext cx="344917" cy="0"/>
              </a:xfrm>
              <a:prstGeom prst="straightConnector1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TextBox 42"/>
            <p:cNvSpPr txBox="1"/>
            <p:nvPr/>
          </p:nvSpPr>
          <p:spPr>
            <a:xfrm rot="2514107">
              <a:off x="5676663" y="598095"/>
              <a:ext cx="126136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Electricity</a:t>
              </a: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7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2310507" y="2565856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 Imports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10507" y="1133579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 Production</a:t>
            </a:r>
          </a:p>
        </p:txBody>
      </p:sp>
      <p:sp>
        <p:nvSpPr>
          <p:cNvPr id="11" name="TextBox 10"/>
          <p:cNvSpPr txBox="1"/>
          <p:nvPr/>
        </p:nvSpPr>
        <p:spPr>
          <a:xfrm rot="2514107">
            <a:off x="3162634" y="608562"/>
            <a:ext cx="126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Natural Gas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3927740" y="1006369"/>
            <a:ext cx="0" cy="5334101"/>
          </a:xfrm>
          <a:prstGeom prst="line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398528" y="1006369"/>
            <a:ext cx="0" cy="5348271"/>
          </a:xfrm>
          <a:prstGeom prst="line">
            <a:avLst/>
          </a:prstGeom>
          <a:ln w="25400">
            <a:solidFill>
              <a:schemeClr val="accent1">
                <a:shade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04246" y="3036061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Wind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13045" y="2305584"/>
            <a:ext cx="637370" cy="0"/>
          </a:xfrm>
          <a:prstGeom prst="straightConnector1">
            <a:avLst/>
          </a:prstGeom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804246" y="4112625"/>
            <a:ext cx="1265143" cy="598021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New CCGT/GT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086441" y="4416553"/>
            <a:ext cx="326604" cy="0"/>
          </a:xfrm>
          <a:prstGeom prst="straightConnector1">
            <a:avLst/>
          </a:prstGeom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16" idx="1"/>
          </p:cNvCxnSpPr>
          <p:nvPr/>
        </p:nvCxnSpPr>
        <p:spPr>
          <a:xfrm>
            <a:off x="3927740" y="4411635"/>
            <a:ext cx="876506" cy="1"/>
          </a:xfrm>
          <a:prstGeom prst="straightConnector1">
            <a:avLst/>
          </a:prstGeom>
          <a:ln w="2540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804248" y="1006369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run-of-river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4247" y="2037920"/>
            <a:ext cx="1265143" cy="59802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Hydro Dam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075397" y="1300461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6086442" y="3317029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8819431" y="1006369"/>
            <a:ext cx="0" cy="5323638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 rot="2514107">
            <a:off x="7698272" y="491765"/>
            <a:ext cx="17866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2">
                    <a:lumMod val="75000"/>
                  </a:schemeClr>
                </a:solidFill>
              </a:rPr>
              <a:t>Demand for electrified population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56802" y="1006369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Transmission &amp; Distribution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flipV="1">
            <a:off x="6065539" y="2311204"/>
            <a:ext cx="326603" cy="4918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8321945" y="1458539"/>
            <a:ext cx="497486" cy="0"/>
          </a:xfrm>
          <a:prstGeom prst="straightConnector1">
            <a:avLst/>
          </a:prstGeom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347526" y="4486837"/>
            <a:ext cx="966113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056802" y="3093185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8337425" y="3491915"/>
            <a:ext cx="976214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056802" y="4088107"/>
            <a:ext cx="1265143" cy="797461"/>
          </a:xfrm>
          <a:prstGeom prst="rect">
            <a:avLst/>
          </a:prstGeom>
          <a:noFill/>
          <a:ln w="25400">
            <a:solidFill>
              <a:schemeClr val="accent1">
                <a:shade val="50000"/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Dist. Solar PV with battery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9314731" y="1006369"/>
            <a:ext cx="0" cy="5334101"/>
          </a:xfrm>
          <a:prstGeom prst="line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056802" y="2026760"/>
            <a:ext cx="1265143" cy="904341"/>
          </a:xfrm>
          <a:prstGeom prst="roundRect">
            <a:avLst/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Grid Expansion</a:t>
            </a:r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6413045" y="1300461"/>
            <a:ext cx="640286" cy="4216"/>
          </a:xfrm>
          <a:prstGeom prst="straightConnector1">
            <a:avLst/>
          </a:prstGeom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8323038" y="2478930"/>
            <a:ext cx="992786" cy="0"/>
          </a:xfrm>
          <a:prstGeom prst="straightConnector1">
            <a:avLst/>
          </a:prstGeom>
          <a:ln w="25400">
            <a:solidFill>
              <a:schemeClr val="accent1">
                <a:shade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2514107">
            <a:off x="8651615" y="313419"/>
            <a:ext cx="1229879" cy="60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>
                <a:solidFill>
                  <a:schemeClr val="bg2">
                    <a:lumMod val="75000"/>
                  </a:schemeClr>
                </a:solidFill>
              </a:rPr>
              <a:t>Demand for future connections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56802" y="5042395"/>
            <a:ext cx="1265143" cy="598021"/>
          </a:xfrm>
          <a:prstGeom prst="rect">
            <a:avLst/>
          </a:prstGeom>
          <a:noFill/>
          <a:ln w="25400">
            <a:solidFill>
              <a:schemeClr val="bg1">
                <a:lumMod val="50000"/>
                <a:alpha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Backstop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6801" y="5758329"/>
            <a:ext cx="1265143" cy="598021"/>
          </a:xfrm>
          <a:prstGeom prst="rect">
            <a:avLst/>
          </a:prstGeom>
          <a:noFill/>
          <a:ln w="25400">
            <a:solidFill>
              <a:schemeClr val="bg1">
                <a:lumMod val="50000"/>
                <a:alpha val="2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bg2">
                    <a:lumMod val="75000"/>
                  </a:schemeClr>
                </a:solidFill>
              </a:rPr>
              <a:t>Backstop 2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8369003" y="5327564"/>
            <a:ext cx="448241" cy="0"/>
          </a:xfrm>
          <a:prstGeom prst="straightConnector1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V="1">
            <a:off x="8369003" y="6049516"/>
            <a:ext cx="944636" cy="1"/>
          </a:xfrm>
          <a:prstGeom prst="straightConnector1">
            <a:avLst/>
          </a:prstGeom>
          <a:ln w="25400">
            <a:solidFill>
              <a:schemeClr val="bg1">
                <a:lumMod val="50000"/>
                <a:alpha val="2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582823" y="3018087"/>
            <a:ext cx="344917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75650" y="1585749"/>
            <a:ext cx="344917" cy="0"/>
          </a:xfrm>
          <a:prstGeom prst="straightConnector1">
            <a:avLst/>
          </a:prstGeom>
          <a:ln w="25400">
            <a:solidFill>
              <a:schemeClr val="accent1">
                <a:shade val="50000"/>
                <a:alpha val="2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2514107">
            <a:off x="5676663" y="598095"/>
            <a:ext cx="1261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/>
              <a:t>Electricity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19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start by creating a new FUEL called </a:t>
            </a:r>
            <a:r>
              <a:rPr lang="en-US" b="1" dirty="0"/>
              <a:t>SEC_EL </a:t>
            </a:r>
            <a:r>
              <a:rPr lang="en-US" dirty="0"/>
              <a:t>(for electricity that gets generated by power plants).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Snapshot required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4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22"/>
          <a:stretch/>
        </p:blipFill>
        <p:spPr>
          <a:xfrm>
            <a:off x="484450" y="2735502"/>
            <a:ext cx="9497750" cy="3213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Oval 9"/>
          <p:cNvSpPr/>
          <p:nvPr/>
        </p:nvSpPr>
        <p:spPr>
          <a:xfrm>
            <a:off x="5761704" y="5073447"/>
            <a:ext cx="1032387" cy="37362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" r="22322" b="16448"/>
          <a:stretch/>
        </p:blipFill>
        <p:spPr>
          <a:xfrm>
            <a:off x="5070924" y="2577176"/>
            <a:ext cx="6567800" cy="3693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an electricity supply model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4932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5411"/>
            <a:ext cx="10515600" cy="4911555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/>
              <a:t>We continue to create a TECHNOLOGY called </a:t>
            </a:r>
            <a:r>
              <a:rPr lang="en-US" sz="2400" b="1" dirty="0"/>
              <a:t>NGCC </a:t>
            </a:r>
            <a:r>
              <a:rPr lang="en-US" sz="2400" dirty="0"/>
              <a:t>(i.e. natural gas combined cycle).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US" sz="2400" dirty="0"/>
              <a:t>The following parameters are taken into account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InputActivityRatio</a:t>
            </a:r>
            <a:r>
              <a:rPr lang="en-US" sz="2400" i="1" dirty="0"/>
              <a:t>: </a:t>
            </a:r>
            <a:r>
              <a:rPr lang="en-US" sz="2400" dirty="0"/>
              <a:t>defines the rate of fuel consumed (i.e. Gas)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OutputActivityRatio</a:t>
            </a:r>
            <a:r>
              <a:rPr lang="en-US" sz="2400" i="1" dirty="0"/>
              <a:t>: </a:t>
            </a:r>
            <a:r>
              <a:rPr lang="en-US" sz="2400" dirty="0"/>
              <a:t>defines the rate of fuel provided (i.e. Electricity)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FixedCost</a:t>
            </a:r>
            <a:r>
              <a:rPr lang="en-US" sz="2400" dirty="0"/>
              <a:t>: defines the fixed Operation &amp; Maintenance cost ($M/GW or $/kW)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CapitalCost</a:t>
            </a:r>
            <a:r>
              <a:rPr lang="en-US" sz="2400" i="1" dirty="0"/>
              <a:t>: </a:t>
            </a:r>
            <a:r>
              <a:rPr lang="en-US" sz="2400" dirty="0"/>
              <a:t>defines the overnight investment cost of the plant ($M/GW or $/kW)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OperationalLife</a:t>
            </a:r>
            <a:r>
              <a:rPr lang="en-US" sz="2400" dirty="0"/>
              <a:t>: defines the lifetime of the technology (in years)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ResidualCapacity</a:t>
            </a:r>
            <a:r>
              <a:rPr lang="en-US" sz="2400" dirty="0"/>
              <a:t>: defines the existing capacity of the technology (in GW) and its expected decommissioning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i="1" dirty="0" err="1"/>
              <a:t>CapacitytoActivityUnit</a:t>
            </a:r>
            <a:r>
              <a:rPr lang="en-US" sz="2400" dirty="0"/>
              <a:t>: defines how much activity can occur by one unit of capacity in one year (in this case we are using GW for capacity and PJ for energy, thus 1 GW can provide 31.536 PJ annually)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thermal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258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0066"/>
            <a:ext cx="10515600" cy="4316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NGCC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InputActivityRatio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Gas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94763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1.992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018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38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NGCC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OutputActivityRatio</a:t>
            </a:r>
            <a:r>
              <a:rPr lang="en-US" i="1" dirty="0"/>
              <a:t>: </a:t>
            </a:r>
            <a:r>
              <a:rPr lang="en-US" dirty="0"/>
              <a:t>Choose the </a:t>
            </a:r>
            <a:r>
              <a:rPr lang="en-US" b="1" dirty="0"/>
              <a:t>SEC_EL</a:t>
            </a:r>
            <a:r>
              <a:rPr lang="en-US" dirty="0"/>
              <a:t> fuel and insert the following for mode of operation 1.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Note that Input/</a:t>
            </a:r>
            <a:r>
              <a:rPr lang="en-US" dirty="0" err="1"/>
              <a:t>OutputActivityRatio</a:t>
            </a:r>
            <a:r>
              <a:rPr lang="en-US" dirty="0"/>
              <a:t> define efficiency: </a:t>
            </a:r>
            <a:r>
              <a:rPr lang="en-US" i="1" dirty="0"/>
              <a:t>50.2%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038813"/>
              </p:ext>
            </p:extLst>
          </p:nvPr>
        </p:nvGraphicFramePr>
        <p:xfrm>
          <a:off x="2237011" y="339634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u="none" strike="noStrike" dirty="0">
                          <a:effectLst/>
                        </a:rPr>
                        <a:t>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784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9433"/>
            <a:ext cx="10515600" cy="4327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NGCC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FixedCost</a:t>
            </a:r>
            <a:r>
              <a:rPr lang="en-US" i="1" dirty="0"/>
              <a:t>: </a:t>
            </a:r>
            <a:r>
              <a:rPr lang="en-US" dirty="0"/>
              <a:t>Insert the following.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19661"/>
              </p:ext>
            </p:extLst>
          </p:nvPr>
        </p:nvGraphicFramePr>
        <p:xfrm>
          <a:off x="2525268" y="3066731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44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143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0065"/>
            <a:ext cx="10515600" cy="4316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NGCC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ResidualCapacity</a:t>
            </a:r>
            <a:r>
              <a:rPr lang="en-US" i="1" dirty="0"/>
              <a:t>: </a:t>
            </a:r>
            <a:r>
              <a:rPr lang="en-US" dirty="0"/>
              <a:t>Insert the following.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692895"/>
              </p:ext>
            </p:extLst>
          </p:nvPr>
        </p:nvGraphicFramePr>
        <p:xfrm>
          <a:off x="2525268" y="3063127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0.55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934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515601" cy="4530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the </a:t>
            </a:r>
            <a:r>
              <a:rPr lang="en-US" b="1" dirty="0"/>
              <a:t>NGCC </a:t>
            </a:r>
            <a:r>
              <a:rPr lang="en-US" dirty="0"/>
              <a:t>technology, let’s define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i="1" dirty="0" err="1"/>
              <a:t>CapitalCost</a:t>
            </a:r>
            <a:r>
              <a:rPr lang="en-US" i="1" dirty="0"/>
              <a:t>: </a:t>
            </a:r>
            <a:r>
              <a:rPr lang="en-US" dirty="0"/>
              <a:t>Insert the following values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i="1" dirty="0" err="1"/>
              <a:t>OperationalLife</a:t>
            </a:r>
            <a:r>
              <a:rPr lang="en-US" dirty="0"/>
              <a:t> can be set to </a:t>
            </a:r>
            <a:r>
              <a:rPr lang="en-US" b="1" dirty="0"/>
              <a:t>30 </a:t>
            </a:r>
            <a:r>
              <a:rPr lang="en-US" dirty="0"/>
              <a:t>years, while the </a:t>
            </a:r>
            <a:r>
              <a:rPr lang="en-US" dirty="0" err="1"/>
              <a:t>CapacitytoActivityUnit</a:t>
            </a:r>
            <a:r>
              <a:rPr lang="en-US" dirty="0"/>
              <a:t> can be set to </a:t>
            </a:r>
            <a:r>
              <a:rPr lang="en-US" b="1" dirty="0"/>
              <a:t>31.536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4DE5B-D266-47DA-B86B-5B95BCF9A6FB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476190"/>
              </p:ext>
            </p:extLst>
          </p:nvPr>
        </p:nvGraphicFramePr>
        <p:xfrm>
          <a:off x="2525268" y="2975517"/>
          <a:ext cx="6890660" cy="19757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89066">
                  <a:extLst>
                    <a:ext uri="{9D8B030D-6E8A-4147-A177-3AD203B41FA5}">
                      <a16:colId xmlns:a16="http://schemas.microsoft.com/office/drawing/2014/main" val="251633114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238521812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78876647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708216668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367267107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92625901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1884341465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580660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000172969"/>
                    </a:ext>
                  </a:extLst>
                </a:gridCol>
                <a:gridCol w="689066">
                  <a:extLst>
                    <a:ext uri="{9D8B030D-6E8A-4147-A177-3AD203B41FA5}">
                      <a16:colId xmlns:a16="http://schemas.microsoft.com/office/drawing/2014/main" val="2684741450"/>
                    </a:ext>
                  </a:extLst>
                </a:gridCol>
              </a:tblGrid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2019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1432102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9624309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2028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2029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>
                          <a:effectLst/>
                        </a:rPr>
                        <a:t>2030</a:t>
                      </a:r>
                      <a:endParaRPr lang="sv-SE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2031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7475070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6236861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2032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2033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2034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2035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2036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2037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2038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2039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b="1" u="none" strike="noStrike" dirty="0">
                          <a:effectLst/>
                        </a:rPr>
                        <a:t>2040</a:t>
                      </a:r>
                      <a:endParaRPr lang="sv-SE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3048678"/>
                  </a:ext>
                </a:extLst>
              </a:tr>
              <a:tr h="329293">
                <a:tc>
                  <a:txBody>
                    <a:bodyPr/>
                    <a:lstStyle/>
                    <a:p>
                      <a:pPr algn="l" fontAlgn="b"/>
                      <a:r>
                        <a:rPr lang="sv-SE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NGCC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sv-SE" sz="1800" u="none" strike="noStrike" dirty="0">
                          <a:effectLst/>
                        </a:rPr>
                        <a:t>1100</a:t>
                      </a:r>
                      <a:endParaRPr lang="sv-SE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4660019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03/2019</a:t>
            </a:r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characteristics of the power plant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1978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0" rIns="91440" bIns="0" rtlCol="0" anchor="t">
        <a:normAutofit fontScale="92500" lnSpcReduction="10000"/>
      </a:bodyPr>
      <a:lstStyle>
        <a:defPPr marL="457200" indent="0">
          <a:defRPr sz="3000" b="1" spc="-150" dirty="0" smtClean="0">
            <a:solidFill>
              <a:schemeClr val="bg2">
                <a:lumMod val="50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KTH-OpTIMUS-DFID" id="{5B0E6882-3D47-487F-9878-64227690030B}" vid="{2A92E980-5079-4447-B359-7EDBAAF287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OSeMOSYS_dESA_OpTIMUS</Template>
  <TotalTime>10553</TotalTime>
  <Words>823</Words>
  <Application>Microsoft Office PowerPoint</Application>
  <PresentationFormat>Widescreen</PresentationFormat>
  <Paragraphs>387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KTH-OpTIMUS-DFID</vt:lpstr>
      <vt:lpstr>Exercise - Learning Objectives</vt:lpstr>
      <vt:lpstr>PowerPoint Presentation</vt:lpstr>
      <vt:lpstr>PowerPoint Presentation</vt:lpstr>
      <vt:lpstr>Building an electricity supply model</vt:lpstr>
      <vt:lpstr>Defining a thermal power plant</vt:lpstr>
      <vt:lpstr>Defining characteristics of the power plant</vt:lpstr>
      <vt:lpstr>Defining characteristics of the power plant</vt:lpstr>
      <vt:lpstr>Defining characteristics of the power plant</vt:lpstr>
      <vt:lpstr>Defining characteristics of the power plant</vt:lpstr>
      <vt:lpstr>Defining characteristics of the power plant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Ioannis Pappis</dc:creator>
  <cp:lastModifiedBy>Francesco Gardumi</cp:lastModifiedBy>
  <cp:revision>167</cp:revision>
  <dcterms:created xsi:type="dcterms:W3CDTF">2017-06-07T13:22:49Z</dcterms:created>
  <dcterms:modified xsi:type="dcterms:W3CDTF">2020-04-03T11:25:18Z</dcterms:modified>
</cp:coreProperties>
</file>