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3"/>
  </p:notesMasterIdLst>
  <p:handoutMasterIdLst>
    <p:handoutMasterId r:id="rId4"/>
  </p:handoutMasterIdLst>
  <p:sldIdLst>
    <p:sldId id="28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oannis Pappis" initials="IP" lastIdx="1" clrIdx="0">
    <p:extLst>
      <p:ext uri="{19B8F6BF-5375-455C-9EA6-DF929625EA0E}">
        <p15:presenceInfo xmlns:p15="http://schemas.microsoft.com/office/powerpoint/2012/main" userId="S-1-5-21-4270984560-2697355171-1338322823-717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39" autoAdjust="0"/>
    <p:restoredTop sz="84902" autoAdjust="0"/>
  </p:normalViewPr>
  <p:slideViewPr>
    <p:cSldViewPr snapToGrid="0">
      <p:cViewPr varScale="1">
        <p:scale>
          <a:sx n="100" d="100"/>
          <a:sy n="100" d="100"/>
        </p:scale>
        <p:origin x="1308" y="5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5F4390-4F06-4AC1-A02F-F9827C930455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F50F8-7C6A-40E2-ACF6-24EB82F40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690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BBFCB-AF14-4840-A42D-4BE299CC3B6F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1B068-BE6A-4C82-9505-14C84DEFD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570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/4.0/" TargetMode="External"/><Relationship Id="rId2" Type="http://schemas.openxmlformats.org/officeDocument/2006/relationships/hyperlink" Target="http://www.optimus.community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858963"/>
            <a:ext cx="10515600" cy="188369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80884"/>
            <a:ext cx="9144000" cy="1881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s-BO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38199" y="6085489"/>
            <a:ext cx="10515601" cy="163293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algn="l" fontAlgn="ctr"/>
            <a:r>
              <a:rPr lang="en-US" sz="1000" dirty="0"/>
              <a:t>This work by </a:t>
            </a:r>
            <a:r>
              <a:rPr lang="en-US" sz="1000" dirty="0" err="1">
                <a:hlinkClick r:id="rId2"/>
              </a:rPr>
              <a:t>OpTIMUS.community</a:t>
            </a:r>
            <a:r>
              <a:rPr lang="en-US" sz="1000" dirty="0"/>
              <a:t> is licensed under the Creative Commons Attribution 4.0 International License. To view a copy of this license, visit </a:t>
            </a:r>
            <a:r>
              <a:rPr lang="en-US" sz="1000" dirty="0">
                <a:hlinkClick r:id="rId3"/>
              </a:rPr>
              <a:t>http://creativecommons.org/licenses/by/4.0/</a:t>
            </a:r>
            <a:r>
              <a:rPr lang="en-US" sz="1000" dirty="0"/>
              <a:t>.</a:t>
            </a:r>
            <a:endParaRPr lang="sv-SE" sz="1000" b="1" spc="-15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8" name="Picture 7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491" y="6095649"/>
            <a:ext cx="437309" cy="153004"/>
          </a:xfrm>
          <a:prstGeom prst="rect">
            <a:avLst/>
          </a:prstGeom>
        </p:spPr>
      </p:pic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GB" smtClean="0"/>
              <a:t>03/2019</a:t>
            </a:r>
            <a:endParaRPr lang="en-GB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Energy Modelling Platform for Africa - 14-29 January 2019 University of Cape Town (South Africa)</a:t>
            </a:r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4687330" y="5257800"/>
            <a:ext cx="1837038" cy="418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3048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486868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ngelog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5744322"/>
              </p:ext>
            </p:extLst>
          </p:nvPr>
        </p:nvGraphicFramePr>
        <p:xfrm>
          <a:off x="838200" y="1616075"/>
          <a:ext cx="105156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083">
                  <a:extLst>
                    <a:ext uri="{9D8B030D-6E8A-4147-A177-3AD203B41FA5}">
                      <a16:colId xmlns:a16="http://schemas.microsoft.com/office/drawing/2014/main" val="46406547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760605769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954716314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3664904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Reviewer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Reviser</a:t>
                      </a:r>
                      <a:r>
                        <a:rPr lang="en-US" baseline="0" dirty="0"/>
                        <a:t> 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66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44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77502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8200" y="5397500"/>
            <a:ext cx="10515600" cy="851282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indent="0"/>
            <a:r>
              <a:rPr lang="sv-SE" i="1" dirty="0"/>
              <a:t>To </a:t>
            </a:r>
            <a:r>
              <a:rPr lang="sv-SE" i="1" dirty="0" err="1"/>
              <a:t>correctly</a:t>
            </a:r>
            <a:r>
              <a:rPr lang="sv-SE" i="1" dirty="0"/>
              <a:t> </a:t>
            </a:r>
            <a:r>
              <a:rPr lang="sv-SE" i="1" dirty="0" err="1"/>
              <a:t>reference</a:t>
            </a:r>
            <a:r>
              <a:rPr lang="sv-SE" i="1" dirty="0"/>
              <a:t> </a:t>
            </a:r>
            <a:r>
              <a:rPr lang="sv-SE" i="1" dirty="0" err="1"/>
              <a:t>this</a:t>
            </a:r>
            <a:r>
              <a:rPr lang="sv-SE" i="1" dirty="0"/>
              <a:t> </a:t>
            </a:r>
            <a:r>
              <a:rPr lang="sv-SE" i="1" dirty="0" err="1"/>
              <a:t>work</a:t>
            </a:r>
            <a:r>
              <a:rPr lang="sv-SE" i="1" dirty="0"/>
              <a:t>, </a:t>
            </a:r>
            <a:r>
              <a:rPr lang="sv-SE" i="1" dirty="0" err="1"/>
              <a:t>please</a:t>
            </a:r>
            <a:r>
              <a:rPr lang="sv-SE" i="1" dirty="0"/>
              <a:t> </a:t>
            </a:r>
            <a:r>
              <a:rPr lang="sv-SE" i="1" dirty="0" err="1"/>
              <a:t>use</a:t>
            </a:r>
            <a:r>
              <a:rPr lang="sv-SE" i="1" dirty="0"/>
              <a:t> the </a:t>
            </a:r>
            <a:r>
              <a:rPr lang="sv-SE" i="1" dirty="0" err="1"/>
              <a:t>following</a:t>
            </a:r>
            <a:r>
              <a:rPr lang="sv-SE" i="1" dirty="0"/>
              <a:t>: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GB" smtClean="0"/>
              <a:t>03/2019</a:t>
            </a:r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  <a:endParaRPr lang="fr-FR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320071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123768" y="372221"/>
            <a:ext cx="9230032" cy="66950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2123768" y="1051561"/>
            <a:ext cx="9230032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4747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9534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1466973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23768" y="372221"/>
            <a:ext cx="9230032" cy="66950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2123768" y="1051561"/>
            <a:ext cx="9230032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791776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18488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09087"/>
            <a:ext cx="5157787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18488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609087"/>
            <a:ext cx="5183188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390294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298238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54FD95-88D0-4DB5-B651-B4B585AE496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1201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4056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98727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646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95837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18401252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4132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FFFFFF"/>
            </a:gs>
            <a:gs pos="69000">
              <a:srgbClr val="FDFDFD"/>
            </a:gs>
            <a:gs pos="100000">
              <a:schemeClr val="bg2">
                <a:alpha val="50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838200" y="6323905"/>
            <a:ext cx="10515600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0" t="11650" r="6449" b="15113"/>
          <a:stretch/>
        </p:blipFill>
        <p:spPr>
          <a:xfrm>
            <a:off x="906186" y="1041144"/>
            <a:ext cx="1158284" cy="3498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56647"/>
            <a:ext cx="1294256" cy="51091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4628" y="364808"/>
            <a:ext cx="619172" cy="61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754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spc="-15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spc="-15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spc="-15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4592548"/>
            <a:ext cx="10515600" cy="1763801"/>
          </a:xfrm>
        </p:spPr>
        <p:txBody>
          <a:bodyPr anchor="b">
            <a:noAutofit/>
          </a:bodyPr>
          <a:lstStyle/>
          <a:p>
            <a:pPr>
              <a:spcBef>
                <a:spcPts val="400"/>
              </a:spcBef>
            </a:pPr>
            <a:r>
              <a:rPr lang="sv-SE" sz="2000" i="1" dirty="0"/>
              <a:t>To </a:t>
            </a:r>
            <a:r>
              <a:rPr lang="sv-SE" sz="2000" i="1" dirty="0" err="1"/>
              <a:t>correctly</a:t>
            </a:r>
            <a:r>
              <a:rPr lang="sv-SE" sz="2000" i="1" dirty="0"/>
              <a:t> </a:t>
            </a:r>
            <a:r>
              <a:rPr lang="sv-SE" sz="2000" i="1" dirty="0" err="1"/>
              <a:t>reference</a:t>
            </a:r>
            <a:r>
              <a:rPr lang="sv-SE" sz="2000" i="1" dirty="0"/>
              <a:t> </a:t>
            </a:r>
            <a:r>
              <a:rPr lang="sv-SE" sz="2000" i="1" dirty="0" err="1"/>
              <a:t>this</a:t>
            </a:r>
            <a:r>
              <a:rPr lang="sv-SE" sz="2000" i="1" dirty="0"/>
              <a:t> </a:t>
            </a:r>
            <a:r>
              <a:rPr lang="sv-SE" sz="2000" i="1" dirty="0" err="1"/>
              <a:t>work</a:t>
            </a:r>
            <a:r>
              <a:rPr lang="sv-SE" sz="2000" i="1" dirty="0"/>
              <a:t>, </a:t>
            </a:r>
            <a:r>
              <a:rPr lang="sv-SE" sz="2000" i="1" dirty="0" err="1"/>
              <a:t>please</a:t>
            </a:r>
            <a:r>
              <a:rPr lang="sv-SE" sz="2000" i="1" dirty="0"/>
              <a:t> </a:t>
            </a:r>
            <a:r>
              <a:rPr lang="sv-SE" sz="2000" i="1" dirty="0" err="1"/>
              <a:t>use</a:t>
            </a:r>
            <a:r>
              <a:rPr lang="sv-SE" sz="2000" i="1" dirty="0"/>
              <a:t> the </a:t>
            </a:r>
            <a:r>
              <a:rPr lang="sv-SE" sz="2000" i="1" dirty="0" err="1"/>
              <a:t>following</a:t>
            </a:r>
            <a:r>
              <a:rPr lang="sv-SE" sz="2000" i="1" dirty="0"/>
              <a:t>:</a:t>
            </a:r>
          </a:p>
          <a:p>
            <a:pPr>
              <a:spcBef>
                <a:spcPts val="400"/>
              </a:spcBef>
            </a:pPr>
            <a:r>
              <a:rPr lang="sv-SE" sz="2000" dirty="0"/>
              <a:t>Taliotis, C., Gardumi, F., Shivakumar, A., Sridharan, V., Ramos, E., Beltramo, </a:t>
            </a:r>
            <a:r>
              <a:rPr lang="sv-SE" sz="2000" dirty="0" smtClean="0"/>
              <a:t>A., Henke, H., </a:t>
            </a:r>
            <a:r>
              <a:rPr lang="sv-SE" sz="2000" dirty="0" err="1"/>
              <a:t>Rogner</a:t>
            </a:r>
            <a:r>
              <a:rPr lang="sv-SE" sz="2000" dirty="0"/>
              <a:t>, H., Howells, M., </a:t>
            </a:r>
            <a:r>
              <a:rPr lang="sv-SE" sz="2000" dirty="0" smtClean="0"/>
              <a:t>2019. </a:t>
            </a:r>
            <a:r>
              <a:rPr lang="en-US" sz="2000" i="1" dirty="0">
                <a:cs typeface="Helvetica" panose="020B0604020202020204" pitchFamily="34" charset="0"/>
              </a:rPr>
              <a:t>Emissions representation in </a:t>
            </a:r>
            <a:r>
              <a:rPr lang="en-US" sz="2000" i="1" dirty="0" err="1">
                <a:cs typeface="Helvetica" panose="020B0604020202020204" pitchFamily="34" charset="0"/>
              </a:rPr>
              <a:t>OSeMOSYS</a:t>
            </a:r>
            <a:r>
              <a:rPr lang="sv-SE" sz="2000" dirty="0" smtClean="0"/>
              <a:t>, KTH-</a:t>
            </a:r>
            <a:r>
              <a:rPr lang="sv-SE" sz="2000" dirty="0" err="1" smtClean="0"/>
              <a:t>dESA</a:t>
            </a:r>
            <a:r>
              <a:rPr lang="sv-SE" sz="2000" dirty="0" smtClean="0"/>
              <a:t> </a:t>
            </a:r>
            <a:r>
              <a:rPr lang="sv-SE" sz="2000" dirty="0"/>
              <a:t>and </a:t>
            </a:r>
            <a:r>
              <a:rPr lang="sv-SE" sz="2000" dirty="0" err="1"/>
              <a:t>OpTIMUS.community</a:t>
            </a:r>
            <a:r>
              <a:rPr lang="sv-SE" sz="2000" dirty="0"/>
              <a:t>. </a:t>
            </a:r>
          </a:p>
          <a:p>
            <a:pPr>
              <a:spcBef>
                <a:spcPts val="400"/>
              </a:spcBef>
            </a:pPr>
            <a:r>
              <a:rPr lang="sv-SE" sz="2000" dirty="0" err="1"/>
              <a:t>Available</a:t>
            </a:r>
            <a:r>
              <a:rPr lang="sv-SE" sz="2000" dirty="0"/>
              <a:t> at: (URL). [Access date]</a:t>
            </a:r>
            <a:endParaRPr lang="en-GB" sz="2000" dirty="0"/>
          </a:p>
          <a:p>
            <a:pPr>
              <a:spcBef>
                <a:spcPts val="400"/>
              </a:spcBef>
            </a:pPr>
            <a:r>
              <a:rPr lang="sv-SE" sz="2000" dirty="0"/>
              <a:t>DOI</a:t>
            </a:r>
            <a:r>
              <a:rPr lang="sv-SE" sz="2000" dirty="0" smtClean="0"/>
              <a:t>:</a:t>
            </a:r>
            <a:endParaRPr lang="sv-SE" sz="2000" dirty="0"/>
          </a:p>
        </p:txBody>
      </p:sp>
      <p:graphicFrame>
        <p:nvGraphicFramePr>
          <p:cNvPr id="5" name="Content Placeholder 8"/>
          <p:cNvGraphicFramePr>
            <a:graphicFrameLocks/>
          </p:cNvGraphicFramePr>
          <p:nvPr>
            <p:extLst/>
          </p:nvPr>
        </p:nvGraphicFramePr>
        <p:xfrm>
          <a:off x="838200" y="1616149"/>
          <a:ext cx="10515601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083">
                  <a:extLst>
                    <a:ext uri="{9D8B030D-6E8A-4147-A177-3AD203B41FA5}">
                      <a16:colId xmlns:a16="http://schemas.microsoft.com/office/drawing/2014/main" val="46406547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760605769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954716314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3664904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Reviewer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Reviser</a:t>
                      </a:r>
                      <a:r>
                        <a:rPr lang="en-US" baseline="0" dirty="0"/>
                        <a:t> 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66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2018-06-12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sz="1800" dirty="0"/>
                        <a:t>Taliotis, C., Gardumi, F., Shivakumar, A., Sridharan, V., Ramos, E., Beltramo, A., </a:t>
                      </a:r>
                      <a:r>
                        <a:rPr lang="sv-SE" sz="1800" dirty="0" err="1"/>
                        <a:t>Rogner</a:t>
                      </a:r>
                      <a:r>
                        <a:rPr lang="sv-SE" sz="1800" dirty="0"/>
                        <a:t>, H., Howells, M.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Howells, M., Beltramo, A.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baseline="0" dirty="0"/>
                        <a:t>Gardumi, F., Taliotis, C.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44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2019-03-04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sz="1800" dirty="0"/>
                        <a:t>Taliotis, C., Gardumi, F., Shivakumar, A., Sridharan, V., Ramos, E., Beltramo, A</a:t>
                      </a:r>
                      <a:r>
                        <a:rPr lang="sv-SE" sz="1800" dirty="0" smtClean="0"/>
                        <a:t>., Henke, H., </a:t>
                      </a:r>
                      <a:r>
                        <a:rPr lang="sv-SE" sz="1800" dirty="0" err="1"/>
                        <a:t>Rogner</a:t>
                      </a:r>
                      <a:r>
                        <a:rPr lang="sv-SE" sz="1800" dirty="0"/>
                        <a:t>, H., Howells, M.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Howells, M</a:t>
                      </a:r>
                      <a:r>
                        <a:rPr lang="en-US" dirty="0" smtClean="0"/>
                        <a:t>.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baseline="0" dirty="0" smtClean="0"/>
                        <a:t>Beltramo, A., Henke, H.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775028"/>
                  </a:ext>
                </a:extLst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1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Changelog</a:t>
            </a:r>
            <a:r>
              <a:rPr lang="fr-FR" dirty="0"/>
              <a:t> and Attribution</a:t>
            </a:r>
          </a:p>
        </p:txBody>
      </p:sp>
    </p:spTree>
    <p:extLst>
      <p:ext uri="{BB962C8B-B14F-4D97-AF65-F5344CB8AC3E}">
        <p14:creationId xmlns:p14="http://schemas.microsoft.com/office/powerpoint/2010/main" val="1624576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KTH-OpTIMUS-DFI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0" rIns="91440" bIns="0" rtlCol="0" anchor="t">
        <a:normAutofit fontScale="92500" lnSpcReduction="10000"/>
      </a:bodyPr>
      <a:lstStyle>
        <a:defPPr marL="457200" indent="0">
          <a:defRPr sz="3000" b="1" spc="-150" dirty="0" smtClean="0">
            <a:solidFill>
              <a:schemeClr val="bg2">
                <a:lumMod val="50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KTH-OpTIMUS-DFID" id="{5B0E6882-3D47-487F-9878-64227690030B}" vid="{2A92E980-5079-4447-B359-7EDBAAF287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7144</TotalTime>
  <Words>177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</vt:lpstr>
      <vt:lpstr>KTH-OpTIMUS-DFID</vt:lpstr>
      <vt:lpstr>Changelog and Attribution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Ioannis Pappis</dc:creator>
  <cp:lastModifiedBy>Francesco Gardumi</cp:lastModifiedBy>
  <cp:revision>162</cp:revision>
  <dcterms:created xsi:type="dcterms:W3CDTF">2017-06-07T13:22:49Z</dcterms:created>
  <dcterms:modified xsi:type="dcterms:W3CDTF">2020-04-02T17:06:37Z</dcterms:modified>
</cp:coreProperties>
</file>