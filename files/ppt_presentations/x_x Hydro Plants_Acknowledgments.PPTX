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3"/>
  </p:notesMasterIdLst>
  <p:handoutMasterIdLst>
    <p:handoutMasterId r:id="rId4"/>
  </p:handoutMasterIdLst>
  <p:sldIdLst>
    <p:sldId id="33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oannis Pappis" initials="IP" lastIdx="2" clrIdx="0">
    <p:extLst>
      <p:ext uri="{19B8F6BF-5375-455C-9EA6-DF929625EA0E}">
        <p15:presenceInfo xmlns:p15="http://schemas.microsoft.com/office/powerpoint/2012/main" userId="S-1-5-21-4270984560-2697355171-1338322823-7175" providerId="AD"/>
      </p:ext>
    </p:extLst>
  </p:cmAuthor>
  <p:cmAuthor id="2" name="Agnese Beltramo" initials="AB" lastIdx="1" clrIdx="1">
    <p:extLst>
      <p:ext uri="{19B8F6BF-5375-455C-9EA6-DF929625EA0E}">
        <p15:presenceInfo xmlns:p15="http://schemas.microsoft.com/office/powerpoint/2012/main" userId="S-1-5-21-4270984560-2697355171-1338322823-6860" providerId="AD"/>
      </p:ext>
    </p:extLst>
  </p:cmAuthor>
  <p:cmAuthor id="3" name="Youssef Almulla" initials="YA" lastIdx="25" clrIdx="2">
    <p:extLst>
      <p:ext uri="{19B8F6BF-5375-455C-9EA6-DF929625EA0E}">
        <p15:presenceInfo xmlns:p15="http://schemas.microsoft.com/office/powerpoint/2012/main" userId="50222d39666882b0" providerId="Windows Live"/>
      </p:ext>
    </p:extLst>
  </p:cmAuthor>
  <p:cmAuthor id="4" name="Hauke Henke" initials="HH" lastIdx="2" clrIdx="3">
    <p:extLst>
      <p:ext uri="{19B8F6BF-5375-455C-9EA6-DF929625EA0E}">
        <p15:presenceInfo xmlns:p15="http://schemas.microsoft.com/office/powerpoint/2012/main" userId="S-1-5-21-1948194976-2510558922-1916008050-104879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58" autoAdjust="0"/>
    <p:restoredTop sz="68605" autoAdjust="0"/>
  </p:normalViewPr>
  <p:slideViewPr>
    <p:cSldViewPr snapToGrid="0">
      <p:cViewPr varScale="1">
        <p:scale>
          <a:sx n="81" d="100"/>
          <a:sy n="81" d="100"/>
        </p:scale>
        <p:origin x="1560" y="5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sv-SE" smtClean="0"/>
              <a:t>04/2019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4420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sv-SE" smtClean="0">
                <a:solidFill>
                  <a:prstClr val="black">
                    <a:tint val="75000"/>
                  </a:prstClr>
                </a:solidFill>
              </a:rPr>
              <a:t>04/2019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608444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4603242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sv-SE" smtClean="0"/>
              <a:t>04/2019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fr-F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6007351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123090" y="382053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090" y="1051561"/>
            <a:ext cx="922020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sv-SE" smtClean="0">
                <a:solidFill>
                  <a:prstClr val="black">
                    <a:tint val="75000"/>
                  </a:prstClr>
                </a:solidFill>
              </a:rPr>
              <a:t>04/2019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70000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sv-SE" smtClean="0">
                <a:solidFill>
                  <a:prstClr val="black">
                    <a:tint val="75000"/>
                  </a:prstClr>
                </a:solidFill>
              </a:rPr>
              <a:t>04/2019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389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sv-SE" smtClean="0">
                <a:solidFill>
                  <a:prstClr val="black">
                    <a:tint val="75000"/>
                  </a:prstClr>
                </a:solidFill>
              </a:rPr>
              <a:t>04/2019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959303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sv-SE" smtClean="0">
                <a:solidFill>
                  <a:prstClr val="black">
                    <a:tint val="75000"/>
                  </a:prstClr>
                </a:solidFill>
              </a:rPr>
              <a:t>04/2019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23090" y="382053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090" y="1051561"/>
            <a:ext cx="922020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5764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sv-SE" smtClean="0">
                <a:solidFill>
                  <a:prstClr val="black">
                    <a:tint val="75000"/>
                  </a:prstClr>
                </a:solidFill>
              </a:rPr>
              <a:t>04/2019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3932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sv-SE" smtClean="0">
                <a:solidFill>
                  <a:prstClr val="black">
                    <a:tint val="75000"/>
                  </a:prstClr>
                </a:solidFill>
              </a:rPr>
              <a:t>04/2019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99979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sv-SE" smtClean="0">
                <a:solidFill>
                  <a:prstClr val="black">
                    <a:tint val="75000"/>
                  </a:prstClr>
                </a:solidFill>
              </a:rPr>
              <a:t>04/2019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63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sv-SE" smtClean="0">
                <a:solidFill>
                  <a:prstClr val="black">
                    <a:tint val="75000"/>
                  </a:prstClr>
                </a:solidFill>
              </a:rPr>
              <a:t>04/2019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171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sv-SE" smtClean="0">
                <a:solidFill>
                  <a:prstClr val="black">
                    <a:tint val="75000"/>
                  </a:prstClr>
                </a:solidFill>
              </a:rPr>
              <a:t>04/2019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531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sv-SE" smtClean="0">
                <a:solidFill>
                  <a:prstClr val="black">
                    <a:tint val="75000"/>
                  </a:prstClr>
                </a:solidFill>
              </a:rPr>
              <a:t>04/2019</a:t>
            </a: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Energy Modelling Platform for Africa - 14-29 January 2019 University of Cape Town (South Africa)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92A4DE5B-D266-47DA-B86B-5B95BCF9A6F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92147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6647"/>
            <a:ext cx="1294256" cy="5109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628" y="364808"/>
            <a:ext cx="619172" cy="61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756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4592548"/>
            <a:ext cx="10515600" cy="1763801"/>
          </a:xfrm>
        </p:spPr>
        <p:txBody>
          <a:bodyPr anchor="b">
            <a:noAutofit/>
          </a:bodyPr>
          <a:lstStyle/>
          <a:p>
            <a:pPr>
              <a:spcBef>
                <a:spcPts val="400"/>
              </a:spcBef>
            </a:pPr>
            <a:r>
              <a:rPr lang="sv-SE" sz="2000" i="1" dirty="0"/>
              <a:t>To </a:t>
            </a:r>
            <a:r>
              <a:rPr lang="sv-SE" sz="2000" i="1" dirty="0" err="1"/>
              <a:t>correctly</a:t>
            </a:r>
            <a:r>
              <a:rPr lang="sv-SE" sz="2000" i="1" dirty="0"/>
              <a:t> </a:t>
            </a:r>
            <a:r>
              <a:rPr lang="sv-SE" sz="2000" i="1" dirty="0" err="1"/>
              <a:t>reference</a:t>
            </a:r>
            <a:r>
              <a:rPr lang="sv-SE" sz="2000" i="1" dirty="0"/>
              <a:t> </a:t>
            </a:r>
            <a:r>
              <a:rPr lang="sv-SE" sz="2000" i="1" dirty="0" err="1"/>
              <a:t>this</a:t>
            </a:r>
            <a:r>
              <a:rPr lang="sv-SE" sz="2000" i="1" dirty="0"/>
              <a:t> </a:t>
            </a:r>
            <a:r>
              <a:rPr lang="sv-SE" sz="2000" i="1" dirty="0" err="1"/>
              <a:t>work</a:t>
            </a:r>
            <a:r>
              <a:rPr lang="sv-SE" sz="2000" i="1" dirty="0"/>
              <a:t>, </a:t>
            </a:r>
            <a:r>
              <a:rPr lang="sv-SE" sz="2000" i="1" dirty="0" err="1"/>
              <a:t>please</a:t>
            </a:r>
            <a:r>
              <a:rPr lang="sv-SE" sz="2000" i="1" dirty="0"/>
              <a:t> </a:t>
            </a:r>
            <a:r>
              <a:rPr lang="sv-SE" sz="2000" i="1" dirty="0" err="1"/>
              <a:t>use</a:t>
            </a:r>
            <a:r>
              <a:rPr lang="sv-SE" sz="2000" i="1" dirty="0"/>
              <a:t> the </a:t>
            </a:r>
            <a:r>
              <a:rPr lang="sv-SE" sz="2000" i="1" dirty="0" err="1"/>
              <a:t>following</a:t>
            </a:r>
            <a:r>
              <a:rPr lang="sv-SE" sz="2000" i="1" dirty="0"/>
              <a:t>:</a:t>
            </a:r>
          </a:p>
          <a:p>
            <a:pPr>
              <a:spcBef>
                <a:spcPts val="400"/>
              </a:spcBef>
            </a:pPr>
            <a:r>
              <a:rPr lang="sv-SE" sz="2000" dirty="0"/>
              <a:t>Taliotis, C., Gardumi, F., Shivakumar, A., Sridharan, V., Ramos, E., Beltramo, </a:t>
            </a:r>
            <a:r>
              <a:rPr lang="sv-SE" sz="2000" dirty="0" smtClean="0"/>
              <a:t>A., Henke, H., </a:t>
            </a:r>
            <a:r>
              <a:rPr lang="sv-SE" sz="2000" dirty="0" err="1"/>
              <a:t>Rogner</a:t>
            </a:r>
            <a:r>
              <a:rPr lang="sv-SE" sz="2000" dirty="0"/>
              <a:t>, H., Howells, M., </a:t>
            </a:r>
            <a:r>
              <a:rPr lang="sv-SE" sz="2000" dirty="0" smtClean="0"/>
              <a:t>2019. </a:t>
            </a:r>
            <a:r>
              <a:rPr lang="en-US" sz="2000" i="1" dirty="0">
                <a:cs typeface="Helvetica" panose="020B0604020202020204" pitchFamily="34" charset="0"/>
              </a:rPr>
              <a:t>Electricity supply system in </a:t>
            </a:r>
            <a:r>
              <a:rPr lang="en-US" sz="2000" i="1" dirty="0" err="1">
                <a:cs typeface="Helvetica" panose="020B0604020202020204" pitchFamily="34" charset="0"/>
              </a:rPr>
              <a:t>OSeMOSYS</a:t>
            </a:r>
            <a:r>
              <a:rPr lang="en-US" sz="2000" i="1" dirty="0">
                <a:cs typeface="Helvetica" panose="020B0604020202020204" pitchFamily="34" charset="0"/>
              </a:rPr>
              <a:t> II (Hydropower and Storage)</a:t>
            </a:r>
            <a:r>
              <a:rPr lang="sv-SE" sz="2000" dirty="0" smtClean="0"/>
              <a:t>, KTH-</a:t>
            </a:r>
            <a:r>
              <a:rPr lang="sv-SE" sz="2000" dirty="0" err="1" smtClean="0"/>
              <a:t>dESA</a:t>
            </a:r>
            <a:r>
              <a:rPr lang="sv-SE" sz="2000" dirty="0" smtClean="0"/>
              <a:t> </a:t>
            </a:r>
            <a:r>
              <a:rPr lang="sv-SE" sz="2000" dirty="0"/>
              <a:t>and </a:t>
            </a:r>
            <a:r>
              <a:rPr lang="sv-SE" sz="2000" dirty="0" err="1"/>
              <a:t>OpTIMUS.community</a:t>
            </a:r>
            <a:r>
              <a:rPr lang="sv-SE" sz="2000" dirty="0"/>
              <a:t>. </a:t>
            </a:r>
          </a:p>
          <a:p>
            <a:pPr>
              <a:spcBef>
                <a:spcPts val="400"/>
              </a:spcBef>
            </a:pPr>
            <a:r>
              <a:rPr lang="sv-SE" sz="2000" dirty="0" err="1"/>
              <a:t>Available</a:t>
            </a:r>
            <a:r>
              <a:rPr lang="sv-SE" sz="2000" dirty="0"/>
              <a:t> at: (URL). [Access date]</a:t>
            </a:r>
            <a:endParaRPr lang="en-GB" sz="2000" dirty="0"/>
          </a:p>
          <a:p>
            <a:pPr>
              <a:spcBef>
                <a:spcPts val="400"/>
              </a:spcBef>
            </a:pPr>
            <a:r>
              <a:rPr lang="sv-SE" sz="2000" dirty="0"/>
              <a:t>DOI</a:t>
            </a:r>
            <a:r>
              <a:rPr lang="sv-SE" sz="2000" dirty="0" smtClean="0"/>
              <a:t>:</a:t>
            </a:r>
            <a:endParaRPr lang="sv-SE" sz="2000" dirty="0"/>
          </a:p>
        </p:txBody>
      </p:sp>
      <p:graphicFrame>
        <p:nvGraphicFramePr>
          <p:cNvPr id="5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5188572"/>
              </p:ext>
            </p:extLst>
          </p:nvPr>
        </p:nvGraphicFramePr>
        <p:xfrm>
          <a:off x="838200" y="1616149"/>
          <a:ext cx="10515601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2018-06-12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800" dirty="0"/>
                        <a:t>Taliotis, C., Gardumi, F., Shivakumar, A., Sridharan, V., Ramos, E., Beltramo, A., </a:t>
                      </a:r>
                      <a:r>
                        <a:rPr lang="sv-SE" sz="1800" dirty="0" err="1"/>
                        <a:t>Rogner</a:t>
                      </a:r>
                      <a:r>
                        <a:rPr lang="sv-SE" sz="1800" dirty="0"/>
                        <a:t>, H., Howells, M.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Howells, M., Beltramo, A.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baseline="0" dirty="0"/>
                        <a:t>Gardumi, F., Taliotis, C.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2019-04-25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800" dirty="0"/>
                        <a:t>Taliotis, C., Gardumi, F., Shivakumar, A., Sridharan, V., Ramos, E., Beltramo, A</a:t>
                      </a:r>
                      <a:r>
                        <a:rPr lang="sv-SE" sz="1800" dirty="0" smtClean="0"/>
                        <a:t>., Henke, H., </a:t>
                      </a:r>
                      <a:r>
                        <a:rPr lang="sv-SE" sz="1800" dirty="0" err="1"/>
                        <a:t>Rogner</a:t>
                      </a:r>
                      <a:r>
                        <a:rPr lang="sv-SE" sz="1800" dirty="0"/>
                        <a:t>, H., Howells, M.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Howells, M</a:t>
                      </a:r>
                      <a:r>
                        <a:rPr lang="en-US" dirty="0" smtClean="0"/>
                        <a:t>., Almulla, Y.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baseline="0" dirty="0" smtClean="0"/>
                        <a:t>Beltramo, A., Henke, H.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sv-SE" smtClean="0"/>
              <a:t>04/2019</a:t>
            </a:r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Changelog</a:t>
            </a:r>
            <a:r>
              <a:rPr lang="fr-FR" dirty="0"/>
              <a:t> and Attribution</a:t>
            </a: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30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342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812">
        <p:fade/>
      </p:transition>
    </mc:Choice>
    <mc:Fallback xmlns="">
      <p:transition spd="med" advTm="1581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KTH-OpTIMUS-DFI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TH-OpTIMUS-DFID" id="{5B0E6882-3D47-487F-9878-64227690030B}" vid="{2A92E980-5079-4447-B359-7EDBAAF287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14203</TotalTime>
  <Words>188</Words>
  <Application>Microsoft Office PowerPoint</Application>
  <PresentationFormat>Widescreen</PresentationFormat>
  <Paragraphs>19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KTH-OpTIMUS-DFID</vt:lpstr>
      <vt:lpstr>Changelog and Attribution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364</cp:revision>
  <dcterms:created xsi:type="dcterms:W3CDTF">2017-06-07T13:22:49Z</dcterms:created>
  <dcterms:modified xsi:type="dcterms:W3CDTF">2020-04-03T11:38:08Z</dcterms:modified>
</cp:coreProperties>
</file>