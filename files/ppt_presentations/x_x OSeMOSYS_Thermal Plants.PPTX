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0"/>
  </p:notesMasterIdLst>
  <p:handoutMasterIdLst>
    <p:handoutMasterId r:id="rId11"/>
  </p:handoutMasterIdLst>
  <p:sldIdLst>
    <p:sldId id="289" r:id="rId2"/>
    <p:sldId id="290" r:id="rId3"/>
    <p:sldId id="291" r:id="rId4"/>
    <p:sldId id="310" r:id="rId5"/>
    <p:sldId id="311" r:id="rId6"/>
    <p:sldId id="293" r:id="rId7"/>
    <p:sldId id="285" r:id="rId8"/>
    <p:sldId id="29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ory" id="{5B76C388-05C0-458F-BDC2-CBA8585B64FC}">
          <p14:sldIdLst>
            <p14:sldId id="289"/>
            <p14:sldId id="290"/>
            <p14:sldId id="291"/>
            <p14:sldId id="310"/>
            <p14:sldId id="311"/>
            <p14:sldId id="293"/>
            <p14:sldId id="285"/>
            <p14:sldId id="294"/>
          </p14:sldIdLst>
        </p14:section>
        <p14:section name="Exercise" id="{67C09E00-28A5-460B-BAEF-ECF2DD88539B}">
          <p14:sldIdLst/>
        </p14:section>
        <p14:section name="Credits" id="{F6CADD49-E24E-442F-AC70-821AB5C0C4A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3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32" autoAdjust="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988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90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80195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3984075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475297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60618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4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57956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48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15256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96524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5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6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1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14619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51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4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6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95559" y="1439487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5006" y="1444884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Primary</a:t>
            </a:r>
            <a:endParaRPr lang="sv-SE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1150" y="144697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Secondary</a:t>
            </a:r>
            <a:endParaRPr lang="sv-SE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798230" y="1449060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Final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79" y="1749816"/>
            <a:ext cx="6035929" cy="4971659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power plants in the RES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124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95559" y="1439487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5006" y="1444884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Primary</a:t>
            </a:r>
            <a:endParaRPr lang="sv-SE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1150" y="144697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Secondary</a:t>
            </a:r>
            <a:endParaRPr lang="sv-SE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798230" y="1449060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Final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79" y="1749816"/>
            <a:ext cx="6035929" cy="497165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79967" y="4759891"/>
            <a:ext cx="1782631" cy="76408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power plants in the RES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9378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9C5A308-5E4F-4E88-B982-F221FABB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322" y="1966451"/>
            <a:ext cx="2177777" cy="78212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8229FD2F-F1C4-48DD-9EB9-99B60ED0E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7661" y="2379178"/>
            <a:ext cx="1371600" cy="656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9E9CEE1C-05E2-4987-8AD7-E29C95378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193" y="2015925"/>
            <a:ext cx="6206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Coal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9F6E5E95-AA92-42B2-85E1-6E98B2996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5615" y="2008900"/>
            <a:ext cx="20924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Coal-fired Power Plant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19C9976-1CB3-4FFE-9D8A-0A504DE36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4868" y="2901440"/>
            <a:ext cx="2153231" cy="79948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" name="Line 4">
            <a:extLst>
              <a:ext uri="{FF2B5EF4-FFF2-40B4-BE49-F238E27FC236}">
                <a16:creationId xmlns:a16="http://schemas.microsoft.com/office/drawing/2014/main" id="{126DA1C3-E870-469B-B19A-AC8B5791B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3268" y="3316365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5">
            <a:extLst>
              <a:ext uri="{FF2B5EF4-FFF2-40B4-BE49-F238E27FC236}">
                <a16:creationId xmlns:a16="http://schemas.microsoft.com/office/drawing/2014/main" id="{F4447E15-5DB6-4DCF-9C4C-4D045EE9D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8099" y="3320068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4659CB31-B616-4A6D-A3B0-2BAC409C0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4358" y="2890169"/>
            <a:ext cx="16210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Biomass/Waste</a:t>
            </a: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279" y="1986527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Electricity</a:t>
            </a:r>
          </a:p>
        </p:txBody>
      </p:sp>
      <p:sp>
        <p:nvSpPr>
          <p:cNvPr id="18" name="Text Box 8">
            <a:extLst>
              <a:ext uri="{FF2B5EF4-FFF2-40B4-BE49-F238E27FC236}">
                <a16:creationId xmlns:a16="http://schemas.microsoft.com/office/drawing/2014/main" id="{85393C16-4F67-4900-ABBB-A3C765BDD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8007" y="2943263"/>
            <a:ext cx="19051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Biomass-fired Power Plant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0F920EC-D984-4F8A-8CAB-7CB50BDD3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321" y="4758816"/>
            <a:ext cx="2177778" cy="684751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" name="Line 4">
            <a:extLst>
              <a:ext uri="{FF2B5EF4-FFF2-40B4-BE49-F238E27FC236}">
                <a16:creationId xmlns:a16="http://schemas.microsoft.com/office/drawing/2014/main" id="{7997E0C2-9FC9-4AF3-A2C4-7651AB301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8721" y="5105370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51083872-0AA8-4CC3-92A7-2820B3731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2482" y="4672601"/>
            <a:ext cx="215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Heavy fuel oil</a:t>
            </a:r>
          </a:p>
        </p:txBody>
      </p:sp>
      <p:sp>
        <p:nvSpPr>
          <p:cNvPr id="24" name="Text Box 8">
            <a:extLst>
              <a:ext uri="{FF2B5EF4-FFF2-40B4-BE49-F238E27FC236}">
                <a16:creationId xmlns:a16="http://schemas.microsoft.com/office/drawing/2014/main" id="{885FB838-C542-42F3-BBE9-862D611DD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2110" y="4774503"/>
            <a:ext cx="20799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Oil-fired Power Plant</a:t>
            </a:r>
          </a:p>
        </p:txBody>
      </p:sp>
      <p:sp>
        <p:nvSpPr>
          <p:cNvPr id="26" name="Line 5">
            <a:extLst>
              <a:ext uri="{FF2B5EF4-FFF2-40B4-BE49-F238E27FC236}">
                <a16:creationId xmlns:a16="http://schemas.microsoft.com/office/drawing/2014/main" id="{F2466DF8-4609-4A1C-8E14-B35B846C35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8099" y="5112774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D978C91-6DF8-449E-95EF-4BD1B4F95D0B}"/>
              </a:ext>
            </a:extLst>
          </p:cNvPr>
          <p:cNvSpPr txBox="1">
            <a:spLocks/>
          </p:cNvSpPr>
          <p:nvPr/>
        </p:nvSpPr>
        <p:spPr>
          <a:xfrm>
            <a:off x="833283" y="1589243"/>
            <a:ext cx="25391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i="1" dirty="0"/>
              <a:t>Examples</a:t>
            </a:r>
          </a:p>
        </p:txBody>
      </p:sp>
      <p:sp>
        <p:nvSpPr>
          <p:cNvPr id="30" name="Line 4">
            <a:extLst>
              <a:ext uri="{FF2B5EF4-FFF2-40B4-BE49-F238E27FC236}">
                <a16:creationId xmlns:a16="http://schemas.microsoft.com/office/drawing/2014/main" id="{126DA1C3-E870-469B-B19A-AC8B5791B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5724" y="2385740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A19C9976-1CB3-4FFE-9D8A-0A504DE36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4430" y="3817926"/>
            <a:ext cx="2163669" cy="79948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" name="Line 4">
            <a:extLst>
              <a:ext uri="{FF2B5EF4-FFF2-40B4-BE49-F238E27FC236}">
                <a16:creationId xmlns:a16="http://schemas.microsoft.com/office/drawing/2014/main" id="{126DA1C3-E870-469B-B19A-AC8B5791B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2830" y="423285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5">
            <a:extLst>
              <a:ext uri="{FF2B5EF4-FFF2-40B4-BE49-F238E27FC236}">
                <a16:creationId xmlns:a16="http://schemas.microsoft.com/office/drawing/2014/main" id="{F4447E15-5DB6-4DCF-9C4C-4D045EE9D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7661" y="4236554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Text Box 6">
            <a:extLst>
              <a:ext uri="{FF2B5EF4-FFF2-40B4-BE49-F238E27FC236}">
                <a16:creationId xmlns:a16="http://schemas.microsoft.com/office/drawing/2014/main" id="{4659CB31-B616-4A6D-A3B0-2BAC409C0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070" y="3806655"/>
            <a:ext cx="16210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Natural gas</a:t>
            </a:r>
          </a:p>
        </p:txBody>
      </p:sp>
      <p:sp>
        <p:nvSpPr>
          <p:cNvPr id="35" name="Text Box 8">
            <a:extLst>
              <a:ext uri="{FF2B5EF4-FFF2-40B4-BE49-F238E27FC236}">
                <a16:creationId xmlns:a16="http://schemas.microsoft.com/office/drawing/2014/main" id="{85393C16-4F67-4900-ABBB-A3C765BDD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569" y="3859749"/>
            <a:ext cx="19051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Natural gas-fired Power Plant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20F920EC-D984-4F8A-8CAB-7CB50BDD3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4935" y="5587620"/>
            <a:ext cx="2177778" cy="684751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" name="Line 4">
            <a:extLst>
              <a:ext uri="{FF2B5EF4-FFF2-40B4-BE49-F238E27FC236}">
                <a16:creationId xmlns:a16="http://schemas.microsoft.com/office/drawing/2014/main" id="{7997E0C2-9FC9-4AF3-A2C4-7651AB301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3335" y="5934174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Text Box 6">
            <a:extLst>
              <a:ext uri="{FF2B5EF4-FFF2-40B4-BE49-F238E27FC236}">
                <a16:creationId xmlns:a16="http://schemas.microsoft.com/office/drawing/2014/main" id="{51083872-0AA8-4CC3-92A7-2820B3731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078" y="5501405"/>
            <a:ext cx="11259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Diesel</a:t>
            </a:r>
          </a:p>
        </p:txBody>
      </p:sp>
      <p:sp>
        <p:nvSpPr>
          <p:cNvPr id="39" name="Text Box 8">
            <a:extLst>
              <a:ext uri="{FF2B5EF4-FFF2-40B4-BE49-F238E27FC236}">
                <a16:creationId xmlns:a16="http://schemas.microsoft.com/office/drawing/2014/main" id="{885FB838-C542-42F3-BBE9-862D611DD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724" y="5603307"/>
            <a:ext cx="20799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Diesel-fired Power Plant / Engine</a:t>
            </a:r>
          </a:p>
        </p:txBody>
      </p:sp>
      <p:sp>
        <p:nvSpPr>
          <p:cNvPr id="40" name="Line 5">
            <a:extLst>
              <a:ext uri="{FF2B5EF4-FFF2-40B4-BE49-F238E27FC236}">
                <a16:creationId xmlns:a16="http://schemas.microsoft.com/office/drawing/2014/main" id="{F2466DF8-4609-4A1C-8E14-B35B846C35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2713" y="5941578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279" y="2939208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Electricity</a:t>
            </a:r>
          </a:p>
        </p:txBody>
      </p:sp>
      <p:sp>
        <p:nvSpPr>
          <p:cNvPr id="42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279" y="3826956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Electricity</a:t>
            </a:r>
          </a:p>
        </p:txBody>
      </p:sp>
      <p:sp>
        <p:nvSpPr>
          <p:cNvPr id="43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0665" y="4720360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Electricity</a:t>
            </a:r>
          </a:p>
        </p:txBody>
      </p:sp>
      <p:sp>
        <p:nvSpPr>
          <p:cNvPr id="44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279" y="5557140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Electricity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thermal power plant in </a:t>
            </a:r>
            <a:r>
              <a:rPr lang="en-US" dirty="0" err="1"/>
              <a:t>OSeMOSYS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412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616148"/>
            <a:ext cx="10515600" cy="474020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In </a:t>
            </a:r>
            <a:r>
              <a:rPr lang="en-US" dirty="0" err="1"/>
              <a:t>OSeMOSYS</a:t>
            </a:r>
            <a:r>
              <a:rPr lang="en-US" dirty="0"/>
              <a:t>, t</a:t>
            </a:r>
            <a:r>
              <a:rPr lang="en-US" dirty="0" smtClean="0"/>
              <a:t>hermal </a:t>
            </a:r>
            <a:r>
              <a:rPr lang="en-US" dirty="0"/>
              <a:t>p</a:t>
            </a:r>
            <a:r>
              <a:rPr lang="en-US" dirty="0" smtClean="0"/>
              <a:t>ower </a:t>
            </a:r>
            <a:r>
              <a:rPr lang="en-US" dirty="0"/>
              <a:t>p</a:t>
            </a:r>
            <a:r>
              <a:rPr lang="en-US" dirty="0" smtClean="0"/>
              <a:t>lants are characterized </a:t>
            </a:r>
            <a:r>
              <a:rPr lang="en-US" dirty="0"/>
              <a:t>by </a:t>
            </a:r>
            <a:r>
              <a:rPr lang="en-US" dirty="0" smtClean="0"/>
              <a:t>the following </a:t>
            </a:r>
            <a:r>
              <a:rPr lang="en-US" dirty="0"/>
              <a:t>parameters</a:t>
            </a:r>
            <a:r>
              <a:rPr lang="en-US" dirty="0" smtClean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InputActivityRatio</a:t>
            </a:r>
            <a:r>
              <a:rPr lang="sv-SE" sz="2400" dirty="0" smtClean="0"/>
              <a:t>: </a:t>
            </a:r>
            <a:r>
              <a:rPr lang="en-US" sz="2400" dirty="0"/>
              <a:t>defines the rate of fuel consumed (i.e. Gas</a:t>
            </a:r>
            <a:r>
              <a:rPr lang="en-US" sz="2400" dirty="0" smtClean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OutputActivityRatio</a:t>
            </a:r>
            <a:r>
              <a:rPr lang="en-US" sz="2400" dirty="0" smtClean="0"/>
              <a:t>: </a:t>
            </a:r>
            <a:r>
              <a:rPr lang="en-US" sz="2400" dirty="0"/>
              <a:t>defines the rate of fuel provided (i.e. </a:t>
            </a:r>
            <a:r>
              <a:rPr lang="en-US" sz="2400" dirty="0" smtClean="0"/>
              <a:t>Electricity)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CapitalCost</a:t>
            </a:r>
            <a:r>
              <a:rPr lang="en-US" sz="2400" b="1" dirty="0" smtClean="0"/>
              <a:t> [M$/GW or $/kW]</a:t>
            </a:r>
            <a:r>
              <a:rPr lang="en-US" sz="2400" dirty="0" smtClean="0"/>
              <a:t>: </a:t>
            </a:r>
            <a:r>
              <a:rPr lang="en-US" sz="2400" dirty="0"/>
              <a:t>defines the overnight investment cost of the </a:t>
            </a:r>
            <a:r>
              <a:rPr lang="en-US" sz="2400" dirty="0" smtClean="0"/>
              <a:t>plant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FixedCost</a:t>
            </a:r>
            <a:r>
              <a:rPr lang="en-US" sz="2400" b="1" dirty="0" smtClean="0"/>
              <a:t> </a:t>
            </a:r>
            <a:r>
              <a:rPr lang="en-US" sz="2400" b="1" dirty="0"/>
              <a:t>[M$/GW or $/kW]</a:t>
            </a:r>
            <a:r>
              <a:rPr lang="en-US" sz="2400" dirty="0" smtClean="0"/>
              <a:t>: </a:t>
            </a:r>
            <a:r>
              <a:rPr lang="en-US" sz="2400" dirty="0"/>
              <a:t>defines the fixed Operation &amp; Maintenance cost</a:t>
            </a:r>
            <a:endParaRPr lang="en-US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VariableCost</a:t>
            </a:r>
            <a:r>
              <a:rPr lang="en-US" sz="2400" b="1" dirty="0" smtClean="0"/>
              <a:t> [M$/</a:t>
            </a:r>
            <a:r>
              <a:rPr lang="en-US" sz="2400" b="1" dirty="0" err="1" smtClean="0"/>
              <a:t>GWh</a:t>
            </a:r>
            <a:r>
              <a:rPr lang="en-US" sz="2400" b="1" dirty="0" smtClean="0"/>
              <a:t>]</a:t>
            </a:r>
            <a:r>
              <a:rPr lang="fr-FR" sz="2400" dirty="0" smtClean="0"/>
              <a:t>: </a:t>
            </a:r>
            <a:r>
              <a:rPr lang="fr-FR" sz="2400" dirty="0" err="1" smtClean="0"/>
              <a:t>defines</a:t>
            </a:r>
            <a:r>
              <a:rPr lang="fr-FR" sz="2400" dirty="0" smtClean="0"/>
              <a:t> the variable </a:t>
            </a:r>
            <a:r>
              <a:rPr lang="fr-FR" sz="2400" dirty="0" err="1" smtClean="0"/>
              <a:t>costs</a:t>
            </a:r>
            <a:r>
              <a:rPr lang="fr-FR" sz="2400" dirty="0" smtClean="0"/>
              <a:t> of the plant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sz="2400" b="1" dirty="0" err="1" smtClean="0"/>
              <a:t>ResidualCapacity</a:t>
            </a:r>
            <a:r>
              <a:rPr lang="sv-SE" sz="2400" b="1" dirty="0" smtClean="0"/>
              <a:t> [GW]</a:t>
            </a:r>
            <a:r>
              <a:rPr lang="sv-SE" sz="2400" dirty="0" smtClean="0"/>
              <a:t>: </a:t>
            </a:r>
            <a:r>
              <a:rPr lang="sv-SE" sz="2400" dirty="0" err="1" smtClean="0"/>
              <a:t>defines</a:t>
            </a:r>
            <a:r>
              <a:rPr lang="sv-SE" sz="2400" dirty="0" smtClean="0"/>
              <a:t> the </a:t>
            </a:r>
            <a:r>
              <a:rPr lang="sv-SE" sz="2400" dirty="0" err="1" smtClean="0"/>
              <a:t>existing</a:t>
            </a:r>
            <a:r>
              <a:rPr lang="sv-SE" sz="2400" dirty="0" smtClean="0"/>
              <a:t> total </a:t>
            </a:r>
            <a:r>
              <a:rPr lang="sv-SE" sz="2400" dirty="0" err="1" smtClean="0"/>
              <a:t>capacity</a:t>
            </a:r>
            <a:r>
              <a:rPr lang="sv-SE" sz="2400" dirty="0" smtClean="0"/>
              <a:t> </a:t>
            </a:r>
            <a:r>
              <a:rPr lang="sv-SE" sz="2400" dirty="0" err="1" smtClean="0"/>
              <a:t>available</a:t>
            </a:r>
            <a:r>
              <a:rPr lang="sv-SE" sz="2400" dirty="0" smtClean="0"/>
              <a:t> in </a:t>
            </a:r>
            <a:r>
              <a:rPr lang="sv-SE" sz="2400" dirty="0" err="1" smtClean="0"/>
              <a:t>each</a:t>
            </a:r>
            <a:r>
              <a:rPr lang="sv-SE" sz="2400" dirty="0" smtClean="0"/>
              <a:t> </a:t>
            </a:r>
            <a:r>
              <a:rPr lang="sv-SE" sz="2400" dirty="0" err="1" smtClean="0"/>
              <a:t>year</a:t>
            </a:r>
            <a:r>
              <a:rPr lang="sv-SE" sz="2400" dirty="0" smtClean="0"/>
              <a:t> for a </a:t>
            </a:r>
            <a:r>
              <a:rPr lang="sv-SE" sz="2400" dirty="0" err="1" smtClean="0"/>
              <a:t>specific</a:t>
            </a:r>
            <a:r>
              <a:rPr lang="sv-SE" sz="2400" dirty="0" smtClean="0"/>
              <a:t> </a:t>
            </a:r>
            <a:r>
              <a:rPr lang="sv-SE" sz="2400" dirty="0" err="1" smtClean="0"/>
              <a:t>type</a:t>
            </a:r>
            <a:r>
              <a:rPr lang="sv-SE" sz="2400" dirty="0" smtClean="0"/>
              <a:t> </a:t>
            </a:r>
            <a:r>
              <a:rPr lang="sv-SE" sz="2400" dirty="0" err="1" smtClean="0"/>
              <a:t>of</a:t>
            </a:r>
            <a:r>
              <a:rPr lang="sv-SE" sz="2400" dirty="0" smtClean="0"/>
              <a:t> </a:t>
            </a:r>
            <a:r>
              <a:rPr lang="sv-SE" sz="2400" dirty="0" err="1" smtClean="0"/>
              <a:t>power</a:t>
            </a:r>
            <a:r>
              <a:rPr lang="sv-SE" sz="2400" dirty="0" smtClean="0"/>
              <a:t> plant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/>
              <a:t>AvailabilityFactor</a:t>
            </a:r>
            <a:r>
              <a:rPr lang="en-US" sz="2400" dirty="0"/>
              <a:t>: </a:t>
            </a:r>
            <a:r>
              <a:rPr lang="en-US" sz="2400" dirty="0">
                <a:solidFill>
                  <a:schemeClr val="dk1"/>
                </a:solidFill>
              </a:rPr>
              <a:t>capacity available on average over one year expressed as a fraction of the total installed capacity, with value ranging from 0 to 1. It gives the possibility to account for planned outages</a:t>
            </a:r>
            <a:r>
              <a:rPr lang="en-US" sz="2400" dirty="0" smtClean="0">
                <a:solidFill>
                  <a:schemeClr val="dk1"/>
                </a:solidFill>
              </a:rPr>
              <a:t>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thermal power plant in </a:t>
            </a:r>
            <a:r>
              <a:rPr lang="en-US" dirty="0" err="1"/>
              <a:t>OSeMOSYS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403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In </a:t>
            </a:r>
            <a:r>
              <a:rPr lang="en-US" dirty="0" err="1"/>
              <a:t>OSeMOSYS</a:t>
            </a:r>
            <a:r>
              <a:rPr lang="en-US" dirty="0"/>
              <a:t>, t</a:t>
            </a:r>
            <a:r>
              <a:rPr lang="en-US" dirty="0" smtClean="0"/>
              <a:t>hermal </a:t>
            </a:r>
            <a:r>
              <a:rPr lang="en-US" dirty="0"/>
              <a:t>p</a:t>
            </a:r>
            <a:r>
              <a:rPr lang="en-US" dirty="0" smtClean="0"/>
              <a:t>ower </a:t>
            </a:r>
            <a:r>
              <a:rPr lang="en-US" dirty="0"/>
              <a:t>p</a:t>
            </a:r>
            <a:r>
              <a:rPr lang="en-US" dirty="0" smtClean="0"/>
              <a:t>lants are characterized </a:t>
            </a:r>
            <a:r>
              <a:rPr lang="en-US" dirty="0"/>
              <a:t>by </a:t>
            </a:r>
            <a:r>
              <a:rPr lang="en-US" dirty="0" smtClean="0"/>
              <a:t>the following </a:t>
            </a:r>
            <a:r>
              <a:rPr lang="en-US" dirty="0"/>
              <a:t>parameters</a:t>
            </a:r>
            <a:r>
              <a:rPr lang="en-US" dirty="0" smtClean="0"/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1" dirty="0" err="1"/>
              <a:t>OperationalLife</a:t>
            </a:r>
            <a:r>
              <a:rPr lang="en-US" sz="2400" b="1" dirty="0"/>
              <a:t> [</a:t>
            </a:r>
            <a:r>
              <a:rPr lang="en-US" sz="2400" b="1" dirty="0" err="1"/>
              <a:t>yr</a:t>
            </a:r>
            <a:r>
              <a:rPr lang="en-US" sz="2400" b="1" dirty="0"/>
              <a:t>]</a:t>
            </a:r>
            <a:r>
              <a:rPr lang="en-US" sz="2400" dirty="0"/>
              <a:t>: defines the lifetime of the </a:t>
            </a:r>
            <a:r>
              <a:rPr lang="en-US" sz="2400" dirty="0" smtClean="0"/>
              <a:t>technology.</a:t>
            </a:r>
          </a:p>
          <a:p>
            <a:pPr algn="just">
              <a:spcBef>
                <a:spcPts val="1800"/>
              </a:spcBef>
            </a:pPr>
            <a:r>
              <a:rPr lang="en-US" dirty="0" smtClean="0"/>
              <a:t>Optional: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CapacityFactor</a:t>
            </a:r>
            <a:r>
              <a:rPr lang="en-US" sz="2400" dirty="0" smtClean="0"/>
              <a:t>: c</a:t>
            </a:r>
            <a:r>
              <a:rPr lang="en-US" sz="2400" dirty="0" smtClean="0">
                <a:solidFill>
                  <a:schemeClr val="dk1"/>
                </a:solidFill>
              </a:rPr>
              <a:t>apacity </a:t>
            </a:r>
            <a:r>
              <a:rPr lang="en-US" sz="2400" dirty="0">
                <a:solidFill>
                  <a:schemeClr val="dk1"/>
                </a:solidFill>
              </a:rPr>
              <a:t>available on average over every time </a:t>
            </a:r>
            <a:r>
              <a:rPr lang="en-US" sz="2400" dirty="0" smtClean="0">
                <a:solidFill>
                  <a:schemeClr val="dk1"/>
                </a:solidFill>
              </a:rPr>
              <a:t>slice </a:t>
            </a:r>
            <a:r>
              <a:rPr lang="en-US" sz="2400" dirty="0">
                <a:solidFill>
                  <a:schemeClr val="dk1"/>
                </a:solidFill>
              </a:rPr>
              <a:t>expressed as a fraction of the total </a:t>
            </a:r>
            <a:r>
              <a:rPr lang="en-US" sz="2400" dirty="0" smtClean="0">
                <a:solidFill>
                  <a:schemeClr val="dk1"/>
                </a:solidFill>
              </a:rPr>
              <a:t>installed capacity, with value </a:t>
            </a:r>
            <a:r>
              <a:rPr lang="en-US" sz="2400" dirty="0">
                <a:solidFill>
                  <a:schemeClr val="dk1"/>
                </a:solidFill>
              </a:rPr>
              <a:t>ranging from 0 to 1. It gives the possibility to account for unplanned </a:t>
            </a:r>
            <a:r>
              <a:rPr lang="en-US" sz="2400" dirty="0" smtClean="0">
                <a:solidFill>
                  <a:schemeClr val="dk1"/>
                </a:solidFill>
              </a:rPr>
              <a:t>outages</a:t>
            </a:r>
            <a:r>
              <a:rPr lang="en-US" sz="2400" dirty="0">
                <a:solidFill>
                  <a:schemeClr val="dk1"/>
                </a:solidFill>
              </a:rPr>
              <a:t>.</a:t>
            </a:r>
            <a:endParaRPr lang="en-US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TotalAnnualMaxCapacity</a:t>
            </a:r>
            <a:r>
              <a:rPr lang="en-US" sz="2400" b="1" dirty="0" smtClean="0"/>
              <a:t>, </a:t>
            </a:r>
            <a:r>
              <a:rPr lang="en-US" sz="2400" b="1" dirty="0" err="1" smtClean="0"/>
              <a:t>TotalAnnualMinCapacity</a:t>
            </a:r>
            <a:r>
              <a:rPr lang="en-US" sz="2400" b="1" dirty="0" smtClean="0"/>
              <a:t> [GW]</a:t>
            </a:r>
            <a:r>
              <a:rPr lang="en-US" sz="2400" dirty="0" smtClean="0"/>
              <a:t>: </a:t>
            </a:r>
            <a:r>
              <a:rPr lang="en-US" sz="2400" dirty="0" smtClean="0">
                <a:solidFill>
                  <a:schemeClr val="dk1"/>
                </a:solidFill>
              </a:rPr>
              <a:t>total maximum/minimum </a:t>
            </a:r>
            <a:r>
              <a:rPr lang="en-US" sz="2400" dirty="0">
                <a:solidFill>
                  <a:schemeClr val="dk1"/>
                </a:solidFill>
              </a:rPr>
              <a:t>existing (residual plus cumulatively installed) capacity allowed for a technology in a specified year</a:t>
            </a:r>
            <a:r>
              <a:rPr lang="en-US" sz="2400" dirty="0" smtClean="0">
                <a:solidFill>
                  <a:schemeClr val="dk1"/>
                </a:solidFill>
              </a:rPr>
              <a:t>.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/>
              <a:t>TotalAnnualMaxCapacityInvestment</a:t>
            </a:r>
            <a:r>
              <a:rPr lang="en-US" sz="2400" b="1" dirty="0"/>
              <a:t> </a:t>
            </a:r>
            <a:r>
              <a:rPr lang="en-US" sz="2400" b="1" dirty="0" err="1"/>
              <a:t>TotalAnnualMinCapacityInvestment</a:t>
            </a:r>
            <a:r>
              <a:rPr lang="en-US" sz="2400" b="1" dirty="0"/>
              <a:t> [GW]</a:t>
            </a:r>
            <a:r>
              <a:rPr lang="en-US" sz="2400" dirty="0"/>
              <a:t>: </a:t>
            </a:r>
            <a:r>
              <a:rPr lang="en-US" sz="2400" dirty="0">
                <a:solidFill>
                  <a:schemeClr val="dk1"/>
                </a:solidFill>
              </a:rPr>
              <a:t>maximum/minimum planned new capacity allowed to be installed for a technology in a specified </a:t>
            </a:r>
            <a:r>
              <a:rPr lang="en-US" sz="2400" dirty="0" smtClean="0">
                <a:solidFill>
                  <a:schemeClr val="dk1"/>
                </a:solidFill>
              </a:rPr>
              <a:t>year.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thermal power plant in </a:t>
            </a:r>
            <a:r>
              <a:rPr lang="en-US" dirty="0" err="1"/>
              <a:t>OSeMOSYS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528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ontent Placeholder 2"/>
          <p:cNvSpPr>
            <a:spLocks noGrp="1"/>
          </p:cNvSpPr>
          <p:nvPr>
            <p:ph idx="1"/>
          </p:nvPr>
        </p:nvSpPr>
        <p:spPr>
          <a:xfrm>
            <a:off x="838200" y="3291166"/>
            <a:ext cx="10515600" cy="2846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OutputActivityRatio</a:t>
            </a:r>
            <a:r>
              <a:rPr lang="en-US" b="1" dirty="0"/>
              <a:t>:</a:t>
            </a:r>
            <a:r>
              <a:rPr lang="en-US" dirty="0">
                <a:sym typeface="Wingdings" panose="05000000000000000000" pitchFamily="2" charset="2"/>
              </a:rPr>
              <a:t> always at least one output - </a:t>
            </a:r>
            <a:r>
              <a:rPr lang="en-US" b="1" dirty="0">
                <a:sym typeface="Wingdings" panose="05000000000000000000" pitchFamily="2" charset="2"/>
              </a:rPr>
              <a:t>electricity</a:t>
            </a:r>
          </a:p>
          <a:p>
            <a:pPr marL="0" indent="0">
              <a:buNone/>
            </a:pPr>
            <a:r>
              <a:rPr lang="en-US" b="1" dirty="0" err="1">
                <a:sym typeface="Wingdings" panose="05000000000000000000" pitchFamily="2" charset="2"/>
              </a:rPr>
              <a:t>InputActivityRatio</a:t>
            </a:r>
            <a:r>
              <a:rPr lang="en-US" b="1" dirty="0">
                <a:sym typeface="Wingdings" panose="05000000000000000000" pitchFamily="2" charset="2"/>
              </a:rPr>
              <a:t>: </a:t>
            </a:r>
            <a:r>
              <a:rPr lang="en-US" dirty="0">
                <a:sym typeface="Wingdings" panose="05000000000000000000" pitchFamily="2" charset="2"/>
              </a:rPr>
              <a:t>always at least one input: </a:t>
            </a:r>
            <a:r>
              <a:rPr lang="en-US" b="1" dirty="0">
                <a:sym typeface="Wingdings" panose="05000000000000000000" pitchFamily="2" charset="2"/>
              </a:rPr>
              <a:t>fossil fuel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b="1" dirty="0">
                <a:sym typeface="Wingdings" panose="05000000000000000000" pitchFamily="2" charset="2"/>
              </a:rPr>
              <a:t>biomass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b="1" dirty="0">
                <a:sym typeface="Wingdings" panose="05000000000000000000" pitchFamily="2" charset="2"/>
              </a:rPr>
              <a:t>waste</a:t>
            </a:r>
            <a:r>
              <a:rPr lang="en-US" dirty="0">
                <a:sym typeface="Wingdings" panose="05000000000000000000" pitchFamily="2" charset="2"/>
              </a:rPr>
              <a:t>, etc.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e.g.	</a:t>
            </a:r>
            <a:r>
              <a:rPr lang="en-US" dirty="0" err="1">
                <a:sym typeface="Wingdings" panose="05000000000000000000" pitchFamily="2" charset="2"/>
              </a:rPr>
              <a:t>InputActivityRatio</a:t>
            </a:r>
            <a:r>
              <a:rPr lang="en-US" dirty="0">
                <a:sym typeface="Wingdings" panose="05000000000000000000" pitchFamily="2" charset="2"/>
              </a:rPr>
              <a:t> – Coal – 3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err="1">
                <a:sym typeface="Wingdings" panose="05000000000000000000" pitchFamily="2" charset="2"/>
              </a:rPr>
              <a:t>OutputActivityRatio</a:t>
            </a:r>
            <a:r>
              <a:rPr lang="en-US" dirty="0">
                <a:sym typeface="Wingdings" panose="05000000000000000000" pitchFamily="2" charset="2"/>
              </a:rPr>
              <a:t> – Electricity – 1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Meaning that </a:t>
            </a:r>
            <a:r>
              <a:rPr lang="en-US" i="1" dirty="0">
                <a:sym typeface="Wingdings" panose="05000000000000000000" pitchFamily="2" charset="2"/>
              </a:rPr>
              <a:t>for 1 energy unit of electricity, 3 energy units of coal are needed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6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9C5A308-5E4F-4E88-B982-F221FABB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322" y="1966451"/>
            <a:ext cx="2177777" cy="78212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8229FD2F-F1C4-48DD-9EB9-99B60ED0E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7661" y="2379178"/>
            <a:ext cx="1371600" cy="656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9E9CEE1C-05E2-4987-8AD7-E29C95378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193" y="2015925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Coal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9F6E5E95-AA92-42B2-85E1-6E98B2996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5615" y="2008900"/>
            <a:ext cx="20924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Coal-fired Power Plant</a:t>
            </a: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279" y="1986527"/>
            <a:ext cx="12105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Electricity</a:t>
            </a:r>
          </a:p>
        </p:txBody>
      </p:sp>
      <p:sp>
        <p:nvSpPr>
          <p:cNvPr id="30" name="Line 4">
            <a:extLst>
              <a:ext uri="{FF2B5EF4-FFF2-40B4-BE49-F238E27FC236}">
                <a16:creationId xmlns:a16="http://schemas.microsoft.com/office/drawing/2014/main" id="{126DA1C3-E870-469B-B19A-AC8B5791B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5724" y="2385740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thermal power plant in </a:t>
            </a:r>
            <a:r>
              <a:rPr lang="en-US" dirty="0" err="1"/>
              <a:t>OSeMOSYS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464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ontent Placeholder 2"/>
          <p:cNvSpPr>
            <a:spLocks noGrp="1"/>
          </p:cNvSpPr>
          <p:nvPr>
            <p:ph idx="1"/>
          </p:nvPr>
        </p:nvSpPr>
        <p:spPr>
          <a:xfrm>
            <a:off x="838200" y="1900780"/>
            <a:ext cx="10515600" cy="504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ym typeface="Wingdings" panose="05000000000000000000" pitchFamily="2" charset="2"/>
              </a:rPr>
              <a:t>CapitalCost</a:t>
            </a:r>
            <a:r>
              <a:rPr lang="en-US" i="1" dirty="0">
                <a:sym typeface="Wingdings" panose="05000000000000000000" pitchFamily="2" charset="2"/>
              </a:rPr>
              <a:t>, </a:t>
            </a:r>
            <a:r>
              <a:rPr lang="en-US" b="1" dirty="0" err="1">
                <a:sym typeface="Wingdings" panose="05000000000000000000" pitchFamily="2" charset="2"/>
              </a:rPr>
              <a:t>VariableCost</a:t>
            </a:r>
            <a:r>
              <a:rPr lang="en-US" i="1" dirty="0">
                <a:sym typeface="Wingdings" panose="05000000000000000000" pitchFamily="2" charset="2"/>
              </a:rPr>
              <a:t>, </a:t>
            </a:r>
            <a:r>
              <a:rPr lang="en-US" b="1" dirty="0" err="1">
                <a:sym typeface="Wingdings" panose="05000000000000000000" pitchFamily="2" charset="2"/>
              </a:rPr>
              <a:t>FixedCost</a:t>
            </a:r>
            <a:r>
              <a:rPr lang="en-US" dirty="0">
                <a:sym typeface="Wingdings" panose="05000000000000000000" pitchFamily="2" charset="2"/>
              </a:rPr>
              <a:t>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DD2227C-EA6A-4BD6-BE02-06D8BA76CBE2}"/>
              </a:ext>
            </a:extLst>
          </p:cNvPr>
          <p:cNvSpPr txBox="1">
            <a:spLocks/>
          </p:cNvSpPr>
          <p:nvPr/>
        </p:nvSpPr>
        <p:spPr>
          <a:xfrm>
            <a:off x="7405828" y="2418819"/>
            <a:ext cx="3407229" cy="906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sv-SE" sz="1600"/>
              <a:t>Fuel </a:t>
            </a:r>
          </a:p>
          <a:p>
            <a:pPr marL="285750" indent="-285750"/>
            <a:r>
              <a:rPr lang="sv-SE" sz="1600"/>
              <a:t>Other consumables (e.g. chemicals, detergents, etc.)</a:t>
            </a:r>
            <a:endParaRPr lang="sv-SE" sz="16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38F766C-3D86-4ECB-93AF-F104C8759B64}"/>
              </a:ext>
            </a:extLst>
          </p:cNvPr>
          <p:cNvSpPr txBox="1">
            <a:spLocks/>
          </p:cNvSpPr>
          <p:nvPr/>
        </p:nvSpPr>
        <p:spPr>
          <a:xfrm>
            <a:off x="7405828" y="3826980"/>
            <a:ext cx="3407229" cy="1120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sv-SE" sz="1600"/>
              <a:t>Salaries</a:t>
            </a:r>
          </a:p>
          <a:p>
            <a:pPr marL="285750" indent="-285750"/>
            <a:r>
              <a:rPr lang="sv-SE" sz="1600"/>
              <a:t>Taxes and insurance</a:t>
            </a:r>
          </a:p>
          <a:p>
            <a:pPr marL="285750" indent="-285750"/>
            <a:r>
              <a:rPr lang="sv-SE" sz="1600"/>
              <a:t>Fixed fuel costs</a:t>
            </a:r>
          </a:p>
          <a:p>
            <a:pPr marL="285750" indent="-285750"/>
            <a:endParaRPr lang="sv-SE" sz="16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7CBE402-22B7-48A4-BB92-EAA0B26696C8}"/>
              </a:ext>
            </a:extLst>
          </p:cNvPr>
          <p:cNvSpPr txBox="1">
            <a:spLocks/>
          </p:cNvSpPr>
          <p:nvPr/>
        </p:nvSpPr>
        <p:spPr>
          <a:xfrm>
            <a:off x="7405828" y="5209122"/>
            <a:ext cx="3407229" cy="1120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sv-SE" sz="1600"/>
              <a:t>Depreciation</a:t>
            </a:r>
          </a:p>
          <a:p>
            <a:pPr marL="285750" indent="-285750"/>
            <a:r>
              <a:rPr lang="sv-SE" sz="1600"/>
              <a:t>Return on investment</a:t>
            </a:r>
          </a:p>
          <a:p>
            <a:pPr marL="285750" indent="-285750"/>
            <a:r>
              <a:rPr lang="sv-SE" sz="1600"/>
              <a:t>Other one-time fixed charges</a:t>
            </a:r>
          </a:p>
          <a:p>
            <a:pPr marL="285750" indent="-285750"/>
            <a:endParaRPr lang="sv-SE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6A11A6-7AE3-43A2-879F-AA88AD1EE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022" y="2436034"/>
            <a:ext cx="6019442" cy="368745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thermal power plant in </a:t>
            </a:r>
            <a:r>
              <a:rPr lang="en-US" dirty="0" err="1"/>
              <a:t>OSeMOSYS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923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ontent Placeholder 2"/>
          <p:cNvSpPr>
            <a:spLocks noGrp="1"/>
          </p:cNvSpPr>
          <p:nvPr>
            <p:ph idx="1"/>
          </p:nvPr>
        </p:nvSpPr>
        <p:spPr>
          <a:xfrm>
            <a:off x="838200" y="1900780"/>
            <a:ext cx="10515600" cy="4287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ym typeface="Wingdings" panose="05000000000000000000" pitchFamily="2" charset="2"/>
              </a:rPr>
              <a:t>AvailabilityFactor</a:t>
            </a:r>
            <a:r>
              <a:rPr lang="en-US" b="1" dirty="0">
                <a:sym typeface="Wingdings" panose="05000000000000000000" pitchFamily="2" charset="2"/>
              </a:rPr>
              <a:t>: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/>
              <a:t>Maximum time a technology can operate in the whole year, as a fraction of the year ranging from 0 to 1. It accounts for </a:t>
            </a:r>
            <a:r>
              <a:rPr lang="en-US" i="1" u="sng" dirty="0"/>
              <a:t>planned outages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 err="1">
                <a:sym typeface="Wingdings" panose="05000000000000000000" pitchFamily="2" charset="2"/>
              </a:rPr>
              <a:t>CapacityFactor</a:t>
            </a:r>
            <a:r>
              <a:rPr lang="en-US" b="1" dirty="0">
                <a:sym typeface="Wingdings" panose="05000000000000000000" pitchFamily="2" charset="2"/>
              </a:rPr>
              <a:t>: </a:t>
            </a:r>
            <a:r>
              <a:rPr lang="en-US" dirty="0"/>
              <a:t>Capacity available in each time slice expressed as a fraction of the total installed capacity, ranging from 0 to 1. It accounts for </a:t>
            </a:r>
            <a:r>
              <a:rPr lang="en-US" i="1" u="sng" dirty="0"/>
              <a:t>unplanned outages</a:t>
            </a:r>
            <a:r>
              <a:rPr lang="en-US" dirty="0"/>
              <a:t>.</a:t>
            </a:r>
            <a:endParaRPr lang="en-U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 err="1">
                <a:sym typeface="Wingdings" panose="05000000000000000000" pitchFamily="2" charset="2"/>
              </a:rPr>
              <a:t>OperationalLife</a:t>
            </a:r>
            <a:r>
              <a:rPr lang="en-US" b="1" dirty="0">
                <a:sym typeface="Wingdings" panose="05000000000000000000" pitchFamily="2" charset="2"/>
              </a:rPr>
              <a:t>: </a:t>
            </a:r>
            <a:r>
              <a:rPr lang="en-US" dirty="0"/>
              <a:t>Useful lifetime of a technology, expressed in years.</a:t>
            </a:r>
            <a:endParaRPr lang="en-US" b="1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thermal power plant in </a:t>
            </a:r>
            <a:r>
              <a:rPr lang="en-US" dirty="0" err="1"/>
              <a:t>OSeMOSYS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09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10553</TotalTime>
  <Words>530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KTH-OpTIMUS-DFID</vt:lpstr>
      <vt:lpstr>Thermal power plants in the RES</vt:lpstr>
      <vt:lpstr>Thermal power plants in the RES</vt:lpstr>
      <vt:lpstr>Defining a thermal power plant in OSeMOSYS</vt:lpstr>
      <vt:lpstr>Defining a thermal power plant in OSeMOSYS</vt:lpstr>
      <vt:lpstr>Defining a thermal power plant in OSeMOSYS</vt:lpstr>
      <vt:lpstr>Defining a thermal power plant in OSeMOSYS</vt:lpstr>
      <vt:lpstr>Defining a thermal power plant in OSeMOSYS</vt:lpstr>
      <vt:lpstr>Defining a thermal power plant in OSeMOSYS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167</cp:revision>
  <dcterms:created xsi:type="dcterms:W3CDTF">2017-06-07T13:22:49Z</dcterms:created>
  <dcterms:modified xsi:type="dcterms:W3CDTF">2020-04-03T11:20:51Z</dcterms:modified>
</cp:coreProperties>
</file>