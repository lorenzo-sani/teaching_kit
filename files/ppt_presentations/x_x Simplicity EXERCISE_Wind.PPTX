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5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 dirty="0"/>
              <a:t>By the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exercise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able</a:t>
            </a:r>
            <a:r>
              <a:rPr lang="sv-SE" dirty="0"/>
              <a:t> to: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dirty="0" err="1"/>
              <a:t>Define</a:t>
            </a:r>
            <a:r>
              <a:rPr lang="sv-SE" dirty="0"/>
              <a:t> </a:t>
            </a:r>
            <a:r>
              <a:rPr lang="sv-SE" dirty="0" err="1"/>
              <a:t>Wind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 generating </a:t>
            </a:r>
            <a:r>
              <a:rPr lang="sv-SE" dirty="0" err="1"/>
              <a:t>electricity</a:t>
            </a:r>
            <a:r>
              <a:rPr lang="sv-SE" dirty="0"/>
              <a:t> at the </a:t>
            </a:r>
            <a:r>
              <a:rPr lang="sv-SE" dirty="0" err="1"/>
              <a:t>centralized</a:t>
            </a:r>
            <a:r>
              <a:rPr lang="sv-SE" dirty="0"/>
              <a:t> </a:t>
            </a:r>
            <a:r>
              <a:rPr lang="sv-SE" dirty="0" err="1" smtClean="0"/>
              <a:t>level</a:t>
            </a:r>
            <a:endParaRPr dirty="0"/>
          </a:p>
        </p:txBody>
      </p:sp>
      <p:sp>
        <p:nvSpPr>
          <p:cNvPr id="450" name="Google Shape;450;p2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451" name="Google Shape;451;p2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Exercise - Learning Objectives</a:t>
            </a:r>
            <a:endParaRPr/>
          </a:p>
        </p:txBody>
      </p:sp>
      <p:sp>
        <p:nvSpPr>
          <p:cNvPr id="452" name="Google Shape;45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grpSp>
        <p:nvGrpSpPr>
          <p:cNvPr id="458" name="Google Shape;458;p24"/>
          <p:cNvGrpSpPr/>
          <p:nvPr/>
        </p:nvGrpSpPr>
        <p:grpSpPr>
          <a:xfrm>
            <a:off x="2310507" y="-49744"/>
            <a:ext cx="7614568" cy="6406094"/>
            <a:chOff x="2310507" y="-49744"/>
            <a:chExt cx="7614568" cy="6406094"/>
          </a:xfrm>
        </p:grpSpPr>
        <p:grpSp>
          <p:nvGrpSpPr>
            <p:cNvPr id="459" name="Google Shape;459;p24"/>
            <p:cNvGrpSpPr/>
            <p:nvPr/>
          </p:nvGrpSpPr>
          <p:grpSpPr>
            <a:xfrm>
              <a:off x="2310507" y="-49744"/>
              <a:ext cx="7614568" cy="6406094"/>
              <a:chOff x="1859055" y="37795"/>
              <a:chExt cx="7614568" cy="6406094"/>
            </a:xfrm>
          </p:grpSpPr>
          <p:sp>
            <p:nvSpPr>
              <p:cNvPr id="460" name="Google Shape;460;p24"/>
              <p:cNvSpPr/>
              <p:nvPr/>
            </p:nvSpPr>
            <p:spPr>
              <a:xfrm>
                <a:off x="1859055" y="2653395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Natural Gas Imports</a:t>
                </a: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1859055" y="1221118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Natural Gas Production</a:t>
                </a:r>
                <a:endParaRPr/>
              </a:p>
            </p:txBody>
          </p:sp>
          <p:sp>
            <p:nvSpPr>
              <p:cNvPr id="462" name="Google Shape;462;p24"/>
              <p:cNvSpPr txBox="1"/>
              <p:nvPr/>
            </p:nvSpPr>
            <p:spPr>
              <a:xfrm rot="2514107">
                <a:off x="2711182" y="696101"/>
                <a:ext cx="126136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Natural Gas</a:t>
                </a:r>
                <a:endParaRPr/>
              </a:p>
            </p:txBody>
          </p:sp>
          <p:cxnSp>
            <p:nvCxnSpPr>
              <p:cNvPr id="463" name="Google Shape;463;p24"/>
              <p:cNvCxnSpPr/>
              <p:nvPr/>
            </p:nvCxnSpPr>
            <p:spPr>
              <a:xfrm>
                <a:off x="3476288" y="1093908"/>
                <a:ext cx="0" cy="533410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4" name="Google Shape;464;p24"/>
              <p:cNvCxnSpPr/>
              <p:nvPr/>
            </p:nvCxnSpPr>
            <p:spPr>
              <a:xfrm>
                <a:off x="5947076" y="1093908"/>
                <a:ext cx="0" cy="5348271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65" name="Google Shape;465;p24"/>
              <p:cNvSpPr/>
              <p:nvPr/>
            </p:nvSpPr>
            <p:spPr>
              <a:xfrm>
                <a:off x="4352794" y="3123600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rgbClr val="7030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Wind</a:t>
                </a:r>
                <a:endParaRPr/>
              </a:p>
            </p:txBody>
          </p:sp>
          <p:cxnSp>
            <p:nvCxnSpPr>
              <p:cNvPr id="466" name="Google Shape;466;p24"/>
              <p:cNvCxnSpPr/>
              <p:nvPr/>
            </p:nvCxnSpPr>
            <p:spPr>
              <a:xfrm>
                <a:off x="5961593" y="2393123"/>
                <a:ext cx="63737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67" name="Google Shape;467;p24"/>
              <p:cNvSpPr/>
              <p:nvPr/>
            </p:nvSpPr>
            <p:spPr>
              <a:xfrm>
                <a:off x="4352794" y="4200164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 CCGT/GT</a:t>
                </a:r>
                <a:endParaRPr/>
              </a:p>
            </p:txBody>
          </p:sp>
          <p:cxnSp>
            <p:nvCxnSpPr>
              <p:cNvPr id="468" name="Google Shape;468;p24"/>
              <p:cNvCxnSpPr/>
              <p:nvPr/>
            </p:nvCxnSpPr>
            <p:spPr>
              <a:xfrm>
                <a:off x="5634989" y="4504092"/>
                <a:ext cx="326604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69" name="Google Shape;469;p24"/>
              <p:cNvCxnSpPr>
                <a:endCxn id="467" idx="1"/>
              </p:cNvCxnSpPr>
              <p:nvPr/>
            </p:nvCxnSpPr>
            <p:spPr>
              <a:xfrm>
                <a:off x="3476194" y="4499175"/>
                <a:ext cx="8766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70" name="Google Shape;470;p24"/>
              <p:cNvSpPr/>
              <p:nvPr/>
            </p:nvSpPr>
            <p:spPr>
              <a:xfrm>
                <a:off x="4352796" y="1093908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Hydro run-of-river</a:t>
                </a: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4352795" y="2125459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Hydro Dam</a:t>
                </a:r>
                <a:endParaRPr/>
              </a:p>
            </p:txBody>
          </p:sp>
          <p:cxnSp>
            <p:nvCxnSpPr>
              <p:cNvPr id="472" name="Google Shape;472;p24"/>
              <p:cNvCxnSpPr/>
              <p:nvPr/>
            </p:nvCxnSpPr>
            <p:spPr>
              <a:xfrm rot="10800000" flipH="1">
                <a:off x="5623945" y="1388000"/>
                <a:ext cx="326603" cy="491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3" name="Google Shape;473;p24"/>
              <p:cNvCxnSpPr/>
              <p:nvPr/>
            </p:nvCxnSpPr>
            <p:spPr>
              <a:xfrm rot="10800000" flipH="1">
                <a:off x="5634990" y="3404568"/>
                <a:ext cx="326603" cy="491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4" name="Google Shape;474;p24"/>
              <p:cNvCxnSpPr/>
              <p:nvPr/>
            </p:nvCxnSpPr>
            <p:spPr>
              <a:xfrm>
                <a:off x="8367979" y="1093908"/>
                <a:ext cx="0" cy="532363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75" name="Google Shape;475;p24"/>
              <p:cNvSpPr txBox="1"/>
              <p:nvPr/>
            </p:nvSpPr>
            <p:spPr>
              <a:xfrm rot="2514107">
                <a:off x="7246820" y="579304"/>
                <a:ext cx="1786613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1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Demand for electrified population</a:t>
                </a:r>
                <a:endParaRPr/>
              </a:p>
            </p:txBody>
          </p:sp>
          <p:sp>
            <p:nvSpPr>
              <p:cNvPr id="476" name="Google Shape;476;p24"/>
              <p:cNvSpPr/>
              <p:nvPr/>
            </p:nvSpPr>
            <p:spPr>
              <a:xfrm>
                <a:off x="6605350" y="1093908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Transmission &amp; Distribution</a:t>
                </a:r>
                <a:endParaRPr/>
              </a:p>
            </p:txBody>
          </p:sp>
          <p:cxnSp>
            <p:nvCxnSpPr>
              <p:cNvPr id="477" name="Google Shape;477;p24"/>
              <p:cNvCxnSpPr/>
              <p:nvPr/>
            </p:nvCxnSpPr>
            <p:spPr>
              <a:xfrm rot="10800000" flipH="1">
                <a:off x="5614087" y="2398743"/>
                <a:ext cx="326603" cy="491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8" name="Google Shape;478;p24"/>
              <p:cNvCxnSpPr/>
              <p:nvPr/>
            </p:nvCxnSpPr>
            <p:spPr>
              <a:xfrm>
                <a:off x="7870493" y="1546078"/>
                <a:ext cx="497486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9" name="Google Shape;479;p24"/>
              <p:cNvCxnSpPr/>
              <p:nvPr/>
            </p:nvCxnSpPr>
            <p:spPr>
              <a:xfrm>
                <a:off x="7896074" y="4574376"/>
                <a:ext cx="966113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80" name="Google Shape;480;p24"/>
              <p:cNvSpPr/>
              <p:nvPr/>
            </p:nvSpPr>
            <p:spPr>
              <a:xfrm>
                <a:off x="6605350" y="3180724"/>
                <a:ext cx="1265143" cy="797461"/>
              </a:xfrm>
              <a:prstGeom prst="rect">
                <a:avLst/>
              </a:prstGeom>
              <a:noFill/>
              <a:ln w="25400" cap="flat" cmpd="sng">
                <a:solidFill>
                  <a:srgbClr val="F5EA1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Dist. Solar PV</a:t>
                </a:r>
                <a:endParaRPr/>
              </a:p>
            </p:txBody>
          </p:sp>
          <p:cxnSp>
            <p:nvCxnSpPr>
              <p:cNvPr id="481" name="Google Shape;481;p24"/>
              <p:cNvCxnSpPr/>
              <p:nvPr/>
            </p:nvCxnSpPr>
            <p:spPr>
              <a:xfrm>
                <a:off x="7885973" y="3579454"/>
                <a:ext cx="976214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82" name="Google Shape;482;p24"/>
              <p:cNvSpPr/>
              <p:nvPr/>
            </p:nvSpPr>
            <p:spPr>
              <a:xfrm>
                <a:off x="6605350" y="4175646"/>
                <a:ext cx="1265143" cy="797461"/>
              </a:xfrm>
              <a:prstGeom prst="rect">
                <a:avLst/>
              </a:prstGeom>
              <a:noFill/>
              <a:ln w="25400" cap="flat" cmpd="sng">
                <a:solidFill>
                  <a:srgbClr val="F5EA1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Dist. Solar PV with battery</a:t>
                </a:r>
                <a:endParaRPr/>
              </a:p>
            </p:txBody>
          </p:sp>
          <p:cxnSp>
            <p:nvCxnSpPr>
              <p:cNvPr id="483" name="Google Shape;483;p24"/>
              <p:cNvCxnSpPr/>
              <p:nvPr/>
            </p:nvCxnSpPr>
            <p:spPr>
              <a:xfrm>
                <a:off x="8863279" y="1093908"/>
                <a:ext cx="0" cy="5334101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4" name="Google Shape;484;p24"/>
              <p:cNvSpPr/>
              <p:nvPr/>
            </p:nvSpPr>
            <p:spPr>
              <a:xfrm>
                <a:off x="6605350" y="2114299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Grid Expansion</a:t>
                </a:r>
                <a:endParaRPr/>
              </a:p>
            </p:txBody>
          </p:sp>
          <p:cxnSp>
            <p:nvCxnSpPr>
              <p:cNvPr id="485" name="Google Shape;485;p24"/>
              <p:cNvCxnSpPr/>
              <p:nvPr/>
            </p:nvCxnSpPr>
            <p:spPr>
              <a:xfrm rot="10800000" flipH="1">
                <a:off x="5961593" y="1388000"/>
                <a:ext cx="640286" cy="4216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86" name="Google Shape;486;p24"/>
              <p:cNvCxnSpPr/>
              <p:nvPr/>
            </p:nvCxnSpPr>
            <p:spPr>
              <a:xfrm>
                <a:off x="7871586" y="2566469"/>
                <a:ext cx="992786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87" name="Google Shape;487;p24"/>
              <p:cNvSpPr txBox="1"/>
              <p:nvPr/>
            </p:nvSpPr>
            <p:spPr>
              <a:xfrm rot="2514107">
                <a:off x="8200163" y="400958"/>
                <a:ext cx="1229879" cy="601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1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Demand for future connections</a:t>
                </a: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6605350" y="5129934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Backstop 1</a:t>
                </a: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6605349" y="5845868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Backstop 2</a:t>
                </a:r>
                <a:endParaRPr/>
              </a:p>
            </p:txBody>
          </p:sp>
          <p:cxnSp>
            <p:nvCxnSpPr>
              <p:cNvPr id="490" name="Google Shape;490;p24"/>
              <p:cNvCxnSpPr/>
              <p:nvPr/>
            </p:nvCxnSpPr>
            <p:spPr>
              <a:xfrm>
                <a:off x="7917551" y="5415103"/>
                <a:ext cx="448241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91" name="Google Shape;491;p24"/>
              <p:cNvCxnSpPr/>
              <p:nvPr/>
            </p:nvCxnSpPr>
            <p:spPr>
              <a:xfrm rot="10800000" flipH="1">
                <a:off x="7917551" y="6137055"/>
                <a:ext cx="944636" cy="1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92" name="Google Shape;492;p24"/>
              <p:cNvCxnSpPr/>
              <p:nvPr/>
            </p:nvCxnSpPr>
            <p:spPr>
              <a:xfrm>
                <a:off x="3131371" y="3105626"/>
                <a:ext cx="344917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93" name="Google Shape;493;p24"/>
              <p:cNvCxnSpPr/>
              <p:nvPr/>
            </p:nvCxnSpPr>
            <p:spPr>
              <a:xfrm>
                <a:off x="3124198" y="1673288"/>
                <a:ext cx="344917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494" name="Google Shape;494;p24"/>
            <p:cNvSpPr txBox="1"/>
            <p:nvPr/>
          </p:nvSpPr>
          <p:spPr>
            <a:xfrm rot="2514107">
              <a:off x="5676663" y="598095"/>
              <a:ext cx="12613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Electricity</a:t>
              </a:r>
              <a:endParaRPr/>
            </a:p>
          </p:txBody>
        </p:sp>
      </p:grpSp>
      <p:sp>
        <p:nvSpPr>
          <p:cNvPr id="495" name="Google Shape;49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2310507" y="2565856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Natural Gas Imports</a:t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2310507" y="1133579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Natural Gas Production</a:t>
            </a:r>
            <a:endParaRPr/>
          </a:p>
        </p:txBody>
      </p:sp>
      <p:sp>
        <p:nvSpPr>
          <p:cNvPr id="503" name="Google Shape;503;p25"/>
          <p:cNvSpPr txBox="1"/>
          <p:nvPr/>
        </p:nvSpPr>
        <p:spPr>
          <a:xfrm rot="2514107">
            <a:off x="3162634" y="608562"/>
            <a:ext cx="12613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Natural Gas</a:t>
            </a:r>
            <a:endParaRPr/>
          </a:p>
        </p:txBody>
      </p:sp>
      <p:cxnSp>
        <p:nvCxnSpPr>
          <p:cNvPr id="504" name="Google Shape;504;p25"/>
          <p:cNvCxnSpPr/>
          <p:nvPr/>
        </p:nvCxnSpPr>
        <p:spPr>
          <a:xfrm>
            <a:off x="3927740" y="1006369"/>
            <a:ext cx="0" cy="5334101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5" name="Google Shape;505;p25"/>
          <p:cNvCxnSpPr/>
          <p:nvPr/>
        </p:nvCxnSpPr>
        <p:spPr>
          <a:xfrm>
            <a:off x="6398528" y="1006369"/>
            <a:ext cx="0" cy="5348271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6" name="Google Shape;506;p25"/>
          <p:cNvSpPr/>
          <p:nvPr/>
        </p:nvSpPr>
        <p:spPr>
          <a:xfrm>
            <a:off x="4804246" y="3036061"/>
            <a:ext cx="1265143" cy="598021"/>
          </a:xfrm>
          <a:prstGeom prst="rect">
            <a:avLst/>
          </a:prstGeom>
          <a:noFill/>
          <a:ln w="254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</a:t>
            </a:r>
            <a:endParaRPr/>
          </a:p>
        </p:txBody>
      </p:sp>
      <p:cxnSp>
        <p:nvCxnSpPr>
          <p:cNvPr id="507" name="Google Shape;507;p25"/>
          <p:cNvCxnSpPr/>
          <p:nvPr/>
        </p:nvCxnSpPr>
        <p:spPr>
          <a:xfrm>
            <a:off x="6413045" y="2305584"/>
            <a:ext cx="637370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8" name="Google Shape;508;p25"/>
          <p:cNvSpPr/>
          <p:nvPr/>
        </p:nvSpPr>
        <p:spPr>
          <a:xfrm>
            <a:off x="4804246" y="4112625"/>
            <a:ext cx="1265143" cy="598021"/>
          </a:xfrm>
          <a:prstGeom prst="rect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New CCGT/GT</a:t>
            </a:r>
            <a:endParaRPr/>
          </a:p>
        </p:txBody>
      </p:sp>
      <p:cxnSp>
        <p:nvCxnSpPr>
          <p:cNvPr id="509" name="Google Shape;509;p25"/>
          <p:cNvCxnSpPr/>
          <p:nvPr/>
        </p:nvCxnSpPr>
        <p:spPr>
          <a:xfrm>
            <a:off x="6086441" y="4416553"/>
            <a:ext cx="326604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0" name="Google Shape;510;p25"/>
          <p:cNvCxnSpPr>
            <a:endCxn id="508" idx="1"/>
          </p:cNvCxnSpPr>
          <p:nvPr/>
        </p:nvCxnSpPr>
        <p:spPr>
          <a:xfrm>
            <a:off x="3927646" y="4411635"/>
            <a:ext cx="876600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1" name="Google Shape;511;p25"/>
          <p:cNvSpPr/>
          <p:nvPr/>
        </p:nvSpPr>
        <p:spPr>
          <a:xfrm>
            <a:off x="4804248" y="1006369"/>
            <a:ext cx="1265143" cy="598021"/>
          </a:xfrm>
          <a:prstGeom prst="rect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Hydro run-of-river</a:t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4804247" y="2037920"/>
            <a:ext cx="1265143" cy="598021"/>
          </a:xfrm>
          <a:prstGeom prst="rect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Hydro Dam</a:t>
            </a:r>
            <a:endParaRPr/>
          </a:p>
        </p:txBody>
      </p:sp>
      <p:cxnSp>
        <p:nvCxnSpPr>
          <p:cNvPr id="513" name="Google Shape;513;p25"/>
          <p:cNvCxnSpPr/>
          <p:nvPr/>
        </p:nvCxnSpPr>
        <p:spPr>
          <a:xfrm rot="10800000" flipH="1">
            <a:off x="6075397" y="1300461"/>
            <a:ext cx="326603" cy="4918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25"/>
          <p:cNvCxnSpPr/>
          <p:nvPr/>
        </p:nvCxnSpPr>
        <p:spPr>
          <a:xfrm rot="10800000" flipH="1">
            <a:off x="6086442" y="3317029"/>
            <a:ext cx="326603" cy="4918"/>
          </a:xfrm>
          <a:prstGeom prst="straightConnector1">
            <a:avLst/>
          </a:prstGeom>
          <a:noFill/>
          <a:ln w="25400" cap="flat" cmpd="sng">
            <a:solidFill>
              <a:srgbClr val="42719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5" name="Google Shape;515;p25"/>
          <p:cNvCxnSpPr/>
          <p:nvPr/>
        </p:nvCxnSpPr>
        <p:spPr>
          <a:xfrm>
            <a:off x="8819431" y="1006369"/>
            <a:ext cx="0" cy="5323638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6" name="Google Shape;516;p25"/>
          <p:cNvSpPr txBox="1"/>
          <p:nvPr/>
        </p:nvSpPr>
        <p:spPr>
          <a:xfrm rot="2514107">
            <a:off x="7698272" y="491765"/>
            <a:ext cx="17866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Demand for electrified population</a:t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7056802" y="1006369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Transmission &amp; Distribution</a:t>
            </a:r>
            <a:endParaRPr/>
          </a:p>
        </p:txBody>
      </p:sp>
      <p:cxnSp>
        <p:nvCxnSpPr>
          <p:cNvPr id="518" name="Google Shape;518;p25"/>
          <p:cNvCxnSpPr/>
          <p:nvPr/>
        </p:nvCxnSpPr>
        <p:spPr>
          <a:xfrm rot="10800000" flipH="1">
            <a:off x="6065539" y="2311204"/>
            <a:ext cx="326603" cy="4918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9" name="Google Shape;519;p25"/>
          <p:cNvCxnSpPr/>
          <p:nvPr/>
        </p:nvCxnSpPr>
        <p:spPr>
          <a:xfrm>
            <a:off x="8321945" y="1458539"/>
            <a:ext cx="497486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0" name="Google Shape;520;p25"/>
          <p:cNvCxnSpPr/>
          <p:nvPr/>
        </p:nvCxnSpPr>
        <p:spPr>
          <a:xfrm>
            <a:off x="8347526" y="4486837"/>
            <a:ext cx="966113" cy="0"/>
          </a:xfrm>
          <a:prstGeom prst="straightConnector1">
            <a:avLst/>
          </a:prstGeom>
          <a:noFill/>
          <a:ln w="25400" cap="flat" cmpd="sng">
            <a:solidFill>
              <a:srgbClr val="42719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1" name="Google Shape;521;p25"/>
          <p:cNvSpPr/>
          <p:nvPr/>
        </p:nvSpPr>
        <p:spPr>
          <a:xfrm>
            <a:off x="7056802" y="3093185"/>
            <a:ext cx="1265143" cy="797461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Dist. Solar PV</a:t>
            </a:r>
            <a:endParaRPr/>
          </a:p>
        </p:txBody>
      </p:sp>
      <p:cxnSp>
        <p:nvCxnSpPr>
          <p:cNvPr id="522" name="Google Shape;522;p25"/>
          <p:cNvCxnSpPr/>
          <p:nvPr/>
        </p:nvCxnSpPr>
        <p:spPr>
          <a:xfrm>
            <a:off x="8337425" y="3491915"/>
            <a:ext cx="976214" cy="0"/>
          </a:xfrm>
          <a:prstGeom prst="straightConnector1">
            <a:avLst/>
          </a:prstGeom>
          <a:noFill/>
          <a:ln w="25400" cap="flat" cmpd="sng">
            <a:solidFill>
              <a:srgbClr val="42719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3" name="Google Shape;523;p25"/>
          <p:cNvSpPr/>
          <p:nvPr/>
        </p:nvSpPr>
        <p:spPr>
          <a:xfrm>
            <a:off x="7056802" y="4088107"/>
            <a:ext cx="1265143" cy="797461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Dist. Solar PV with battery</a:t>
            </a:r>
            <a:endParaRPr/>
          </a:p>
        </p:txBody>
      </p:sp>
      <p:cxnSp>
        <p:nvCxnSpPr>
          <p:cNvPr id="524" name="Google Shape;524;p25"/>
          <p:cNvCxnSpPr/>
          <p:nvPr/>
        </p:nvCxnSpPr>
        <p:spPr>
          <a:xfrm>
            <a:off x="9314731" y="1006369"/>
            <a:ext cx="0" cy="5334101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5" name="Google Shape;525;p25"/>
          <p:cNvSpPr/>
          <p:nvPr/>
        </p:nvSpPr>
        <p:spPr>
          <a:xfrm>
            <a:off x="7056802" y="2026760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Grid Expansion</a:t>
            </a:r>
            <a:endParaRPr/>
          </a:p>
        </p:txBody>
      </p:sp>
      <p:cxnSp>
        <p:nvCxnSpPr>
          <p:cNvPr id="526" name="Google Shape;526;p25"/>
          <p:cNvCxnSpPr/>
          <p:nvPr/>
        </p:nvCxnSpPr>
        <p:spPr>
          <a:xfrm rot="10800000" flipH="1">
            <a:off x="6413045" y="1300461"/>
            <a:ext cx="640286" cy="4216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7" name="Google Shape;527;p25"/>
          <p:cNvCxnSpPr/>
          <p:nvPr/>
        </p:nvCxnSpPr>
        <p:spPr>
          <a:xfrm>
            <a:off x="8323038" y="2478930"/>
            <a:ext cx="992786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8" name="Google Shape;528;p25"/>
          <p:cNvSpPr txBox="1"/>
          <p:nvPr/>
        </p:nvSpPr>
        <p:spPr>
          <a:xfrm rot="2514107">
            <a:off x="8651615" y="313419"/>
            <a:ext cx="1229879" cy="60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Demand for future connections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7056802" y="5042395"/>
            <a:ext cx="1265143" cy="598021"/>
          </a:xfrm>
          <a:prstGeom prst="rect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Backstop 1</a:t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7056801" y="5758329"/>
            <a:ext cx="1265143" cy="598021"/>
          </a:xfrm>
          <a:prstGeom prst="rect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Backstop 2</a:t>
            </a:r>
            <a:endParaRPr/>
          </a:p>
        </p:txBody>
      </p:sp>
      <p:cxnSp>
        <p:nvCxnSpPr>
          <p:cNvPr id="531" name="Google Shape;531;p25"/>
          <p:cNvCxnSpPr/>
          <p:nvPr/>
        </p:nvCxnSpPr>
        <p:spPr>
          <a:xfrm>
            <a:off x="8369003" y="5327564"/>
            <a:ext cx="448241" cy="0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532" name="Google Shape;532;p25"/>
          <p:cNvCxnSpPr/>
          <p:nvPr/>
        </p:nvCxnSpPr>
        <p:spPr>
          <a:xfrm rot="10800000" flipH="1">
            <a:off x="8369003" y="6049516"/>
            <a:ext cx="944636" cy="1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533" name="Google Shape;533;p25"/>
          <p:cNvCxnSpPr/>
          <p:nvPr/>
        </p:nvCxnSpPr>
        <p:spPr>
          <a:xfrm>
            <a:off x="3582823" y="3018087"/>
            <a:ext cx="344917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4" name="Google Shape;534;p25"/>
          <p:cNvCxnSpPr/>
          <p:nvPr/>
        </p:nvCxnSpPr>
        <p:spPr>
          <a:xfrm>
            <a:off x="3575650" y="1585749"/>
            <a:ext cx="344917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5" name="Google Shape;535;p25"/>
          <p:cNvSpPr txBox="1"/>
          <p:nvPr/>
        </p:nvSpPr>
        <p:spPr>
          <a:xfrm rot="2514107">
            <a:off x="5676663" y="598095"/>
            <a:ext cx="12613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Electricity</a:t>
            </a:r>
            <a:endParaRPr/>
          </a:p>
        </p:txBody>
      </p:sp>
      <p:sp>
        <p:nvSpPr>
          <p:cNvPr id="536" name="Google Shape;5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sv-SE" sz="2590"/>
              <a:t>We continue to create a TECHNOLOGY called </a:t>
            </a:r>
            <a:r>
              <a:rPr lang="sv-SE" sz="2590" b="1"/>
              <a:t>WIND</a:t>
            </a:r>
            <a:r>
              <a:rPr lang="sv-SE" sz="2590"/>
              <a:t>.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sv-SE" sz="2590"/>
              <a:t>The following parameters are taken into account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OutputActivityRatio: </a:t>
            </a:r>
            <a:r>
              <a:rPr lang="sv-SE" sz="2590"/>
              <a:t>defines the rate of fuel provided (i.e. Electricity)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VariableCost</a:t>
            </a:r>
            <a:r>
              <a:rPr lang="sv-SE" sz="2590"/>
              <a:t>: defines the variable Operation &amp; Maintenance cost ($M/PJ or $/GJ)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CapitalCost: </a:t>
            </a:r>
            <a:r>
              <a:rPr lang="sv-SE" sz="2590"/>
              <a:t>defines the overnight investment cost of the plant ($M/GW or $/kW)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CapacityFactor</a:t>
            </a:r>
            <a:r>
              <a:rPr lang="sv-SE" sz="2590"/>
              <a:t>: represents the variability in generation at each point in time. 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OperationalLife</a:t>
            </a:r>
            <a:r>
              <a:rPr lang="sv-SE" sz="2590"/>
              <a:t>: defines the lifetime of the technology (in years)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/>
              <a:t>CapacitytoActivityUnit: defines how much activity can occur by one unit of capacity in one year (in this case we are using GW for capacity and PJ for energy, thus 1 GW can provide 31.536 PJ annually)</a:t>
            </a:r>
            <a:endParaRPr/>
          </a:p>
        </p:txBody>
      </p:sp>
      <p:sp>
        <p:nvSpPr>
          <p:cNvPr id="542" name="Google Shape;542;p2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sp>
        <p:nvSpPr>
          <p:cNvPr id="543" name="Google Shape;543;p2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wind technology</a:t>
            </a:r>
            <a:endParaRPr/>
          </a:p>
        </p:txBody>
      </p:sp>
      <p:sp>
        <p:nvSpPr>
          <p:cNvPr id="544" name="Google Shape;54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7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738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WIND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OutputActivityRatio: </a:t>
            </a:r>
            <a:r>
              <a:rPr lang="sv-SE"/>
              <a:t>Choose the </a:t>
            </a:r>
            <a:r>
              <a:rPr lang="sv-SE" b="1"/>
              <a:t>SEC_EL</a:t>
            </a:r>
            <a:r>
              <a:rPr lang="sv-SE"/>
              <a:t> fuel and insert the following for mode of operation 1.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Note that for RET, we don’t need to define an input fuel</a:t>
            </a:r>
            <a:endParaRPr i="1"/>
          </a:p>
        </p:txBody>
      </p:sp>
      <p:sp>
        <p:nvSpPr>
          <p:cNvPr id="550" name="Google Shape;550;p2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  <p:graphicFrame>
        <p:nvGraphicFramePr>
          <p:cNvPr id="551" name="Google Shape;551;p27"/>
          <p:cNvGraphicFramePr/>
          <p:nvPr/>
        </p:nvGraphicFramePr>
        <p:xfrm>
          <a:off x="2650670" y="3294741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2" name="Google Shape;552;p2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wind technology</a:t>
            </a:r>
            <a:endParaRPr/>
          </a:p>
        </p:txBody>
      </p:sp>
      <p:sp>
        <p:nvSpPr>
          <p:cNvPr id="553" name="Google Shape;55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WIND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VariableCost: </a:t>
            </a:r>
            <a:r>
              <a:rPr lang="sv-SE"/>
              <a:t>Insert the following for mode of operation 1.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59" name="Google Shape;559;p2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6</a:t>
            </a:fld>
            <a:endParaRPr/>
          </a:p>
        </p:txBody>
      </p:sp>
      <p:graphicFrame>
        <p:nvGraphicFramePr>
          <p:cNvPr id="560" name="Google Shape;560;p28"/>
          <p:cNvGraphicFramePr/>
          <p:nvPr/>
        </p:nvGraphicFramePr>
        <p:xfrm>
          <a:off x="2650670" y="2903637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1" name="Google Shape;561;p28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wind technology</a:t>
            </a:r>
            <a:endParaRPr/>
          </a:p>
        </p:txBody>
      </p:sp>
      <p:sp>
        <p:nvSpPr>
          <p:cNvPr id="562" name="Google Shape;5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9"/>
          <p:cNvSpPr txBox="1">
            <a:spLocks noGrp="1"/>
          </p:cNvSpPr>
          <p:nvPr>
            <p:ph type="body" idx="1"/>
          </p:nvPr>
        </p:nvSpPr>
        <p:spPr>
          <a:xfrm>
            <a:off x="838199" y="1825624"/>
            <a:ext cx="10515601" cy="4443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WIND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CapitalCost: </a:t>
            </a:r>
            <a:r>
              <a:rPr lang="sv-SE"/>
              <a:t>Insert the following values.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The </a:t>
            </a:r>
            <a:r>
              <a:rPr lang="sv-SE" i="1"/>
              <a:t>OperationalLife</a:t>
            </a:r>
            <a:r>
              <a:rPr lang="sv-SE"/>
              <a:t> can be set to </a:t>
            </a:r>
            <a:r>
              <a:rPr lang="sv-SE" b="1"/>
              <a:t>25 </a:t>
            </a:r>
            <a:r>
              <a:rPr lang="sv-SE"/>
              <a:t>years, while the CapacitytoActivityUnit can be set to </a:t>
            </a:r>
            <a:r>
              <a:rPr lang="sv-SE" b="1"/>
              <a:t>31.536</a:t>
            </a:r>
            <a:r>
              <a:rPr lang="sv-SE"/>
              <a:t>.</a:t>
            </a:r>
            <a:endParaRPr/>
          </a:p>
        </p:txBody>
      </p:sp>
      <p:sp>
        <p:nvSpPr>
          <p:cNvPr id="568" name="Google Shape;568;p2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7</a:t>
            </a:fld>
            <a:endParaRPr/>
          </a:p>
        </p:txBody>
      </p:sp>
      <p:graphicFrame>
        <p:nvGraphicFramePr>
          <p:cNvPr id="569" name="Google Shape;569;p29"/>
          <p:cNvGraphicFramePr/>
          <p:nvPr/>
        </p:nvGraphicFramePr>
        <p:xfrm>
          <a:off x="2513716" y="2975717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WIND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1845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1808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1772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1736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1702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1634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1601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1569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WIND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1448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1419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1390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1362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1356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1349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WIND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1342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1335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1329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1322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1309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1302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1296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1289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0" name="Google Shape;570;p2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wind technology</a:t>
            </a:r>
            <a:endParaRPr/>
          </a:p>
        </p:txBody>
      </p:sp>
      <p:sp>
        <p:nvSpPr>
          <p:cNvPr id="571" name="Google Shape;5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0"/>
          <p:cNvSpPr txBox="1">
            <a:spLocks noGrp="1"/>
          </p:cNvSpPr>
          <p:nvPr>
            <p:ph type="body" idx="1"/>
          </p:nvPr>
        </p:nvSpPr>
        <p:spPr>
          <a:xfrm>
            <a:off x="838199" y="1825624"/>
            <a:ext cx="10515601" cy="431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WIND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CapacityFactor: </a:t>
            </a:r>
            <a:r>
              <a:rPr lang="sv-SE"/>
              <a:t>Insert the following values for the entire modelling period. </a:t>
            </a:r>
            <a:endParaRPr/>
          </a:p>
        </p:txBody>
      </p:sp>
      <p:sp>
        <p:nvSpPr>
          <p:cNvPr id="577" name="Google Shape;577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8</a:t>
            </a:fld>
            <a:endParaRPr/>
          </a:p>
        </p:txBody>
      </p:sp>
      <p:graphicFrame>
        <p:nvGraphicFramePr>
          <p:cNvPr id="578" name="Google Shape;578;p30"/>
          <p:cNvGraphicFramePr/>
          <p:nvPr/>
        </p:nvGraphicFramePr>
        <p:xfrm>
          <a:off x="4992459" y="2961957"/>
          <a:ext cx="2364900" cy="206883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118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ID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IN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SD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SN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WD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WN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9" name="Google Shape;579;p30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wind technology</a:t>
            </a:r>
            <a:endParaRPr/>
          </a:p>
        </p:txBody>
      </p:sp>
      <p:sp>
        <p:nvSpPr>
          <p:cNvPr id="580" name="Google Shape;58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1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86" name="Google Shape;586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9</a:t>
            </a:fld>
            <a:endParaRPr/>
          </a:p>
        </p:txBody>
      </p:sp>
      <p:pic>
        <p:nvPicPr>
          <p:cNvPr id="587" name="Google Shape;58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725" y="1648594"/>
            <a:ext cx="9448549" cy="478726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Run the model and check the results!</a:t>
            </a:r>
            <a:endParaRPr/>
          </a:p>
        </p:txBody>
      </p:sp>
      <p:sp>
        <p:nvSpPr>
          <p:cNvPr id="589" name="Google Shape;58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Widescreen</PresentationFormat>
  <Paragraphs>273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KTH-OpTIMUS-DFID</vt:lpstr>
      <vt:lpstr>Exercise - Learning Objectives</vt:lpstr>
      <vt:lpstr>PowerPoint Presentation</vt:lpstr>
      <vt:lpstr>PowerPoint Presentation</vt:lpstr>
      <vt:lpstr>Defining a wind technology</vt:lpstr>
      <vt:lpstr>Defining a wind technology</vt:lpstr>
      <vt:lpstr>Defining a wind technology</vt:lpstr>
      <vt:lpstr>Defining a wind technology</vt:lpstr>
      <vt:lpstr>Defining a wind technology</vt:lpstr>
      <vt:lpstr>Run the model and check the results!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- Learning Objectives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2020-04-03T11:41:43Z</dcterms:modified>
</cp:coreProperties>
</file>