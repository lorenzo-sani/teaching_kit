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7"/>
  </p:notesMasterIdLst>
  <p:handoutMasterIdLst>
    <p:handoutMasterId r:id="rId18"/>
  </p:handoutMasterIdLst>
  <p:sldIdLst>
    <p:sldId id="321" r:id="rId2"/>
    <p:sldId id="289" r:id="rId3"/>
    <p:sldId id="290" r:id="rId4"/>
    <p:sldId id="291" r:id="rId5"/>
    <p:sldId id="292" r:id="rId6"/>
    <p:sldId id="309" r:id="rId7"/>
    <p:sldId id="32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2233"/>
            <a:ext cx="10515600" cy="36607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, they are assigned through two parameters: </a:t>
            </a:r>
            <a:r>
              <a:rPr lang="en-US" b="1" dirty="0" err="1"/>
              <a:t>InputActivityRatio</a:t>
            </a:r>
            <a:r>
              <a:rPr lang="en-US" dirty="0"/>
              <a:t> and </a:t>
            </a:r>
            <a:r>
              <a:rPr lang="en-US" b="1" dirty="0" err="1"/>
              <a:t>OutputActivityRatio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827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231" y="2222233"/>
            <a:ext cx="10549569" cy="36607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, they are assigned through two parameters: </a:t>
            </a:r>
            <a:r>
              <a:rPr lang="en-US" b="1" dirty="0" err="1"/>
              <a:t>InputActivityRatio</a:t>
            </a:r>
            <a:r>
              <a:rPr lang="en-US" dirty="0"/>
              <a:t> and </a:t>
            </a:r>
            <a:r>
              <a:rPr lang="en-US" b="1" dirty="0" err="1"/>
              <a:t>OutputActivityRatio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a bakery has one bread-making machine.</a:t>
            </a:r>
          </a:p>
          <a:p>
            <a:pPr marL="0" indent="0">
              <a:buNone/>
            </a:pPr>
            <a:r>
              <a:rPr lang="en-US" dirty="0"/>
              <a:t>If the machine is loaded with 5 kg of flour and 4 </a:t>
            </a:r>
            <a:r>
              <a:rPr lang="en-US" dirty="0" err="1"/>
              <a:t>litres</a:t>
            </a:r>
            <a:r>
              <a:rPr lang="en-US" dirty="0"/>
              <a:t> of water, it produces 50 baguettes.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38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2233"/>
            <a:ext cx="10515600" cy="36607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the machine is loaded with 5 kg of flour and 4 </a:t>
            </a:r>
            <a:r>
              <a:rPr lang="en-US" dirty="0" err="1"/>
              <a:t>litres</a:t>
            </a:r>
            <a:r>
              <a:rPr lang="en-US" dirty="0"/>
              <a:t> of water, it produces </a:t>
            </a:r>
            <a:r>
              <a:rPr lang="en-US" b="1" dirty="0"/>
              <a:t>50 baguettes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27A86-7CA0-4B8F-BB3D-2D1EEA541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42" y="3629201"/>
            <a:ext cx="2652296" cy="2243024"/>
          </a:xfrm>
          <a:prstGeom prst="rect">
            <a:avLst/>
          </a:prstGeom>
        </p:spPr>
      </p:pic>
      <p:pic>
        <p:nvPicPr>
          <p:cNvPr id="8" name="Picture 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4695DC71-C70F-4982-AD9A-BCF27D1CF2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230" y="4111617"/>
            <a:ext cx="1855531" cy="1247160"/>
          </a:xfrm>
          <a:prstGeom prst="rect">
            <a:avLst/>
          </a:prstGeom>
        </p:spPr>
      </p:pic>
      <p:pic>
        <p:nvPicPr>
          <p:cNvPr id="10" name="Picture 9" descr="A picture containing clothing&#10;&#10;Description generated with very high confidence">
            <a:extLst>
              <a:ext uri="{FF2B5EF4-FFF2-40B4-BE49-F238E27FC236}">
                <a16:creationId xmlns:a16="http://schemas.microsoft.com/office/drawing/2014/main" id="{092F49F1-A18B-459E-AADC-A8C5AEF2ED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77" y="3557216"/>
            <a:ext cx="765073" cy="1108801"/>
          </a:xfrm>
          <a:prstGeom prst="rect">
            <a:avLst/>
          </a:prstGeom>
        </p:spPr>
      </p:pic>
      <p:pic>
        <p:nvPicPr>
          <p:cNvPr id="12" name="Picture 11" descr="A picture containing cup, sky, sitting, table&#10;&#10;Description generated with very high confidence">
            <a:extLst>
              <a:ext uri="{FF2B5EF4-FFF2-40B4-BE49-F238E27FC236}">
                <a16:creationId xmlns:a16="http://schemas.microsoft.com/office/drawing/2014/main" id="{CF176C0F-363E-470F-83B2-F84FA6EB5C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703" y="4854812"/>
            <a:ext cx="1037303" cy="989587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C46E4D-954E-4FDF-A2DE-88867535CE2A}"/>
              </a:ext>
            </a:extLst>
          </p:cNvPr>
          <p:cNvSpPr/>
          <p:nvPr/>
        </p:nvSpPr>
        <p:spPr>
          <a:xfrm>
            <a:off x="3006006" y="4111616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7AD4056-F3C5-41E8-9A63-9E09EA111148}"/>
              </a:ext>
            </a:extLst>
          </p:cNvPr>
          <p:cNvSpPr/>
          <p:nvPr/>
        </p:nvSpPr>
        <p:spPr>
          <a:xfrm>
            <a:off x="3006006" y="5201332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B5FAAB8-BAFD-4691-A2AE-B57EB97DF4D5}"/>
              </a:ext>
            </a:extLst>
          </p:cNvPr>
          <p:cNvSpPr/>
          <p:nvPr/>
        </p:nvSpPr>
        <p:spPr>
          <a:xfrm>
            <a:off x="6579401" y="4692584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067D0C8-23EC-45A1-96F7-CEBBB821F1B4}"/>
              </a:ext>
            </a:extLst>
          </p:cNvPr>
          <p:cNvSpPr txBox="1">
            <a:spLocks/>
          </p:cNvSpPr>
          <p:nvPr/>
        </p:nvSpPr>
        <p:spPr>
          <a:xfrm>
            <a:off x="905693" y="3930822"/>
            <a:ext cx="975852" cy="5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5 kg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B27D38C-10E9-4416-90F4-F250923BE17F}"/>
              </a:ext>
            </a:extLst>
          </p:cNvPr>
          <p:cNvSpPr txBox="1">
            <a:spLocks/>
          </p:cNvSpPr>
          <p:nvPr/>
        </p:nvSpPr>
        <p:spPr>
          <a:xfrm>
            <a:off x="905693" y="5201332"/>
            <a:ext cx="975852" cy="5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4 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ED6DFAA-D3E7-405D-996A-9BD92815B5F1}"/>
              </a:ext>
            </a:extLst>
          </p:cNvPr>
          <p:cNvSpPr txBox="1">
            <a:spLocks/>
          </p:cNvSpPr>
          <p:nvPr/>
        </p:nvSpPr>
        <p:spPr>
          <a:xfrm>
            <a:off x="7448017" y="3517514"/>
            <a:ext cx="2091956" cy="5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50 baguettes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2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694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222233"/>
            <a:ext cx="10515601" cy="36607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Then, to produce 1 baguette, 100 g of flour and 80 cl of water are needed.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27A86-7CA0-4B8F-BB3D-2D1EEA541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42" y="3629201"/>
            <a:ext cx="2652296" cy="2243024"/>
          </a:xfrm>
          <a:prstGeom prst="rect">
            <a:avLst/>
          </a:prstGeom>
        </p:spPr>
      </p:pic>
      <p:pic>
        <p:nvPicPr>
          <p:cNvPr id="8" name="Picture 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4695DC71-C70F-4982-AD9A-BCF27D1CF2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230" y="4111617"/>
            <a:ext cx="1855531" cy="1247160"/>
          </a:xfrm>
          <a:prstGeom prst="rect">
            <a:avLst/>
          </a:prstGeom>
        </p:spPr>
      </p:pic>
      <p:pic>
        <p:nvPicPr>
          <p:cNvPr id="10" name="Picture 9" descr="A picture containing clothing&#10;&#10;Description generated with very high confidence">
            <a:extLst>
              <a:ext uri="{FF2B5EF4-FFF2-40B4-BE49-F238E27FC236}">
                <a16:creationId xmlns:a16="http://schemas.microsoft.com/office/drawing/2014/main" id="{092F49F1-A18B-459E-AADC-A8C5AEF2ED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77" y="3557216"/>
            <a:ext cx="765073" cy="1108801"/>
          </a:xfrm>
          <a:prstGeom prst="rect">
            <a:avLst/>
          </a:prstGeom>
        </p:spPr>
      </p:pic>
      <p:pic>
        <p:nvPicPr>
          <p:cNvPr id="12" name="Picture 11" descr="A picture containing cup, sky, sitting, table&#10;&#10;Description generated with very high confidence">
            <a:extLst>
              <a:ext uri="{FF2B5EF4-FFF2-40B4-BE49-F238E27FC236}">
                <a16:creationId xmlns:a16="http://schemas.microsoft.com/office/drawing/2014/main" id="{CF176C0F-363E-470F-83B2-F84FA6EB5C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703" y="4854812"/>
            <a:ext cx="1037303" cy="989587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C46E4D-954E-4FDF-A2DE-88867535CE2A}"/>
              </a:ext>
            </a:extLst>
          </p:cNvPr>
          <p:cNvSpPr/>
          <p:nvPr/>
        </p:nvSpPr>
        <p:spPr>
          <a:xfrm>
            <a:off x="3006006" y="4111616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7AD4056-F3C5-41E8-9A63-9E09EA111148}"/>
              </a:ext>
            </a:extLst>
          </p:cNvPr>
          <p:cNvSpPr/>
          <p:nvPr/>
        </p:nvSpPr>
        <p:spPr>
          <a:xfrm>
            <a:off x="3006006" y="5201332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B5FAAB8-BAFD-4691-A2AE-B57EB97DF4D5}"/>
              </a:ext>
            </a:extLst>
          </p:cNvPr>
          <p:cNvSpPr/>
          <p:nvPr/>
        </p:nvSpPr>
        <p:spPr>
          <a:xfrm>
            <a:off x="6579401" y="4692584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067D0C8-23EC-45A1-96F7-CEBBB821F1B4}"/>
              </a:ext>
            </a:extLst>
          </p:cNvPr>
          <p:cNvSpPr txBox="1">
            <a:spLocks/>
          </p:cNvSpPr>
          <p:nvPr/>
        </p:nvSpPr>
        <p:spPr>
          <a:xfrm>
            <a:off x="758209" y="3930822"/>
            <a:ext cx="1098328" cy="5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100 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B27D38C-10E9-4416-90F4-F250923BE17F}"/>
              </a:ext>
            </a:extLst>
          </p:cNvPr>
          <p:cNvSpPr txBox="1">
            <a:spLocks/>
          </p:cNvSpPr>
          <p:nvPr/>
        </p:nvSpPr>
        <p:spPr>
          <a:xfrm>
            <a:off x="905693" y="5201332"/>
            <a:ext cx="975852" cy="5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80 cl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ED6DFAA-D3E7-405D-996A-9BD92815B5F1}"/>
              </a:ext>
            </a:extLst>
          </p:cNvPr>
          <p:cNvSpPr txBox="1">
            <a:spLocks/>
          </p:cNvSpPr>
          <p:nvPr/>
        </p:nvSpPr>
        <p:spPr>
          <a:xfrm>
            <a:off x="7448017" y="3517514"/>
            <a:ext cx="2091956" cy="5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 baguette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2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95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2232"/>
            <a:ext cx="5923526" cy="4134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 we would say that for an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OutputActivityRatio</a:t>
            </a:r>
            <a:r>
              <a:rPr lang="en-US" b="1" dirty="0"/>
              <a:t> for baguette =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need </a:t>
            </a:r>
            <a:r>
              <a:rPr lang="en-US" sz="2000" i="1" dirty="0"/>
              <a:t>(using the units displayed on the right)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InputActivityRatio</a:t>
            </a:r>
            <a:r>
              <a:rPr lang="en-US" b="1" dirty="0"/>
              <a:t> for flour = 100</a:t>
            </a:r>
          </a:p>
          <a:p>
            <a:pPr marL="0" indent="0">
              <a:buNone/>
            </a:pPr>
            <a:r>
              <a:rPr lang="en-US" b="1" dirty="0" err="1"/>
              <a:t>InputActivityRatio</a:t>
            </a:r>
            <a:r>
              <a:rPr lang="en-US" b="1" dirty="0"/>
              <a:t> for water = 80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27A86-7CA0-4B8F-BB3D-2D1EEA541C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30" y="3287170"/>
            <a:ext cx="1693814" cy="1432444"/>
          </a:xfrm>
          <a:prstGeom prst="rect">
            <a:avLst/>
          </a:prstGeom>
        </p:spPr>
      </p:pic>
      <p:pic>
        <p:nvPicPr>
          <p:cNvPr id="8" name="Picture 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4695DC71-C70F-4982-AD9A-BCF27D1CF2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661" y="3563288"/>
            <a:ext cx="1179596" cy="792843"/>
          </a:xfrm>
          <a:prstGeom prst="rect">
            <a:avLst/>
          </a:prstGeom>
        </p:spPr>
      </p:pic>
      <p:pic>
        <p:nvPicPr>
          <p:cNvPr id="10" name="Picture 9" descr="A picture containing clothing&#10;&#10;Description generated with very high confidence">
            <a:extLst>
              <a:ext uri="{FF2B5EF4-FFF2-40B4-BE49-F238E27FC236}">
                <a16:creationId xmlns:a16="http://schemas.microsoft.com/office/drawing/2014/main" id="{092F49F1-A18B-459E-AADC-A8C5AEF2ED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022" y="3266222"/>
            <a:ext cx="486858" cy="705591"/>
          </a:xfrm>
          <a:prstGeom prst="rect">
            <a:avLst/>
          </a:prstGeom>
        </p:spPr>
      </p:pic>
      <p:pic>
        <p:nvPicPr>
          <p:cNvPr id="12" name="Picture 11" descr="A picture containing cup, sky, sitting, table&#10;&#10;Description generated with very high confidence">
            <a:extLst>
              <a:ext uri="{FF2B5EF4-FFF2-40B4-BE49-F238E27FC236}">
                <a16:creationId xmlns:a16="http://schemas.microsoft.com/office/drawing/2014/main" id="{CF176C0F-363E-470F-83B2-F84FA6EB5C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902" y="3971813"/>
            <a:ext cx="828853" cy="790726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C46E4D-954E-4FDF-A2DE-88867535CE2A}"/>
              </a:ext>
            </a:extLst>
          </p:cNvPr>
          <p:cNvSpPr/>
          <p:nvPr/>
        </p:nvSpPr>
        <p:spPr>
          <a:xfrm>
            <a:off x="7299309" y="3620220"/>
            <a:ext cx="507925" cy="1311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7AD4056-F3C5-41E8-9A63-9E09EA111148}"/>
              </a:ext>
            </a:extLst>
          </p:cNvPr>
          <p:cNvSpPr/>
          <p:nvPr/>
        </p:nvSpPr>
        <p:spPr>
          <a:xfrm>
            <a:off x="7299309" y="4271202"/>
            <a:ext cx="527923" cy="1311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B5FAAB8-BAFD-4691-A2AE-B57EB97DF4D5}"/>
              </a:ext>
            </a:extLst>
          </p:cNvPr>
          <p:cNvSpPr/>
          <p:nvPr/>
        </p:nvSpPr>
        <p:spPr>
          <a:xfrm>
            <a:off x="9593677" y="3882343"/>
            <a:ext cx="458983" cy="1292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067D0C8-23EC-45A1-96F7-CEBBB821F1B4}"/>
              </a:ext>
            </a:extLst>
          </p:cNvPr>
          <p:cNvSpPr txBox="1">
            <a:spLocks/>
          </p:cNvSpPr>
          <p:nvPr/>
        </p:nvSpPr>
        <p:spPr>
          <a:xfrm>
            <a:off x="6239245" y="2799203"/>
            <a:ext cx="1428609" cy="79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100 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B27D38C-10E9-4416-90F4-F250923BE17F}"/>
              </a:ext>
            </a:extLst>
          </p:cNvPr>
          <p:cNvSpPr txBox="1">
            <a:spLocks/>
          </p:cNvSpPr>
          <p:nvPr/>
        </p:nvSpPr>
        <p:spPr>
          <a:xfrm>
            <a:off x="6399194" y="4870015"/>
            <a:ext cx="1269303" cy="79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80 cl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ED6DFAA-D3E7-405D-996A-9BD92815B5F1}"/>
              </a:ext>
            </a:extLst>
          </p:cNvPr>
          <p:cNvSpPr txBox="1">
            <a:spLocks/>
          </p:cNvSpPr>
          <p:nvPr/>
        </p:nvSpPr>
        <p:spPr>
          <a:xfrm>
            <a:off x="9715944" y="3059805"/>
            <a:ext cx="1772989" cy="79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 baguette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2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2232"/>
            <a:ext cx="10515600" cy="871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same concept can be extended to anything representing a process with inputs and outputs, e.g. a power plant: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pic>
        <p:nvPicPr>
          <p:cNvPr id="22" name="Picture 21" descr="A factory with tall grass&#10;&#10;Description generated with high confidence">
            <a:extLst>
              <a:ext uri="{FF2B5EF4-FFF2-40B4-BE49-F238E27FC236}">
                <a16:creationId xmlns:a16="http://schemas.microsoft.com/office/drawing/2014/main" id="{FF7A50E7-E9BE-453B-9FB4-B80AC22A63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285" y="3213919"/>
            <a:ext cx="2499706" cy="1407242"/>
          </a:xfrm>
          <a:prstGeom prst="rect">
            <a:avLst/>
          </a:prstGeom>
        </p:spPr>
      </p:pic>
      <p:pic>
        <p:nvPicPr>
          <p:cNvPr id="23" name="Picture 22" descr="A picture containing truffle, indoor, sitting, rock&#10;&#10;Description generated with very high confidence">
            <a:extLst>
              <a:ext uri="{FF2B5EF4-FFF2-40B4-BE49-F238E27FC236}">
                <a16:creationId xmlns:a16="http://schemas.microsoft.com/office/drawing/2014/main" id="{0EB35B95-BBB7-4441-B6E0-1331088AA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436691"/>
            <a:ext cx="1564126" cy="1098612"/>
          </a:xfrm>
          <a:prstGeom prst="rect">
            <a:avLst/>
          </a:prstGeom>
        </p:spPr>
      </p:pic>
      <p:pic>
        <p:nvPicPr>
          <p:cNvPr id="24" name="Picture 23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A724BB6D-058B-47FA-AB86-11ED27E2E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50" y="3333579"/>
            <a:ext cx="1806255" cy="1201724"/>
          </a:xfrm>
          <a:prstGeom prst="rect">
            <a:avLst/>
          </a:prstGeom>
        </p:spPr>
      </p:pic>
      <p:sp>
        <p:nvSpPr>
          <p:cNvPr id="25" name="Arrow: Right 12">
            <a:extLst>
              <a:ext uri="{FF2B5EF4-FFF2-40B4-BE49-F238E27FC236}">
                <a16:creationId xmlns:a16="http://schemas.microsoft.com/office/drawing/2014/main" id="{AD9A33F8-D9F2-4920-A9C4-8D181E9AA669}"/>
              </a:ext>
            </a:extLst>
          </p:cNvPr>
          <p:cNvSpPr/>
          <p:nvPr/>
        </p:nvSpPr>
        <p:spPr>
          <a:xfrm>
            <a:off x="3773926" y="3934441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Arrow: Right 14">
            <a:extLst>
              <a:ext uri="{FF2B5EF4-FFF2-40B4-BE49-F238E27FC236}">
                <a16:creationId xmlns:a16="http://schemas.microsoft.com/office/drawing/2014/main" id="{77165F1A-0FEB-4BAB-9524-842BF35B299E}"/>
              </a:ext>
            </a:extLst>
          </p:cNvPr>
          <p:cNvSpPr/>
          <p:nvPr/>
        </p:nvSpPr>
        <p:spPr>
          <a:xfrm>
            <a:off x="7200468" y="3934441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840288" y="5393398"/>
            <a:ext cx="3747998" cy="871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NB! </a:t>
            </a:r>
            <a:r>
              <a:rPr lang="en-US" b="1" dirty="0"/>
              <a:t>For a power plant: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39789" y="5253974"/>
                <a:ext cx="5467676" cy="758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b="1" i="0" smtClean="0">
                              <a:latin typeface="Cambria Math" panose="02040503050406030204" pitchFamily="18" charset="0"/>
                            </a:rPr>
                            <m:t>𝐎𝐮𝐭𝐩𝐮𝐭𝐀𝐜𝐭𝐢𝐯𝐢𝐭𝐲𝐑𝐚𝐭𝐢𝐨</m:t>
                          </m:r>
                        </m:num>
                        <m:den>
                          <m:r>
                            <a:rPr lang="sv-SE" sz="2400" b="1" i="0" smtClean="0">
                              <a:latin typeface="Cambria Math" panose="02040503050406030204" pitchFamily="18" charset="0"/>
                            </a:rPr>
                            <m:t>𝐈𝐧𝐩𝐮𝐭𝐀𝐜𝐭𝐢𝐯𝐢𝐭𝐲𝐑𝐚𝐭𝐢𝐨</m:t>
                          </m:r>
                        </m:den>
                      </m:f>
                      <m:r>
                        <a:rPr lang="sv-SE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400" b="1" i="0" smtClean="0">
                          <a:latin typeface="Cambria Math" panose="02040503050406030204" pitchFamily="18" charset="0"/>
                        </a:rPr>
                        <m:t>𝐄𝐟𝐟𝐢𝐜𝐢𝐞𝐧𝐜𝐲</m:t>
                      </m:r>
                    </m:oMath>
                  </m:oMathPara>
                </a14:m>
                <a:endParaRPr lang="sv-SE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789" y="5253974"/>
                <a:ext cx="5467676" cy="758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5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848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996" y="5389875"/>
            <a:ext cx="2649258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>
                <a:latin typeface="+mj-lt"/>
              </a:rPr>
              <a:t>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7250220" y="5389875"/>
            <a:ext cx="3803728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>
                <a:latin typeface="+mj-lt"/>
              </a:rPr>
              <a:t>50 baguettes in the next hour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1557F-9E88-43DD-880C-38823FD478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910" y="3673948"/>
            <a:ext cx="1630680" cy="163068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421658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/>
              <a:t>Example: in our bakery, we only have one machine. With the flour and water input we showed above, the machine takes 1 hour to produce 50 baguettes. Let us assume we load the machine now. </a:t>
            </a:r>
            <a:r>
              <a:rPr lang="en-US" altLang="en-US" sz="2400" b="1" dirty="0"/>
              <a:t>How much can we produce?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054" y="3732961"/>
            <a:ext cx="1839294" cy="155547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854" y="3884231"/>
            <a:ext cx="1855531" cy="12471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7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933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938" y="5389875"/>
            <a:ext cx="2649258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/>
              <a:t>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6507001" y="5389875"/>
            <a:ext cx="3803728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/>
              <a:t>100 baguettes in the next hour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266800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Example: in our bakery, we only have one machine. With the flour and water input we showed above, the machine takes 1 hour to produce 50 baguettes. Let us assume we load the baguette now. </a:t>
            </a:r>
            <a:r>
              <a:rPr lang="en-US" altLang="en-US" sz="2400" b="1" dirty="0"/>
              <a:t>How much can we produce?</a:t>
            </a:r>
            <a:endParaRPr lang="en-US" alt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996" y="3732961"/>
            <a:ext cx="1839294" cy="155547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796" y="3884231"/>
            <a:ext cx="1855531" cy="12471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5F505B-1F34-48A5-B9FE-0FFC75F690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780" y="3975945"/>
            <a:ext cx="1044525" cy="1170746"/>
          </a:xfrm>
          <a:prstGeom prst="rect">
            <a:avLst/>
          </a:prstGeom>
        </p:spPr>
      </p:pic>
      <p:pic>
        <p:nvPicPr>
          <p:cNvPr id="18" name="Picture 1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823DA803-7688-4325-82F8-AE2A016316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052" y="3880781"/>
            <a:ext cx="1855531" cy="12471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98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120" y="5389875"/>
            <a:ext cx="2649258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/>
              <a:t>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6638015" y="5389875"/>
            <a:ext cx="3803728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/>
              <a:t>100 baguettes in the next 2 hours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1557F-9E88-43DD-880C-38823FD478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034" y="3673948"/>
            <a:ext cx="1630680" cy="163068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266800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Example: in our bakery, we only have one machine. With the flour and water input we showed above, the machine takes 1 hour to produce 50 baguettes. Let us assume we load the baguette now. </a:t>
            </a:r>
            <a:r>
              <a:rPr lang="en-US" altLang="en-US" sz="2400" b="1" dirty="0"/>
              <a:t>How much can we produce?</a:t>
            </a:r>
            <a:endParaRPr lang="en-US" alt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178" y="3732961"/>
            <a:ext cx="1839294" cy="155547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978" y="3884231"/>
            <a:ext cx="1855531" cy="1247160"/>
          </a:xfrm>
          <a:prstGeom prst="rect">
            <a:avLst/>
          </a:prstGeom>
        </p:spPr>
      </p:pic>
      <p:pic>
        <p:nvPicPr>
          <p:cNvPr id="17" name="Picture 16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CDFE1307-3B34-4759-9698-D669FE6B1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017" y="3884231"/>
            <a:ext cx="1855531" cy="12471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38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42" y="5389875"/>
            <a:ext cx="2649258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/>
              <a:t>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5363612" y="5389875"/>
            <a:ext cx="3803728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/>
              <a:t>150 baguettes in the next 3 hours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1557F-9E88-43DD-880C-38823FD478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65" y="3673948"/>
            <a:ext cx="1630680" cy="163068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266800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Example: in our bakery, we only have one machine. With the flour and water input we showed above, the machine takes 1 hour to produce 50 baguettes. Let us assume we load the baguette now. </a:t>
            </a:r>
            <a:r>
              <a:rPr lang="en-US" altLang="en-US" sz="2400" b="1" dirty="0"/>
              <a:t>How much can we produce?</a:t>
            </a:r>
            <a:endParaRPr lang="en-US" alt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00" y="3732961"/>
            <a:ext cx="1839294" cy="155547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072" y="3884231"/>
            <a:ext cx="1855531" cy="1247160"/>
          </a:xfrm>
          <a:prstGeom prst="rect">
            <a:avLst/>
          </a:prstGeom>
        </p:spPr>
      </p:pic>
      <p:pic>
        <p:nvPicPr>
          <p:cNvPr id="17" name="Picture 16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CDFE1307-3B34-4759-9698-D669FE6B1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111" y="3884231"/>
            <a:ext cx="1855531" cy="1247160"/>
          </a:xfrm>
          <a:prstGeom prst="rect">
            <a:avLst/>
          </a:prstGeom>
        </p:spPr>
      </p:pic>
      <p:pic>
        <p:nvPicPr>
          <p:cNvPr id="18" name="Picture 1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2E86D77C-1D3B-4110-8F6B-756BAC2F40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272" y="3884231"/>
            <a:ext cx="1855531" cy="12471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838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41" y="5389875"/>
            <a:ext cx="3531703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>
                <a:solidFill>
                  <a:srgbClr val="FF0000"/>
                </a:solidFill>
              </a:rPr>
              <a:t>CAPACITY:</a:t>
            </a:r>
            <a:r>
              <a:rPr lang="en-US" altLang="en-US" sz="1875" b="1" spc="0" dirty="0"/>
              <a:t> 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5379721" y="5389875"/>
            <a:ext cx="5669397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>
                <a:solidFill>
                  <a:srgbClr val="FF0000"/>
                </a:solidFill>
              </a:rPr>
              <a:t>ACTIVITY:</a:t>
            </a:r>
            <a:r>
              <a:rPr lang="en-US" altLang="en-US" sz="1875" b="1" dirty="0"/>
              <a:t> 150 baguettes in the next 3 hours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1557F-9E88-43DD-880C-38823FD478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0" y="3673948"/>
            <a:ext cx="1630680" cy="163068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266800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Example: in our bakery, we only have one machine. With the flour and water input we showed above, the machine takes 1 hour to produce 50 baguettes. Let us assume we load the baguette now. </a:t>
            </a:r>
            <a:r>
              <a:rPr lang="en-US" altLang="en-US" sz="2400" b="1" dirty="0"/>
              <a:t>How much can we produce?</a:t>
            </a:r>
            <a:endParaRPr lang="en-US" alt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00" y="3732961"/>
            <a:ext cx="1839294" cy="155547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022" y="3884231"/>
            <a:ext cx="1855531" cy="1247160"/>
          </a:xfrm>
          <a:prstGeom prst="rect">
            <a:avLst/>
          </a:prstGeom>
        </p:spPr>
      </p:pic>
      <p:pic>
        <p:nvPicPr>
          <p:cNvPr id="17" name="Picture 16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CDFE1307-3B34-4759-9698-D669FE6B1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61" y="3884231"/>
            <a:ext cx="1855531" cy="1247160"/>
          </a:xfrm>
          <a:prstGeom prst="rect">
            <a:avLst/>
          </a:prstGeom>
        </p:spPr>
      </p:pic>
      <p:pic>
        <p:nvPicPr>
          <p:cNvPr id="18" name="Picture 1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2E86D77C-1D3B-4110-8F6B-756BAC2F40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222" y="3884231"/>
            <a:ext cx="1855531" cy="12471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950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41" y="5389875"/>
            <a:ext cx="3531703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>
                <a:solidFill>
                  <a:srgbClr val="FF0000"/>
                </a:solidFill>
              </a:rPr>
              <a:t>CAPACITY:</a:t>
            </a:r>
            <a:r>
              <a:rPr lang="en-US" altLang="en-US" sz="1875" b="1" spc="0" dirty="0"/>
              <a:t> 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5335647" y="5389875"/>
            <a:ext cx="5669397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>
                <a:solidFill>
                  <a:srgbClr val="FF0000"/>
                </a:solidFill>
              </a:rPr>
              <a:t>ACTIVITY:</a:t>
            </a:r>
            <a:r>
              <a:rPr lang="en-US" altLang="en-US" sz="1875" b="1" dirty="0"/>
              <a:t> 150 baguettes in the next 3 hours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1557F-9E88-43DD-880C-38823FD478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056" y="3673948"/>
            <a:ext cx="1630680" cy="163068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266800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If we want to sell more baguettes, either we keep one machine and take more time, or we </a:t>
            </a:r>
            <a:r>
              <a:rPr lang="en-US" altLang="en-US" sz="2400" b="1" dirty="0"/>
              <a:t>install more machines in the bakery</a:t>
            </a:r>
            <a:r>
              <a:rPr lang="en-US" altLang="en-US" sz="2400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00" y="3732961"/>
            <a:ext cx="1839294" cy="155547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948" y="3884231"/>
            <a:ext cx="1855531" cy="1247160"/>
          </a:xfrm>
          <a:prstGeom prst="rect">
            <a:avLst/>
          </a:prstGeom>
        </p:spPr>
      </p:pic>
      <p:pic>
        <p:nvPicPr>
          <p:cNvPr id="17" name="Picture 16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CDFE1307-3B34-4759-9698-D669FE6B1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987" y="3884231"/>
            <a:ext cx="1855531" cy="1247160"/>
          </a:xfrm>
          <a:prstGeom prst="rect">
            <a:avLst/>
          </a:prstGeom>
        </p:spPr>
      </p:pic>
      <p:pic>
        <p:nvPicPr>
          <p:cNvPr id="18" name="Picture 1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2E86D77C-1D3B-4110-8F6B-756BAC2F40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148" y="3884231"/>
            <a:ext cx="1855531" cy="12471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1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43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B6B4A-68E5-4971-A08A-DC98226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1" y="5918473"/>
            <a:ext cx="3531703" cy="449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75" b="1" spc="0" dirty="0">
                <a:solidFill>
                  <a:srgbClr val="FF0000"/>
                </a:solidFill>
              </a:rPr>
              <a:t>CAPACITY:</a:t>
            </a:r>
            <a:r>
              <a:rPr lang="en-US" altLang="en-US" sz="1875" b="1" spc="0" dirty="0"/>
              <a:t> </a:t>
            </a:r>
            <a:r>
              <a:rPr lang="en-US" altLang="en-US" sz="1875" b="1" spc="0" dirty="0">
                <a:solidFill>
                  <a:srgbClr val="FF0000"/>
                </a:solidFill>
              </a:rPr>
              <a:t>150 baguettes per hour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58BDEB-CCC0-4DC5-9654-3EACB0649279}"/>
              </a:ext>
            </a:extLst>
          </p:cNvPr>
          <p:cNvSpPr txBox="1">
            <a:spLocks/>
          </p:cNvSpPr>
          <p:nvPr/>
        </p:nvSpPr>
        <p:spPr>
          <a:xfrm>
            <a:off x="5655140" y="5389875"/>
            <a:ext cx="5669397" cy="44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75" b="1" dirty="0">
                <a:solidFill>
                  <a:srgbClr val="FF0000"/>
                </a:solidFill>
              </a:rPr>
              <a:t>ACTIVITY:</a:t>
            </a:r>
            <a:r>
              <a:rPr lang="en-US" altLang="en-US" sz="1875" b="1" dirty="0"/>
              <a:t> 150 baguettes in the next hour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1557F-9E88-43DD-880C-38823FD478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528" y="3673948"/>
            <a:ext cx="1630680" cy="163068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2" y="2232354"/>
            <a:ext cx="10266800" cy="122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If we want to sell more baguettes, either we keep one machine and take more time, or we </a:t>
            </a:r>
            <a:r>
              <a:rPr lang="en-US" altLang="en-US" sz="2400" b="1" dirty="0"/>
              <a:t>install more machines in the bakery</a:t>
            </a:r>
            <a:r>
              <a:rPr lang="en-US" altLang="en-US" sz="2400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46A6-65DF-490F-8054-E8BA0635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191" y="3170779"/>
            <a:ext cx="1292865" cy="1093365"/>
          </a:xfrm>
          <a:prstGeom prst="rect">
            <a:avLst/>
          </a:prstGeom>
        </p:spPr>
      </p:pic>
      <p:pic>
        <p:nvPicPr>
          <p:cNvPr id="16" name="Picture 15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6CF9F265-07ED-40AD-B70D-6693EF7DC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441" y="3884231"/>
            <a:ext cx="1855531" cy="1247160"/>
          </a:xfrm>
          <a:prstGeom prst="rect">
            <a:avLst/>
          </a:prstGeom>
        </p:spPr>
      </p:pic>
      <p:pic>
        <p:nvPicPr>
          <p:cNvPr id="17" name="Picture 16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CDFE1307-3B34-4759-9698-D669FE6B1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480" y="3884231"/>
            <a:ext cx="1855531" cy="1247160"/>
          </a:xfrm>
          <a:prstGeom prst="rect">
            <a:avLst/>
          </a:prstGeom>
        </p:spPr>
      </p:pic>
      <p:pic>
        <p:nvPicPr>
          <p:cNvPr id="18" name="Picture 17" descr="A picture containing food&#10;&#10;Description generated with high confidence">
            <a:extLst>
              <a:ext uri="{FF2B5EF4-FFF2-40B4-BE49-F238E27FC236}">
                <a16:creationId xmlns:a16="http://schemas.microsoft.com/office/drawing/2014/main" id="{2E86D77C-1D3B-4110-8F6B-756BAC2F40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641" y="3884231"/>
            <a:ext cx="1855531" cy="12471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660350-6923-4563-8B7B-98D5CB5F70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35" y="4051571"/>
            <a:ext cx="1292865" cy="10933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63C6E4-2220-46C7-9BB0-618B0DD60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644" y="4843192"/>
            <a:ext cx="1292865" cy="109336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21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227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1" y="2232354"/>
            <a:ext cx="10421659" cy="3617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However, there could be limits in:</a:t>
            </a:r>
          </a:p>
          <a:p>
            <a:r>
              <a:rPr lang="en-US" altLang="en-US" dirty="0"/>
              <a:t>how much the capacity can be increased (i.e. we cannot buy more machines because of limited budget or space in the bakery);</a:t>
            </a:r>
          </a:p>
          <a:p>
            <a:r>
              <a:rPr lang="en-US" altLang="en-US" dirty="0"/>
              <a:t>how much activity the machine(s) can have (i.e. there is not enough flour in our storage or there is water shortage);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140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15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7603F-013C-4D7A-B029-DB441AE67C00}"/>
              </a:ext>
            </a:extLst>
          </p:cNvPr>
          <p:cNvSpPr txBox="1">
            <a:spLocks/>
          </p:cNvSpPr>
          <p:nvPr/>
        </p:nvSpPr>
        <p:spPr>
          <a:xfrm>
            <a:off x="932141" y="2232354"/>
            <a:ext cx="10905589" cy="85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Again, we can apply the same concept of activity and capacity to different types of technologies, e.g. power plants:</a:t>
            </a:r>
          </a:p>
        </p:txBody>
      </p:sp>
      <p:pic>
        <p:nvPicPr>
          <p:cNvPr id="7" name="Picture 6" descr="A factory with tall grass&#10;&#10;Description generated with high confidence">
            <a:extLst>
              <a:ext uri="{FF2B5EF4-FFF2-40B4-BE49-F238E27FC236}">
                <a16:creationId xmlns:a16="http://schemas.microsoft.com/office/drawing/2014/main" id="{FF7A50E7-E9BE-453B-9FB4-B80AC22A63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285" y="3213919"/>
            <a:ext cx="2499706" cy="1407242"/>
          </a:xfrm>
          <a:prstGeom prst="rect">
            <a:avLst/>
          </a:prstGeom>
        </p:spPr>
      </p:pic>
      <p:pic>
        <p:nvPicPr>
          <p:cNvPr id="9" name="Picture 8" descr="A picture containing truffle, indoor, sitting, rock&#10;&#10;Description generated with very high confidence">
            <a:extLst>
              <a:ext uri="{FF2B5EF4-FFF2-40B4-BE49-F238E27FC236}">
                <a16:creationId xmlns:a16="http://schemas.microsoft.com/office/drawing/2014/main" id="{0EB35B95-BBB7-4441-B6E0-1331088AA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436691"/>
            <a:ext cx="1564126" cy="1098612"/>
          </a:xfrm>
          <a:prstGeom prst="rect">
            <a:avLst/>
          </a:prstGeom>
        </p:spPr>
      </p:pic>
      <p:pic>
        <p:nvPicPr>
          <p:cNvPr id="11" name="Picture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A724BB6D-058B-47FA-AB86-11ED27E2E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50" y="3333579"/>
            <a:ext cx="1806255" cy="1201724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AD9A33F8-D9F2-4920-A9C4-8D181E9AA669}"/>
              </a:ext>
            </a:extLst>
          </p:cNvPr>
          <p:cNvSpPr/>
          <p:nvPr/>
        </p:nvSpPr>
        <p:spPr>
          <a:xfrm>
            <a:off x="3773926" y="3934441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165F1A-0FEB-4BAB-9524-842BF35B299E}"/>
              </a:ext>
            </a:extLst>
          </p:cNvPr>
          <p:cNvSpPr/>
          <p:nvPr/>
        </p:nvSpPr>
        <p:spPr>
          <a:xfrm>
            <a:off x="7200468" y="3934441"/>
            <a:ext cx="776280" cy="1162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2A43E1-4765-4163-82CF-DACB542AE7B3}"/>
              </a:ext>
            </a:extLst>
          </p:cNvPr>
          <p:cNvSpPr txBox="1">
            <a:spLocks/>
          </p:cNvSpPr>
          <p:nvPr/>
        </p:nvSpPr>
        <p:spPr>
          <a:xfrm>
            <a:off x="927224" y="5767060"/>
            <a:ext cx="10905589" cy="456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…</a:t>
            </a:r>
            <a:r>
              <a:rPr lang="en-US" altLang="en-US" sz="2400" b="1" dirty="0"/>
              <a:t>And we can impose limits on the capacity and activity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6391405-74D8-4323-8F84-7DDCAD309CF8}"/>
              </a:ext>
            </a:extLst>
          </p:cNvPr>
          <p:cNvSpPr txBox="1">
            <a:spLocks/>
          </p:cNvSpPr>
          <p:nvPr/>
        </p:nvSpPr>
        <p:spPr>
          <a:xfrm>
            <a:off x="1634613" y="4725429"/>
            <a:ext cx="2499706" cy="798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dirty="0"/>
              <a:t>3500 MWh of coal per hour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11FCECD-8988-48C1-9E94-0432F3ACC923}"/>
              </a:ext>
            </a:extLst>
          </p:cNvPr>
          <p:cNvSpPr txBox="1">
            <a:spLocks/>
          </p:cNvSpPr>
          <p:nvPr/>
        </p:nvSpPr>
        <p:spPr>
          <a:xfrm>
            <a:off x="7735529" y="4730592"/>
            <a:ext cx="4358148" cy="8190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ACTIVITY:</a:t>
            </a:r>
            <a:r>
              <a:rPr lang="en-US" altLang="en-US" sz="2000" dirty="0"/>
              <a:t> 1000 MWh of electricity in one hour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AF7B101-9B13-4861-81E0-7E1DB58AAFF8}"/>
              </a:ext>
            </a:extLst>
          </p:cNvPr>
          <p:cNvSpPr txBox="1">
            <a:spLocks/>
          </p:cNvSpPr>
          <p:nvPr/>
        </p:nvSpPr>
        <p:spPr>
          <a:xfrm>
            <a:off x="4450631" y="4740266"/>
            <a:ext cx="2884233" cy="760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CAPACITY: </a:t>
            </a:r>
            <a:r>
              <a:rPr lang="en-US" altLang="en-US" sz="2000" dirty="0"/>
              <a:t>1000 MWh electricity per hour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OSeMSOYS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input and output commodities</a:t>
            </a:r>
            <a:endParaRPr lang="fr-FR" dirty="0"/>
          </a:p>
        </p:txBody>
      </p:sp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41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857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KTH-OpTIMUS-DFID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  <vt:lpstr>Technology representation in OSeMSOYS:  input and output commodities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120</cp:revision>
  <dcterms:created xsi:type="dcterms:W3CDTF">2017-06-07T13:22:49Z</dcterms:created>
  <dcterms:modified xsi:type="dcterms:W3CDTF">2020-04-02T17:00:39Z</dcterms:modified>
</cp:coreProperties>
</file>