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76" r:id="rId2"/>
    <p:sldId id="277" r:id="rId3"/>
    <p:sldId id="263" r:id="rId4"/>
    <p:sldId id="271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oundtripDataSignature="AMtx7miVP+v8xZticl0H1V5/aaqy0+lvsw==" r:id="rId55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ga Kubulenso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206DAB-3555-4C46-A72D-0963664602DE}">
  <a:tblStyle styleId="{1A206DAB-3555-4C46-A72D-0963664602DE}" styleName="Table_0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2CE0E53-0276-4775-8B6D-C34DD5AAE4E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8D9BFFD-CBA3-412F-AA53-2597C49C5950}" styleName="Table_2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6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55" Type="http://customschemas.google.com/relationships/presentationmetadata" Target="metadata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57" Type="http://schemas.openxmlformats.org/officeDocument/2006/relationships/presProps" Target="presProps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56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3" name="Google Shape;37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9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49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4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30" name="Google Shape;30;p49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ngelog and attribution">
  <p:cSld name="Changelog and attribu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Google Shape;40;p51"/>
          <p:cNvGraphicFramePr/>
          <p:nvPr/>
        </p:nvGraphicFramePr>
        <p:xfrm>
          <a:off x="838200" y="16160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{1A206DAB-3555-4C46-A72D-0963664602DE}</a:tableStyleId>
              </a:tblPr>
              <a:tblGrid>
                <a:gridCol w="149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Date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Author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Reviewer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Reviser 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1" name="Google Shape;41;p51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correctly reference this work, please use the following:</a:t>
            </a:r>
            <a:endParaRPr/>
          </a:p>
        </p:txBody>
      </p:sp>
      <p:sp>
        <p:nvSpPr>
          <p:cNvPr id="42" name="Google Shape;42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45" name="Google Shape;45;p51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2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2"/>
          <p:cNvSpPr txBox="1"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2"/>
          <p:cNvSpPr txBox="1">
            <a:spLocks noGrp="1"/>
          </p:cNvSpPr>
          <p:nvPr>
            <p:ph type="body" idx="2"/>
          </p:nvPr>
        </p:nvSpPr>
        <p:spPr>
          <a:xfrm>
            <a:off x="2123768" y="1051561"/>
            <a:ext cx="922020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5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5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53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5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4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54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54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54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65" name="Google Shape;65;p54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5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55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55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55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72" name="Google Shape;72;p55"/>
          <p:cNvSpPr txBox="1"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5"/>
          <p:cNvSpPr txBox="1">
            <a:spLocks noGrp="1"/>
          </p:cNvSpPr>
          <p:nvPr>
            <p:ph type="body" idx="3"/>
          </p:nvPr>
        </p:nvSpPr>
        <p:spPr>
          <a:xfrm>
            <a:off x="2123768" y="1051561"/>
            <a:ext cx="922020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6"/>
          <p:cNvSpPr txBox="1"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" name="Google Shape;76;p56"/>
          <p:cNvSpPr txBox="1">
            <a:spLocks noGrp="1"/>
          </p:cNvSpPr>
          <p:nvPr>
            <p:ph type="body" idx="2"/>
          </p:nvPr>
        </p:nvSpPr>
        <p:spPr>
          <a:xfrm>
            <a:off x="839788" y="2609087"/>
            <a:ext cx="5157787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6"/>
          <p:cNvSpPr txBox="1">
            <a:spLocks noGrp="1"/>
          </p:cNvSpPr>
          <p:nvPr>
            <p:ph type="body" idx="3"/>
          </p:nvPr>
        </p:nvSpPr>
        <p:spPr>
          <a:xfrm>
            <a:off x="6172200" y="1618488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8" name="Google Shape;78;p56"/>
          <p:cNvSpPr txBox="1">
            <a:spLocks noGrp="1"/>
          </p:cNvSpPr>
          <p:nvPr>
            <p:ph type="body" idx="4"/>
          </p:nvPr>
        </p:nvSpPr>
        <p:spPr>
          <a:xfrm>
            <a:off x="6172200" y="2609087"/>
            <a:ext cx="5183188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56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56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2" name="Google Shape;82;p56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57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57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7" name="Google Shape;87;p57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58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58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9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9"/>
          <p:cNvSpPr txBox="1">
            <a:spLocks noGrp="1"/>
          </p:cNvSpPr>
          <p:nvPr>
            <p:ph type="body" idx="1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5" name="Google Shape;95;p59"/>
          <p:cNvSpPr txBox="1">
            <a:spLocks noGrp="1"/>
          </p:cNvSpPr>
          <p:nvPr>
            <p:ph type="body" idx="2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6" name="Google Shape;96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59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5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0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60"/>
          <p:cNvSpPr>
            <a:spLocks noGrp="1"/>
          </p:cNvSpPr>
          <p:nvPr>
            <p:ph type="pic" idx="2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60"/>
          <p:cNvSpPr txBox="1">
            <a:spLocks noGrp="1"/>
          </p:cNvSpPr>
          <p:nvPr>
            <p:ph type="body" idx="1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3" name="Google Shape;103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60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60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1"/>
          <p:cNvSpPr txBox="1">
            <a:spLocks noGrp="1"/>
          </p:cNvSpPr>
          <p:nvPr>
            <p:ph type="body" idx="1"/>
          </p:nvPr>
        </p:nvSpPr>
        <p:spPr>
          <a:xfrm rot="5400000">
            <a:off x="3820633" y="-1366284"/>
            <a:ext cx="4550734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6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6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11" name="Google Shape;111;p61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6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6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6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9000">
              <a:srgbClr val="FDFDFD"/>
            </a:gs>
            <a:gs pos="100000">
              <a:srgbClr val="E7E6E6">
                <a:alpha val="49803"/>
              </a:srgbClr>
            </a:gs>
          </a:gsLst>
          <a:lin ang="189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1" name="Google Shape;11;p47"/>
          <p:cNvCxnSpPr/>
          <p:nvPr/>
        </p:nvCxnSpPr>
        <p:spPr>
          <a:xfrm>
            <a:off x="838200" y="6323905"/>
            <a:ext cx="10515600" cy="0"/>
          </a:xfrm>
          <a:prstGeom prst="straightConnector1">
            <a:avLst/>
          </a:prstGeom>
          <a:noFill/>
          <a:ln w="19050" cap="flat" cmpd="sng">
            <a:solidFill>
              <a:srgbClr val="D0CEC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12;p47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3" name="Google Shape;13;p47"/>
          <p:cNvPicPr preferRelativeResize="0"/>
          <p:nvPr/>
        </p:nvPicPr>
        <p:blipFill rotWithShape="1">
          <a:blip r:embed="rId15">
            <a:alphaModFix/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47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38200" y="456647"/>
            <a:ext cx="1294256" cy="510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47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734628" y="364808"/>
            <a:ext cx="619172" cy="61917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0"/>
          <p:cNvSpPr txBox="1">
            <a:spLocks noGrp="1"/>
          </p:cNvSpPr>
          <p:nvPr>
            <p:ph type="body" idx="1"/>
          </p:nvPr>
        </p:nvSpPr>
        <p:spPr>
          <a:xfrm>
            <a:off x="838200" y="1616148"/>
            <a:ext cx="10515600" cy="474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In OSeMOSYS, solar and wind power plants are characterized by the following parameters: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sv-SE" sz="2400" b="1"/>
              <a:t>OutputActivityRatio</a:t>
            </a:r>
            <a:r>
              <a:rPr lang="sv-SE" sz="2400"/>
              <a:t>: defines the rate of fuel provided (i.e. Electricity)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sv-SE" sz="2400" b="1"/>
              <a:t>CapitalCost [M$/GW or $/kW]</a:t>
            </a:r>
            <a:r>
              <a:rPr lang="sv-SE" sz="2400"/>
              <a:t>: defines the overnight investment cost of the plant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sv-SE" sz="2400" b="1"/>
              <a:t>FixedCost [M$/GW or $/kW]</a:t>
            </a:r>
            <a:r>
              <a:rPr lang="sv-SE" sz="2400"/>
              <a:t>: defines the fixed Operation &amp; Maintenance cost</a:t>
            </a:r>
            <a:endParaRPr sz="240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sv-SE" sz="2400" b="1"/>
              <a:t>VariableCost [M$/GWh]</a:t>
            </a:r>
            <a:r>
              <a:rPr lang="sv-SE" sz="2400"/>
              <a:t>: defines the variable costs of the plant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sv-SE" sz="2400" b="1"/>
              <a:t>AvailabilityFactor</a:t>
            </a:r>
            <a:r>
              <a:rPr lang="sv-SE" sz="2400"/>
              <a:t>: </a:t>
            </a:r>
            <a:r>
              <a:rPr lang="sv-SE" sz="2400">
                <a:solidFill>
                  <a:schemeClr val="dk1"/>
                </a:solidFill>
              </a:rPr>
              <a:t>capacity available on average over one year expressed as a fraction of the total installed capacity, with value ranging from 0 to 1. It gives the possibility to account for planned outages</a:t>
            </a:r>
            <a:endParaRPr sz="2400">
              <a:solidFill>
                <a:schemeClr val="dk1"/>
              </a:solidFill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sv-SE" sz="2400" b="1"/>
              <a:t>CapacityFactor</a:t>
            </a:r>
            <a:r>
              <a:rPr lang="sv-SE" sz="2400"/>
              <a:t>: represents the variability in generation of the power plant at each point in time, depending on the availability of resources </a:t>
            </a:r>
            <a:endParaRPr sz="2400"/>
          </a:p>
        </p:txBody>
      </p:sp>
      <p:sp>
        <p:nvSpPr>
          <p:cNvPr id="425" name="Google Shape;425;p20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1</a:t>
            </a:fld>
            <a:endParaRPr/>
          </a:p>
        </p:txBody>
      </p:sp>
      <p:sp>
        <p:nvSpPr>
          <p:cNvPr id="426" name="Google Shape;426;p20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Defining Renewable Technologies in OSeMOSYS</a:t>
            </a:r>
            <a:endParaRPr/>
          </a:p>
        </p:txBody>
      </p:sp>
      <p:sp>
        <p:nvSpPr>
          <p:cNvPr id="427" name="Google Shape;42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1"/>
          <p:cNvSpPr txBox="1">
            <a:spLocks noGrp="1"/>
          </p:cNvSpPr>
          <p:nvPr>
            <p:ph type="body" idx="1"/>
          </p:nvPr>
        </p:nvSpPr>
        <p:spPr>
          <a:xfrm>
            <a:off x="838200" y="1616148"/>
            <a:ext cx="10515600" cy="474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In OSeMOSYS, solar and wind power plants are characterized by the following parameters: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sv-SE" sz="2400" b="1"/>
              <a:t>OperationalLife [yr]</a:t>
            </a:r>
            <a:r>
              <a:rPr lang="sv-SE" sz="2400"/>
              <a:t>: defines the lifetime of the technology</a:t>
            </a:r>
            <a:endParaRPr sz="2400" b="1"/>
          </a:p>
          <a:p>
            <a:pPr marL="0" lvl="0" indent="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Optional: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sv-SE" sz="2400" b="1"/>
              <a:t>ResidualCapacity [GW]</a:t>
            </a:r>
            <a:r>
              <a:rPr lang="sv-SE" sz="2400"/>
              <a:t>: defines the existing total capacity available in each year for a specific type of power plant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sv-SE" sz="2400" b="1"/>
              <a:t>TotalAnnualMaxCapacity, TotalAnnualMinCapacity [GW]</a:t>
            </a:r>
            <a:r>
              <a:rPr lang="sv-SE" sz="2400"/>
              <a:t>: </a:t>
            </a:r>
            <a:r>
              <a:rPr lang="sv-SE" sz="2400">
                <a:solidFill>
                  <a:schemeClr val="dk1"/>
                </a:solidFill>
              </a:rPr>
              <a:t>total maximum/minimum existing (residual plus cumulatively installed) capacity allowed for a technology in a specified year</a:t>
            </a:r>
            <a:endParaRPr sz="240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sv-SE" sz="2400" b="1"/>
              <a:t>TotalAnnualMaxCapacityInvestment TotalAnnualMinCapacityInvestment [GW]</a:t>
            </a:r>
            <a:r>
              <a:rPr lang="sv-SE" sz="2400"/>
              <a:t>: </a:t>
            </a:r>
            <a:r>
              <a:rPr lang="sv-SE" sz="2400">
                <a:solidFill>
                  <a:schemeClr val="dk1"/>
                </a:solidFill>
              </a:rPr>
              <a:t>maximum/minimum planned new capacity allowed to be installed for a technology in a specified year</a:t>
            </a:r>
            <a:endParaRPr sz="2400"/>
          </a:p>
          <a:p>
            <a:pPr marL="457200" lvl="0" indent="-304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/>
          </a:p>
        </p:txBody>
      </p:sp>
      <p:sp>
        <p:nvSpPr>
          <p:cNvPr id="433" name="Google Shape;433;p2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2</a:t>
            </a:fld>
            <a:endParaRPr/>
          </a:p>
        </p:txBody>
      </p:sp>
      <p:sp>
        <p:nvSpPr>
          <p:cNvPr id="434" name="Google Shape;434;p21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Defining Renewable Technologies in OSeMOSYS</a:t>
            </a:r>
            <a:endParaRPr/>
          </a:p>
        </p:txBody>
      </p:sp>
      <p:sp>
        <p:nvSpPr>
          <p:cNvPr id="435" name="Google Shape;43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3</a:t>
            </a:fld>
            <a:endParaRPr/>
          </a:p>
        </p:txBody>
      </p:sp>
      <p:grpSp>
        <p:nvGrpSpPr>
          <p:cNvPr id="294" name="Google Shape;294;p7"/>
          <p:cNvGrpSpPr/>
          <p:nvPr/>
        </p:nvGrpSpPr>
        <p:grpSpPr>
          <a:xfrm>
            <a:off x="685800" y="1524000"/>
            <a:ext cx="3599156" cy="2133600"/>
            <a:chOff x="685800" y="1524000"/>
            <a:chExt cx="3599156" cy="2133600"/>
          </a:xfrm>
        </p:grpSpPr>
        <p:cxnSp>
          <p:nvCxnSpPr>
            <p:cNvPr id="295" name="Google Shape;295;p7"/>
            <p:cNvCxnSpPr/>
            <p:nvPr/>
          </p:nvCxnSpPr>
          <p:spPr>
            <a:xfrm>
              <a:off x="4114800" y="1524000"/>
              <a:ext cx="0" cy="21336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6" name="Google Shape;296;p7"/>
            <p:cNvCxnSpPr/>
            <p:nvPr/>
          </p:nvCxnSpPr>
          <p:spPr>
            <a:xfrm>
              <a:off x="3124200" y="2133600"/>
              <a:ext cx="8382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sp>
          <p:nvSpPr>
            <p:cNvPr id="297" name="Google Shape;297;p7"/>
            <p:cNvSpPr/>
            <p:nvPr/>
          </p:nvSpPr>
          <p:spPr>
            <a:xfrm>
              <a:off x="3942056" y="1962150"/>
              <a:ext cx="342900" cy="3429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7"/>
            <p:cNvSpPr/>
            <p:nvPr/>
          </p:nvSpPr>
          <p:spPr>
            <a:xfrm>
              <a:off x="1066800" y="1676400"/>
              <a:ext cx="2057400" cy="914400"/>
            </a:xfrm>
            <a:prstGeom prst="rect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sv-SE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Wind Power Plant</a:t>
              </a:r>
              <a:endParaRPr/>
            </a:p>
          </p:txBody>
        </p:sp>
        <p:sp>
          <p:nvSpPr>
            <p:cNvPr id="299" name="Google Shape;299;p7"/>
            <p:cNvSpPr txBox="1"/>
            <p:nvPr/>
          </p:nvSpPr>
          <p:spPr>
            <a:xfrm>
              <a:off x="685800" y="2743200"/>
              <a:ext cx="28194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sv-SE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 input technology</a:t>
              </a:r>
              <a:endParaRPr/>
            </a:p>
          </p:txBody>
        </p:sp>
      </p:grpSp>
      <p:sp>
        <p:nvSpPr>
          <p:cNvPr id="300" name="Google Shape;300;p7"/>
          <p:cNvSpPr txBox="1"/>
          <p:nvPr/>
        </p:nvSpPr>
        <p:spPr>
          <a:xfrm>
            <a:off x="4572000" y="1500485"/>
            <a:ext cx="6360160" cy="215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40"/>
              <a:buFont typeface="Calibri"/>
              <a:buNone/>
            </a:pPr>
            <a:r>
              <a:rPr lang="sv-SE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Generation and available power can be “calibrated” by the parameters: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640"/>
              <a:buFont typeface="Calibri"/>
              <a:buChar char="•"/>
            </a:pPr>
            <a:r>
              <a:rPr lang="sv-SE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CapacityFactor</a:t>
            </a:r>
            <a:endParaRPr sz="2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640"/>
              <a:buFont typeface="Calibri"/>
              <a:buChar char="•"/>
            </a:pPr>
            <a:r>
              <a:rPr lang="sv-SE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AvailabilityFactor</a:t>
            </a:r>
            <a:endParaRPr sz="2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 txBox="1"/>
          <p:nvPr/>
        </p:nvSpPr>
        <p:spPr>
          <a:xfrm>
            <a:off x="838200" y="3928417"/>
            <a:ext cx="10459720" cy="215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40"/>
              <a:buFont typeface="Calibri"/>
              <a:buChar char="•"/>
            </a:pPr>
            <a:r>
              <a:rPr lang="sv-SE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plant can produce at a constant level at any time, as long as the constraints of </a:t>
            </a:r>
            <a:r>
              <a:rPr lang="sv-SE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CapacityFactor</a:t>
            </a:r>
            <a:r>
              <a:rPr lang="sv-SE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sv-SE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AvailabilityFactor </a:t>
            </a:r>
            <a:r>
              <a:rPr lang="sv-SE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parameters are satisfied</a:t>
            </a:r>
            <a:endParaRPr/>
          </a:p>
          <a:p>
            <a:pPr marL="742950" marR="0" lvl="1" indent="-285750" algn="l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2420"/>
              <a:buFont typeface="Calibri"/>
              <a:buChar char="•"/>
            </a:pPr>
            <a:r>
              <a:rPr lang="sv-SE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Therefore, generation pattern is unrestricted (model will tend to use this cheap energy to save on more expensive generation options which does not correspond to real operation)</a:t>
            </a:r>
            <a:endParaRPr/>
          </a:p>
        </p:txBody>
      </p:sp>
      <p:sp>
        <p:nvSpPr>
          <p:cNvPr id="302" name="Google Shape;302;p7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Modelling wind power plant in OSeMOSYS</a:t>
            </a:r>
            <a:endParaRPr/>
          </a:p>
        </p:txBody>
      </p:sp>
      <p:sp>
        <p:nvSpPr>
          <p:cNvPr id="303" name="Google Shape;30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5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4</a:t>
            </a:fld>
            <a:endParaRPr/>
          </a:p>
        </p:txBody>
      </p:sp>
      <p:grpSp>
        <p:nvGrpSpPr>
          <p:cNvPr id="377" name="Google Shape;377;p15"/>
          <p:cNvGrpSpPr/>
          <p:nvPr/>
        </p:nvGrpSpPr>
        <p:grpSpPr>
          <a:xfrm>
            <a:off x="685800" y="1524000"/>
            <a:ext cx="3599156" cy="2133600"/>
            <a:chOff x="685800" y="1524000"/>
            <a:chExt cx="3599156" cy="2133600"/>
          </a:xfrm>
        </p:grpSpPr>
        <p:cxnSp>
          <p:nvCxnSpPr>
            <p:cNvPr id="378" name="Google Shape;378;p15"/>
            <p:cNvCxnSpPr/>
            <p:nvPr/>
          </p:nvCxnSpPr>
          <p:spPr>
            <a:xfrm>
              <a:off x="4114800" y="1524000"/>
              <a:ext cx="0" cy="21336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79" name="Google Shape;379;p15"/>
            <p:cNvCxnSpPr/>
            <p:nvPr/>
          </p:nvCxnSpPr>
          <p:spPr>
            <a:xfrm>
              <a:off x="3124200" y="2133600"/>
              <a:ext cx="8382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sp>
          <p:nvSpPr>
            <p:cNvPr id="380" name="Google Shape;380;p15"/>
            <p:cNvSpPr/>
            <p:nvPr/>
          </p:nvSpPr>
          <p:spPr>
            <a:xfrm>
              <a:off x="3942056" y="1962150"/>
              <a:ext cx="342900" cy="3429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1066800" y="1676400"/>
              <a:ext cx="2057400" cy="914400"/>
            </a:xfrm>
            <a:prstGeom prst="rect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sv-SE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Photovoltaic/CSP</a:t>
              </a:r>
              <a:endParaRPr/>
            </a:p>
          </p:txBody>
        </p:sp>
        <p:sp>
          <p:nvSpPr>
            <p:cNvPr id="382" name="Google Shape;382;p15"/>
            <p:cNvSpPr txBox="1"/>
            <p:nvPr/>
          </p:nvSpPr>
          <p:spPr>
            <a:xfrm>
              <a:off x="685800" y="2743200"/>
              <a:ext cx="28194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sv-SE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 input technology</a:t>
              </a:r>
              <a:endParaRPr/>
            </a:p>
          </p:txBody>
        </p:sp>
      </p:grpSp>
      <p:sp>
        <p:nvSpPr>
          <p:cNvPr id="383" name="Google Shape;383;p15"/>
          <p:cNvSpPr txBox="1"/>
          <p:nvPr/>
        </p:nvSpPr>
        <p:spPr>
          <a:xfrm>
            <a:off x="4572000" y="1500485"/>
            <a:ext cx="4267200" cy="215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40"/>
              <a:buFont typeface="Calibri"/>
              <a:buNone/>
            </a:pPr>
            <a:r>
              <a:rPr lang="sv-SE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Generation and available power can be “calibrated” by: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640"/>
              <a:buFont typeface="Calibri"/>
              <a:buChar char="•"/>
            </a:pPr>
            <a:r>
              <a:rPr lang="sv-SE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CapacityFactor</a:t>
            </a:r>
            <a:endParaRPr sz="2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640"/>
              <a:buFont typeface="Calibri"/>
              <a:buChar char="•"/>
            </a:pPr>
            <a:r>
              <a:rPr lang="sv-SE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AvailabilityFactor</a:t>
            </a:r>
            <a:endParaRPr sz="2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 txBox="1"/>
          <p:nvPr/>
        </p:nvSpPr>
        <p:spPr>
          <a:xfrm>
            <a:off x="838200" y="3928417"/>
            <a:ext cx="10459720" cy="215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40"/>
              <a:buFont typeface="Calibri"/>
              <a:buChar char="•"/>
            </a:pPr>
            <a:r>
              <a:rPr lang="sv-SE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Similar approach to wind</a:t>
            </a:r>
            <a:endParaRPr/>
          </a:p>
          <a:p>
            <a:pPr marL="742950" marR="0" lvl="1" indent="-285750" algn="l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2420"/>
              <a:buFont typeface="Calibri"/>
              <a:buChar char="•"/>
            </a:pPr>
            <a:r>
              <a:rPr lang="sv-SE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parameter </a:t>
            </a:r>
            <a:r>
              <a:rPr lang="sv-SE" sz="2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CapacityFactor</a:t>
            </a:r>
            <a:r>
              <a:rPr lang="sv-SE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can be used to specify the generation curve of the technology. </a:t>
            </a:r>
            <a:endParaRPr/>
          </a:p>
          <a:p>
            <a:pPr marL="742950" marR="0" lvl="1" indent="-285750" algn="l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2420"/>
              <a:buFont typeface="Calibri"/>
              <a:buChar char="•"/>
            </a:pPr>
            <a:r>
              <a:rPr lang="sv-SE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Defining a </a:t>
            </a:r>
            <a:r>
              <a:rPr lang="sv-SE" sz="2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Storage</a:t>
            </a:r>
            <a:r>
              <a:rPr lang="sv-SE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module (as in the case of hydro dam) can simulate the operational benefits of storage </a:t>
            </a:r>
            <a:endParaRPr/>
          </a:p>
        </p:txBody>
      </p:sp>
      <p:sp>
        <p:nvSpPr>
          <p:cNvPr id="385" name="Google Shape;385;p15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Modelling solar in OSeMOSYS</a:t>
            </a:r>
            <a:endParaRPr/>
          </a:p>
        </p:txBody>
      </p:sp>
      <p:sp>
        <p:nvSpPr>
          <p:cNvPr id="386" name="Google Shape;386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Microsoft Office PowerPoint</Application>
  <PresentationFormat>Widescreen</PresentationFormat>
  <Paragraphs>42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KTH-OpTIMUS-DFID</vt:lpstr>
      <vt:lpstr>Defining Renewable Technologies in OSeMOSYS</vt:lpstr>
      <vt:lpstr>Defining Renewable Technologies in OSeMOSYS</vt:lpstr>
      <vt:lpstr>Modelling wind power plant in OSeMOSYS</vt:lpstr>
      <vt:lpstr>Modelling solar in OSeMOSYS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Defining Renewable Technologies in OSeMOSYS</dc:title>
  <dc:creator>Ioannis Pappis</dc:creator>
  <cp:lastModifiedBy>Francesco Gardumi</cp:lastModifiedBy>
  <cp:revision>1</cp:revision>
  <dcterms:created xsi:type="dcterms:W3CDTF">2017-06-07T13:22:49Z</dcterms:created>
  <dcterms:modified xsi:type="dcterms:W3CDTF">2020-04-03T11:41:04Z</dcterms:modified>
</cp:coreProperties>
</file>