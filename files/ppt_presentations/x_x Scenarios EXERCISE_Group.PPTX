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5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  <p:sldMasterId id="2147483671" r:id="rId2"/>
    <p:sldMasterId id="2147483683" r:id="rId3"/>
    <p:sldMasterId id="2147483699" r:id="rId4"/>
    <p:sldMasterId id="2147483711" r:id="rId5"/>
    <p:sldMasterId id="2147483728" r:id="rId6"/>
  </p:sldMasterIdLst>
  <p:notesMasterIdLst>
    <p:notesMasterId r:id="rId10"/>
  </p:notesMasterIdLst>
  <p:handoutMasterIdLst>
    <p:handoutMasterId r:id="rId11"/>
  </p:handoutMasterIdLst>
  <p:sldIdLst>
    <p:sldId id="298" r:id="rId7"/>
    <p:sldId id="300" r:id="rId8"/>
    <p:sldId id="30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0337" autoAdjust="0"/>
  </p:normalViewPr>
  <p:slideViewPr>
    <p:cSldViewPr snapToGrid="0">
      <p:cViewPr varScale="1">
        <p:scale>
          <a:sx n="94" d="100"/>
          <a:sy n="94" d="100"/>
        </p:scale>
        <p:origin x="1200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un.org/development/desa/dpad/" TargetMode="External"/><Relationship Id="rId3" Type="http://schemas.openxmlformats.org/officeDocument/2006/relationships/hyperlink" Target="http://creativecommons.org/licenses/by/4.0/" TargetMode="External"/><Relationship Id="rId7" Type="http://schemas.openxmlformats.org/officeDocument/2006/relationships/image" Target="../media/image6.jpeg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5" Type="http://schemas.openxmlformats.org/officeDocument/2006/relationships/hyperlink" Target="http://www.undp.org/content/undp/en/home/librarypage/corporate/bpps-org-chart.html" TargetMode="External"/><Relationship Id="rId10" Type="http://schemas.openxmlformats.org/officeDocument/2006/relationships/hyperlink" Target="http://www.desa.kth.se/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png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C76850A5-EA80-472B-97CA-B82AAE7D7947}" type="datetime1">
              <a:rPr lang="en-GB" smtClean="0"/>
              <a:t>02/04/2020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5434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DC315D-8727-4584-AF09-7ED35AE60C9E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1037077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Changelog and attribution</a:t>
            </a:r>
            <a:endParaRPr lang="en-GB" dirty="0"/>
          </a:p>
        </p:txBody>
      </p:sp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0196716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18127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698B74-663C-45C3-84AA-64F17CCBFFB0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293627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6AC638-E2BB-41DB-901C-70987E307CAB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4373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A820AE-5A56-4AAA-BF71-0F08214224CF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3770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A2B85D-D8C7-462B-96D9-F75BAC76DFD0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278095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5C75B0-41BA-4392-8EA5-41378C6BD62E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54521"/>
            <a:ext cx="9418320" cy="109728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1214809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9B5F6B-06E4-4C1A-8678-BF1356522B4B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2392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B0E2D-322F-462A-94F2-ECFACBF85C15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54FD95-88D0-4DB5-B651-B4B585AE496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98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D9E005-C45F-4D2E-9252-D620F8B34396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1612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DA30B0-4569-497A-881A-293F42830242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8627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98A2B9-CD2C-4D37-B907-6CC241500002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66627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2A1067-E488-4736-9C60-942503D2B2C2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08303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94FF34-ADB7-4D9A-A655-10899B9849E4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7469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CF9F1-0FBE-4B5C-A364-470572C1A56A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320302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A9854-78FA-424C-B43C-E30256B423BB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034135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FA0A6-FCCC-4D87-9C49-403252C7DB46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736310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E43E8-8A0C-4CFB-BF69-8AF244E1A0FB}" type="datetime1">
              <a:rPr lang="en-GB" smtClean="0"/>
              <a:t>02/04/2020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088345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CCB9C-102A-40B6-B053-A3ABC1941CB3}" type="datetime1">
              <a:rPr lang="en-GB" smtClean="0"/>
              <a:t>02/04/2020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911538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D1004-9BE1-43B6-8305-B9D607FA43EC}" type="datetime1">
              <a:rPr lang="en-GB" smtClean="0"/>
              <a:t>02/04/2020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053845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20A08-0DA5-468A-BD4F-BCC33BEEBD48}" type="datetime1">
              <a:rPr lang="en-GB" smtClean="0"/>
              <a:t>02/04/2020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281008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66D2-0CAA-482E-8963-ADF39027BAE4}" type="datetime1">
              <a:rPr lang="en-GB" smtClean="0"/>
              <a:t>02/04/2020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793474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C385F-DAB6-48A6-8F95-E133681E0640}" type="datetime1">
              <a:rPr lang="en-GB" smtClean="0"/>
              <a:t>02/04/2020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060395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B4976-453E-4021-B231-0016662BC512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130421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A4400-C05C-4125-9C04-9E29E1FC8564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890872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F584DFA-A726-4754-ACE4-57911832F923}" type="datetime1">
              <a:rPr lang="en-GB" smtClean="0"/>
              <a:t>02/04/2020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pic>
        <p:nvPicPr>
          <p:cNvPr id="9" name="Picture 8" descr="https://lh6.googleusercontent.com/Ly_PhcwOrV7ieHqPjBUUdqFiAGODtzJmBwrIeHLHNXmO2gAmLok-TdTBr_d3BtnUCDenebmvgE80MCYN8Vorq6tctapX-MHkCI-nBydPkMCIQlU3bY5E3A4URgaFKH9_3Y3ixC7n">
            <a:hlinkClick r:id="rId5"/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4" y="74144"/>
            <a:ext cx="705409" cy="1038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ounded Rectangle 9"/>
          <p:cNvSpPr/>
          <p:nvPr userDrawn="1"/>
        </p:nvSpPr>
        <p:spPr>
          <a:xfrm>
            <a:off x="9311968" y="342121"/>
            <a:ext cx="2448454" cy="573250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v-SE" dirty="0">
                <a:solidFill>
                  <a:schemeClr val="tx1">
                    <a:lumMod val="95000"/>
                    <a:lumOff val="5000"/>
                  </a:schemeClr>
                </a:solidFill>
                <a:latin typeface="Ubuntu" panose="020B0504030602030204" pitchFamily="34" charset="0"/>
              </a:rPr>
              <a:t>OpTIMUS.community</a:t>
            </a:r>
            <a:endParaRPr lang="en-GB" dirty="0">
              <a:solidFill>
                <a:schemeClr val="bg1">
                  <a:lumMod val="50000"/>
                </a:schemeClr>
              </a:solidFill>
              <a:latin typeface="Ubuntu" panose="020B050403060203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961" y="0"/>
            <a:ext cx="2571842" cy="1187163"/>
          </a:xfrm>
          <a:prstGeom prst="rect">
            <a:avLst/>
          </a:prstGeom>
        </p:spPr>
      </p:pic>
      <p:pic>
        <p:nvPicPr>
          <p:cNvPr id="12" name="Picture 11" descr="https://lh5.googleusercontent.com/QwAyBzI_HrdO1gj0yaFRi0OiqghV8sMirzKBHzFYtGIWVVnBeuDuBR9_JP1vo9XJKYzGCL0sd1ZodqNBZxjvOYILUxRDdlxRQLuJNl1PB5k_6S9avTsqb2zL8U1SbUj7jo_r0pHa">
            <a:hlinkClick r:id="rId8"/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477" y="229886"/>
            <a:ext cx="2468411" cy="79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https://lh4.googleusercontent.com/jDjKyzhdhZWMxUNi7z6qAJzpBZEkOBbfd9pxc_hw_VhHxoTvuhQehahE7VFIlqmGgpn-yNdL2HsCN5L4vZpsZzJoIFrGq37CRI-kV8YM3EbnBWnbkWxvjk9tYWPG2bomkqh_um96">
            <a:hlinkClick r:id="rId10"/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6877" y="142677"/>
            <a:ext cx="901808" cy="901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8027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4CC739D-1C1B-4ACD-B845-1843CB3FB258}" type="datetime1">
              <a:rPr lang="en-GB" smtClean="0"/>
              <a:t>02/04/2020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6901364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Changelog and attribution</a:t>
            </a:r>
            <a:endParaRPr lang="en-GB" dirty="0"/>
          </a:p>
        </p:txBody>
      </p:sp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0351741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4929341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8ABBBC68-3FAB-412B-A810-FEE506887EA1}" type="datetime1">
              <a:rPr lang="en-GB" smtClean="0"/>
              <a:t>02/04/2020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4326793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D5EB620B-8A16-4E09-A196-3755A810FE06}" type="datetime1">
              <a:rPr lang="en-GB" smtClean="0"/>
              <a:t>02/04/2020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8341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3DC16F9B-DDF4-4F65-ACD0-E9A40ECF2B74}" type="datetime1">
              <a:rPr lang="en-GB" smtClean="0"/>
              <a:t>02/04/2020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3217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F4AE031-39F4-472C-903B-2217F7DAC8FA}" type="datetime1">
              <a:rPr lang="en-GB" smtClean="0"/>
              <a:t>02/04/2020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4789807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8192498-0F4B-4A79-8299-42C4B5F5EB16}" type="datetime1">
              <a:rPr lang="en-GB" smtClean="0"/>
              <a:t>02/04/2020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54521"/>
            <a:ext cx="9418320" cy="109728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7419526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F333B3-371D-4FC0-BF20-25CB8F95E7BC}" type="datetime1">
              <a:rPr lang="en-GB" smtClean="0"/>
              <a:t>02/04/2020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5227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16D49765-1457-4539-A3E0-443681E9C24F}" type="datetime1">
              <a:rPr lang="en-GB" smtClean="0"/>
              <a:t>02/04/2020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135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A7F8A73-6718-428D-95E0-B403B33B233E}" type="datetime1">
              <a:rPr lang="en-GB" smtClean="0"/>
              <a:t>02/04/2020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6822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589354A-A3BA-4793-99EF-35A20F4BFF3F}" type="datetime1">
              <a:rPr lang="en-GB" smtClean="0"/>
              <a:t>02/04/2020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515353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DCFD90B4-DFFB-4091-8BA9-9C7876D2326E}" type="datetime1">
              <a:rPr lang="en-GB" smtClean="0"/>
              <a:t>02/04/2020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5553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04A7C8A1-0DEF-4708-BEB1-81F05DE1E230}" type="datetime1">
              <a:rPr lang="en-GB" smtClean="0"/>
              <a:t>02/04/2020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85871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BABB96D-BE4D-40F9-89B0-F5E493356521}" type="datetime1">
              <a:rPr lang="en-GB" smtClean="0"/>
              <a:t>02/04/2020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48882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4AD69-2013-4896-8148-EA376681E62E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5265017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2D6B5-0EF3-43DA-B4D0-CD52A2419829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141387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8B04D-5133-46F3-8657-F8428FA963F8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2344043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D92AF-4564-4CE1-9C4F-FBEBE6D0CFC1}" type="datetime1">
              <a:rPr lang="en-GB" smtClean="0"/>
              <a:t>02/04/2020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6464332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040F6-718F-4EBB-B3F9-5B4F60E2C072}" type="datetime1">
              <a:rPr lang="en-GB" smtClean="0"/>
              <a:t>02/04/2020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2581548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CF2BF-2A8A-42F2-8206-81ED54035164}" type="datetime1">
              <a:rPr lang="en-GB" smtClean="0"/>
              <a:t>02/04/2020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890376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507E-3CBE-4344-B4C3-B225EB9F04F3}" type="datetime1">
              <a:rPr lang="en-GB" smtClean="0"/>
              <a:t>02/04/2020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3362432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771D1-29D6-4D26-8865-553B438BB9F5}" type="datetime1">
              <a:rPr lang="en-GB" smtClean="0"/>
              <a:t>02/04/2020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8233807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DC310-79B1-4E48-9062-E356E869DE05}" type="datetime1">
              <a:rPr lang="en-GB" smtClean="0"/>
              <a:t>02/04/2020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491187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2CE55-D2F5-4D13-A0D6-11128D7BB700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831183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5BCF7-46AD-4EF2-A8B5-1D59DA8BECD6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4956155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8A65F844-5CC4-4378-95C7-5C543AB7788B}" type="datetime1">
              <a:rPr lang="en-GB" smtClean="0"/>
              <a:t>02/04/2020</a:t>
            </a:fld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764591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AD0D28-0055-4801-B003-75812E15EE92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0850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Changelog and attribution</a:t>
            </a:r>
            <a:endParaRPr lang="en-GB" dirty="0"/>
          </a:p>
        </p:txBody>
      </p:sp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0069146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08B8D64-F4A8-4F96-9881-3162A69D0A87}" type="datetime1">
              <a:rPr lang="en-GB" smtClean="0"/>
              <a:t>02/04/2020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fr-FR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984908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B55067-0233-4185-A547-D69B698EE48C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54157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B0AA97-F54F-4771-8743-3F0A06F347EF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850361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8ED8D2-65DB-4EA2-A99D-2CD1B471A664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050319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2E81F7-88BB-447F-8300-7243DB3103B2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718563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54521"/>
            <a:ext cx="9418320" cy="109728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1B2798-C19E-4D8D-9A0E-77299BCDE81E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687927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69710A-E167-4FDE-949D-05083EBC8A0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645145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F57FFF-46C9-413B-B107-2C3B4D8787FD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54FD95-88D0-4DB5-B651-B4B585AE496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30142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AE7A0-B311-494E-B431-907EEE881EAC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566766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BCC-A9AF-4791-B503-9C14EFB5100F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100846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4FEE4C-50FC-4DF8-A3E3-788D9623B4AB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508242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89A8CD-108C-43E5-968F-3277A9AB9C3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492254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2B7DF5-F5F7-4821-8ED5-7ED7F81CB64A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79056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</p:spPr>
        <p:txBody>
          <a:bodyPr anchor="ctr">
            <a:normAutofit/>
          </a:bodyPr>
          <a:lstStyle>
            <a:lvl1pPr algn="ctr">
              <a:defRPr sz="5000" spc="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 spc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11006139" y="6054725"/>
            <a:ext cx="347661" cy="223838"/>
          </a:xfrm>
        </p:spPr>
        <p:txBody>
          <a:bodyPr>
            <a:noAutofit/>
          </a:bodyPr>
          <a:lstStyle>
            <a:lvl1pPr>
              <a:defRPr sz="1000"/>
            </a:lvl1pPr>
          </a:lstStyle>
          <a:p>
            <a:r>
              <a:rPr lang="en-US"/>
              <a:t>Click icon to add picture</a:t>
            </a:r>
            <a:endParaRPr lang="sv-SE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838200" y="6054725"/>
            <a:ext cx="10515600" cy="20238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spc="0"/>
            </a:lvl1pPr>
            <a:lvl2pPr>
              <a:defRPr sz="1000" spc="0"/>
            </a:lvl2pPr>
            <a:lvl3pPr>
              <a:defRPr sz="1000" spc="0"/>
            </a:lvl3pPr>
            <a:lvl4pPr>
              <a:defRPr sz="1000" spc="0"/>
            </a:lvl4pPr>
            <a:lvl5pPr>
              <a:defRPr sz="1000" spc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DF6FB7C3-4CF2-4572-BA1E-6B3A77F94E41}" type="datetime1">
              <a:rPr lang="en-GB" smtClean="0"/>
              <a:t>02/04/2020</a:t>
            </a:fld>
            <a:endParaRPr lang="en-GB" dirty="0"/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fr-FR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193031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29C48-19A4-4FF5-A1CE-E400C36EFFAD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2041999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1C741-42FA-4F6C-9810-C866F6EFF739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0027606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05D03-8A38-46BF-8BDE-0C1FAB2B9900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0736709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2BE84-F4C9-4A53-BEE5-D2012A35BC70}" type="datetime1">
              <a:rPr lang="en-GB" smtClean="0"/>
              <a:t>02/04/2020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2900291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2A4B5-477A-4482-B993-84F9594C1377}" type="datetime1">
              <a:rPr lang="en-GB" smtClean="0"/>
              <a:t>02/04/2020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6053477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FDBCB-9172-4CF8-BE44-DBCF512F82DB}" type="datetime1">
              <a:rPr lang="en-GB" smtClean="0"/>
              <a:t>02/04/2020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1650127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6E822-D544-4B3F-914F-0B00EE7D3C05}" type="datetime1">
              <a:rPr lang="en-GB" smtClean="0"/>
              <a:t>02/04/2020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1841602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8CB20-59EF-47B7-8FB3-67B830CB523F}" type="datetime1">
              <a:rPr lang="en-GB" smtClean="0"/>
              <a:t>02/04/2020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7890173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2FF56-43AD-4420-8BDC-6E3EDEC3A2AA}" type="datetime1">
              <a:rPr lang="en-GB" smtClean="0"/>
              <a:t>02/04/2020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9463854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A6179-F71C-4E32-8931-CB769889DC7E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637075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FB7A-F7B8-43EA-A787-03082E67F23D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43330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8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36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5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68.xml"/><Relationship Id="rId20" Type="http://schemas.openxmlformats.org/officeDocument/2006/relationships/image" Target="../media/image10.jpg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2.xml"/><Relationship Id="rId19" Type="http://schemas.openxmlformats.org/officeDocument/2006/relationships/image" Target="../media/image9.jpeg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9942" y="913448"/>
            <a:ext cx="1363858" cy="5352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softEdge rad="12700"/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2" descr="http://www.osemosys.org/uploads/1/8/5/0/18504136/logo_1.png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2967" y="265989"/>
            <a:ext cx="1977808" cy="711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4349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22BAF-FFBD-40E3-8086-19BAF6F1B001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09475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9942" y="913448"/>
            <a:ext cx="1363858" cy="5352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softEdge rad="12700"/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2" descr="http://www.osemosys.org/uploads/1/8/5/0/18504136/logo_1.png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2967" y="265989"/>
            <a:ext cx="1977808" cy="711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1953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D00278-B780-4E01-804A-A564D8CE224A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09421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5457" y="331676"/>
            <a:ext cx="1118343" cy="4389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softEdge rad="12700"/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4458" y="844271"/>
            <a:ext cx="580339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138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ECDE4-0949-405D-9A15-27E0094BA312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2402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4.unfccc.int/ndcregistry/Pages/All.aspx" TargetMode="Externa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By the end of this exercise you will be able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Decide on aspects of your model that can be used to represent set policy targets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Decide on representative scenarios that address the energy challenges of your country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- Learning Objectives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>
                <a:latin typeface="+mj-lt"/>
              </a:rPr>
              <a:t>20/01/2019</a:t>
            </a:r>
            <a:endParaRPr lang="en-GB" dirty="0">
              <a:latin typeface="+mj-lt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452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Exercise 1</a:t>
            </a:r>
            <a:r>
              <a:rPr lang="en-US" dirty="0"/>
              <a:t> – Look at the NDC of your country and discuss among your group of how you could potentially represent this in your model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http://www4.unfccc.int/ndcregistry/Pages/All.aspx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Exercise 2</a:t>
            </a:r>
            <a:r>
              <a:rPr lang="en-US" dirty="0"/>
              <a:t> – Discuss in your group one scenario that you would like to develop for your country and try implement them on the simple model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**Make notes and, once done, show these to your group’s tutor.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2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>
                <a:latin typeface="+mj-lt"/>
              </a:rPr>
              <a:t>20/01/2019</a:t>
            </a:r>
            <a:endParaRPr lang="en-GB" dirty="0">
              <a:latin typeface="+mj-lt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588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4592548"/>
            <a:ext cx="10515600" cy="1763801"/>
          </a:xfrm>
        </p:spPr>
        <p:txBody>
          <a:bodyPr anchor="b">
            <a:noAutofit/>
          </a:bodyPr>
          <a:lstStyle/>
          <a:p>
            <a:pPr>
              <a:spcBef>
                <a:spcPts val="400"/>
              </a:spcBef>
            </a:pPr>
            <a:r>
              <a:rPr lang="sv-SE" sz="2000" i="1" dirty="0"/>
              <a:t>To </a:t>
            </a:r>
            <a:r>
              <a:rPr lang="sv-SE" sz="2000" i="1" dirty="0" err="1"/>
              <a:t>correctly</a:t>
            </a:r>
            <a:r>
              <a:rPr lang="sv-SE" sz="2000" i="1" dirty="0"/>
              <a:t> </a:t>
            </a:r>
            <a:r>
              <a:rPr lang="sv-SE" sz="2000" i="1" dirty="0" err="1"/>
              <a:t>reference</a:t>
            </a:r>
            <a:r>
              <a:rPr lang="sv-SE" sz="2000" i="1" dirty="0"/>
              <a:t> </a:t>
            </a:r>
            <a:r>
              <a:rPr lang="sv-SE" sz="2000" i="1" dirty="0" err="1"/>
              <a:t>this</a:t>
            </a:r>
            <a:r>
              <a:rPr lang="sv-SE" sz="2000" i="1" dirty="0"/>
              <a:t> </a:t>
            </a:r>
            <a:r>
              <a:rPr lang="sv-SE" sz="2000" i="1" dirty="0" err="1"/>
              <a:t>work</a:t>
            </a:r>
            <a:r>
              <a:rPr lang="sv-SE" sz="2000" i="1" dirty="0"/>
              <a:t>, </a:t>
            </a:r>
            <a:r>
              <a:rPr lang="sv-SE" sz="2000" i="1" dirty="0" err="1"/>
              <a:t>please</a:t>
            </a:r>
            <a:r>
              <a:rPr lang="sv-SE" sz="2000" i="1" dirty="0"/>
              <a:t> </a:t>
            </a:r>
            <a:r>
              <a:rPr lang="sv-SE" sz="2000" i="1" dirty="0" err="1"/>
              <a:t>use</a:t>
            </a:r>
            <a:r>
              <a:rPr lang="sv-SE" sz="2000" i="1" dirty="0"/>
              <a:t> the </a:t>
            </a:r>
            <a:r>
              <a:rPr lang="sv-SE" sz="2000" i="1" dirty="0" err="1"/>
              <a:t>following</a:t>
            </a:r>
            <a:r>
              <a:rPr lang="sv-SE" sz="2000" i="1" dirty="0"/>
              <a:t>:</a:t>
            </a:r>
          </a:p>
          <a:p>
            <a:pPr>
              <a:spcBef>
                <a:spcPts val="400"/>
              </a:spcBef>
            </a:pPr>
            <a:r>
              <a:rPr lang="sv-SE" sz="2000" dirty="0"/>
              <a:t>Taliotis, C., Gardumi, F., Shivakumar, A., Sridharan, V., Ramos, E., Beltramo, A., </a:t>
            </a:r>
            <a:r>
              <a:rPr lang="sv-SE" sz="2000" dirty="0" err="1"/>
              <a:t>Rogner</a:t>
            </a:r>
            <a:r>
              <a:rPr lang="sv-SE" sz="2000" dirty="0"/>
              <a:t>, H., Howells, M., 2018. </a:t>
            </a:r>
            <a:r>
              <a:rPr lang="en-US" sz="2000" i="1" dirty="0">
                <a:cs typeface="Helvetica" panose="020B0604020202020204" pitchFamily="34" charset="0"/>
              </a:rPr>
              <a:t>Defining scenarios and implementation in </a:t>
            </a:r>
            <a:r>
              <a:rPr lang="en-US" sz="2000" i="1" dirty="0" err="1">
                <a:cs typeface="Helvetica" panose="020B0604020202020204" pitchFamily="34" charset="0"/>
              </a:rPr>
              <a:t>OSeMOSYS</a:t>
            </a:r>
            <a:r>
              <a:rPr lang="sv-SE" sz="2000" dirty="0"/>
              <a:t>, KTH-</a:t>
            </a:r>
            <a:r>
              <a:rPr lang="sv-SE" sz="2000" dirty="0" err="1"/>
              <a:t>Desa</a:t>
            </a:r>
            <a:r>
              <a:rPr lang="sv-SE" sz="2000" dirty="0"/>
              <a:t> and </a:t>
            </a:r>
            <a:r>
              <a:rPr lang="sv-SE" sz="2000" dirty="0" err="1"/>
              <a:t>OpTIMUS.community</a:t>
            </a:r>
            <a:r>
              <a:rPr lang="sv-SE" sz="2000" dirty="0"/>
              <a:t>. </a:t>
            </a:r>
          </a:p>
          <a:p>
            <a:pPr>
              <a:spcBef>
                <a:spcPts val="400"/>
              </a:spcBef>
            </a:pPr>
            <a:r>
              <a:rPr lang="sv-SE" sz="2000" dirty="0" err="1"/>
              <a:t>Available</a:t>
            </a:r>
            <a:r>
              <a:rPr lang="sv-SE" sz="2000" dirty="0"/>
              <a:t> at: (URL). [Access date]</a:t>
            </a:r>
            <a:endParaRPr lang="en-GB" sz="2000" dirty="0"/>
          </a:p>
          <a:p>
            <a:pPr>
              <a:spcBef>
                <a:spcPts val="400"/>
              </a:spcBef>
            </a:pPr>
            <a:r>
              <a:rPr lang="sv-SE" sz="2000" dirty="0"/>
              <a:t>DOI: 10.5281/zenodo.2069239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Changelog</a:t>
            </a:r>
            <a:r>
              <a:rPr lang="fr-FR" dirty="0"/>
              <a:t> and Attribution</a:t>
            </a:r>
          </a:p>
        </p:txBody>
      </p:sp>
      <p:graphicFrame>
        <p:nvGraphicFramePr>
          <p:cNvPr id="5" name="Content Placeholder 8"/>
          <p:cNvGraphicFramePr>
            <a:graphicFrameLocks/>
          </p:cNvGraphicFramePr>
          <p:nvPr>
            <p:extLst/>
          </p:nvPr>
        </p:nvGraphicFramePr>
        <p:xfrm>
          <a:off x="838200" y="1616149"/>
          <a:ext cx="10515601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2018-06-12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1800" dirty="0"/>
                        <a:t>Taliotis, C., Gardumi, F., Shivakumar, A., Sridharan, V., Ramos, E., Beltramo, A., </a:t>
                      </a:r>
                      <a:r>
                        <a:rPr lang="sv-SE" sz="1800" dirty="0" err="1"/>
                        <a:t>Rogner</a:t>
                      </a:r>
                      <a:r>
                        <a:rPr lang="sv-SE" sz="1800" dirty="0"/>
                        <a:t>, H., Howells, M.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Howells, M., Beltramo, A.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baseline="0" dirty="0"/>
                        <a:t>Gardumi, F., Taliotis, C.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>
                <a:latin typeface="+mj-lt"/>
              </a:rPr>
              <a:t>20/01/2019</a:t>
            </a:r>
            <a:endParaRPr lang="en-GB" dirty="0">
              <a:latin typeface="+mj-lt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478781"/>
      </p:ext>
    </p:extLst>
  </p:cSld>
  <p:clrMapOvr>
    <a:masterClrMapping/>
  </p:clrMapOvr>
</p:sld>
</file>

<file path=ppt/theme/theme1.xml><?xml version="1.0" encoding="utf-8"?>
<a:theme xmlns:a="http://schemas.openxmlformats.org/drawingml/2006/main" name="OSeMOSYS_dESA_OpTIMU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SeMOSYS_dESA_OpTIMUS" id="{87B24570-67CC-4463-B33B-D3B7D7BCBA01}" vid="{5874AC31-46F6-47B9-A431-4546F1FB4AF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 OSeMOSYS Community_AB" id="{05E57207-9E8F-4997-AF84-042E96A9F9B0}" vid="{05C5C074-0B80-4D41-8661-E94856CD7529}"/>
    </a:ext>
  </a:extLst>
</a:theme>
</file>

<file path=ppt/theme/theme3.xml><?xml version="1.0" encoding="utf-8"?>
<a:theme xmlns:a="http://schemas.openxmlformats.org/drawingml/2006/main" name="1_OSeMOSYS_dESA_OpTIMU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SeMOSYS_dESA_OpTIMUS" id="{87B24570-67CC-4463-B33B-D3B7D7BCBA01}" vid="{5874AC31-46F6-47B9-A431-4546F1FB4AFB}"/>
    </a:ext>
  </a:extLst>
</a:theme>
</file>

<file path=ppt/theme/theme4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 OSeMOSYS Community_AB" id="{05E57207-9E8F-4997-AF84-042E96A9F9B0}" vid="{05C5C074-0B80-4D41-8661-E94856CD7529}"/>
    </a:ext>
  </a:extLst>
</a:theme>
</file>

<file path=ppt/theme/theme5.xml><?xml version="1.0" encoding="utf-8"?>
<a:theme xmlns:a="http://schemas.openxmlformats.org/drawingml/2006/main" name="KTH-OpTIMUS-DFI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KTH-OpTIMUS-DFID" id="{5B0E6882-3D47-487F-9878-64227690030B}" vid="{2A92E980-5079-4447-B359-7EDBAAF28701}"/>
    </a:ext>
  </a:extLst>
</a:theme>
</file>

<file path=ppt/theme/theme6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 OSeMOSYS Community_AB" id="{05E57207-9E8F-4997-AF84-042E96A9F9B0}" vid="{05C5C074-0B80-4D41-8661-E94856CD7529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14777</TotalTime>
  <Words>295</Words>
  <Application>Microsoft Office PowerPoint</Application>
  <PresentationFormat>Widescreen</PresentationFormat>
  <Paragraphs>34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</vt:i4>
      </vt:variant>
    </vt:vector>
  </HeadingPairs>
  <TitlesOfParts>
    <vt:vector size="14" baseType="lpstr">
      <vt:lpstr>Arial</vt:lpstr>
      <vt:lpstr>Calibri</vt:lpstr>
      <vt:lpstr>Calibri Light</vt:lpstr>
      <vt:lpstr>Helvetica</vt:lpstr>
      <vt:lpstr>Ubuntu</vt:lpstr>
      <vt:lpstr>OSeMOSYS_dESA_OpTIMUS</vt:lpstr>
      <vt:lpstr>Custom Design</vt:lpstr>
      <vt:lpstr>1_OSeMOSYS_dESA_OpTIMUS</vt:lpstr>
      <vt:lpstr>1_Custom Design</vt:lpstr>
      <vt:lpstr>KTH-OpTIMUS-DFID</vt:lpstr>
      <vt:lpstr>2_Custom Design</vt:lpstr>
      <vt:lpstr>Exercise - Learning Objectives</vt:lpstr>
      <vt:lpstr>Exercises</vt:lpstr>
      <vt:lpstr>Changelog and Attribution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195</cp:revision>
  <dcterms:created xsi:type="dcterms:W3CDTF">2017-06-07T13:22:49Z</dcterms:created>
  <dcterms:modified xsi:type="dcterms:W3CDTF">2020-04-02T16:54:21Z</dcterms:modified>
</cp:coreProperties>
</file>