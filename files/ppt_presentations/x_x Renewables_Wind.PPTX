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60" r:id="rId3"/>
    <p:sldId id="261" r:id="rId4"/>
    <p:sldId id="262" r:id="rId5"/>
    <p:sldId id="264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oundtripDataSignature="AMtx7miVP+v8xZticl0H1V5/aaqy0+lvsw==" r:id="rId55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ga Kubulens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206DAB-3555-4C46-A72D-0963664602DE}">
  <a:tblStyle styleId="{1A206DAB-3555-4C46-A72D-0963664602DE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2CE0E53-0276-4775-8B6D-C34DD5AAE4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D9BFFD-CBA3-412F-AA53-2597C49C5950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notesMaster" Target="notesMasters/notesMaster1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57" Type="http://schemas.openxmlformats.org/officeDocument/2006/relationships/presProps" Target="presProps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56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9-06-17T12:56:10.985" idx="1">
    <p:pos x="3360" y="634"/>
    <p:text>add learning objectives here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p15="http://schemas.microsoft.com/office/powerpoint/2012/main" xmlns="" commentPostId="AAAADFzmfYo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Typical characteristics of wind power</a:t>
            </a:r>
            <a:endParaRPr/>
          </a:p>
        </p:txBody>
      </p:sp>
      <p:sp>
        <p:nvSpPr>
          <p:cNvPr id="254" name="Google Shape;2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Image source: https://www.windpowerengineering.com/electrical/grid/xcel-energy-named-no-1-utility-wind-provider-for-11th-consecutive-yyear/</a:t>
            </a:r>
            <a:endParaRPr/>
          </a:p>
        </p:txBody>
      </p:sp>
      <p:sp>
        <p:nvSpPr>
          <p:cNvPr id="263" name="Google Shape;2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07" name="Google Shape;30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0" name="Google Shape;30;p4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oogle Shape;40;p5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Google Shape;41;p5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body" idx="2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3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5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5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5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5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7" name="Google Shape;87;p5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5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5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5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6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6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6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1" name="Google Shape;111;p6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6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6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47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4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5">
            <a:alphaModFix/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8200" y="456647"/>
            <a:ext cx="1294256" cy="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734628" y="364808"/>
            <a:ext cx="619172" cy="61917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rena.org/publications/2018/Jan/Renewable-power-generation-costs-in-2017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47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>
                <a:latin typeface="Calibri"/>
                <a:ea typeface="Calibri"/>
                <a:cs typeface="Calibri"/>
                <a:sym typeface="Calibri"/>
              </a:rPr>
              <a:t>Renewable energy source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/>
              <a:t>Variable/intermittent production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>
                <a:latin typeface="Calibri"/>
                <a:ea typeface="Calibri"/>
                <a:cs typeface="Calibri"/>
                <a:sym typeface="Calibri"/>
              </a:rPr>
              <a:t>Seasonal/daily/hourly variation in output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>
                <a:latin typeface="Calibri"/>
                <a:ea typeface="Calibri"/>
                <a:cs typeface="Calibri"/>
                <a:sym typeface="Calibri"/>
              </a:rPr>
              <a:t>Moderately high investment cost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>
                <a:latin typeface="Calibri"/>
                <a:ea typeface="Calibri"/>
                <a:cs typeface="Calibri"/>
                <a:sym typeface="Calibri"/>
              </a:rPr>
              <a:t>Low O&amp;M costs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>
                <a:latin typeface="Calibri"/>
                <a:ea typeface="Calibri"/>
                <a:cs typeface="Calibri"/>
                <a:sym typeface="Calibri"/>
              </a:rPr>
              <a:t>Energy output is site specific</a:t>
            </a:r>
            <a:endParaRPr/>
          </a:p>
        </p:txBody>
      </p:sp>
      <p:sp>
        <p:nvSpPr>
          <p:cNvPr id="257" name="Google Shape;257;p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  <p:sp>
        <p:nvSpPr>
          <p:cNvPr id="258" name="Google Shape;258;p3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Wind power</a:t>
            </a:r>
            <a:endParaRPr/>
          </a:p>
        </p:txBody>
      </p:sp>
      <p:sp>
        <p:nvSpPr>
          <p:cNvPr id="259" name="Google Shape;259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  <p:pic>
        <p:nvPicPr>
          <p:cNvPr id="266" name="Google Shape;266;p4" descr="https://www.windpowerengineering.com/wp-content/uploads/2015/04/exelwind.gif"/>
          <p:cNvPicPr preferRelativeResize="0"/>
          <p:nvPr/>
        </p:nvPicPr>
        <p:blipFill rotWithShape="1">
          <a:blip r:embed="rId3">
            <a:alphaModFix/>
          </a:blip>
          <a:srcRect t="1727"/>
          <a:stretch/>
        </p:blipFill>
        <p:spPr>
          <a:xfrm>
            <a:off x="1837055" y="1533075"/>
            <a:ext cx="8419465" cy="474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Wind power</a:t>
            </a:r>
            <a:endParaRPr/>
          </a:p>
        </p:txBody>
      </p:sp>
      <p:sp>
        <p:nvSpPr>
          <p:cNvPr id="268" name="Google Shape;26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  <p:sp>
        <p:nvSpPr>
          <p:cNvPr id="275" name="Google Shape;275;p5"/>
          <p:cNvSpPr txBox="1"/>
          <p:nvPr/>
        </p:nvSpPr>
        <p:spPr>
          <a:xfrm>
            <a:off x="838201" y="1652293"/>
            <a:ext cx="5836919" cy="49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Mature technology, lowest costs in the United States and China.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performance of wind power depending on the specific characteristics of  each location. 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capacity of a wind turbine can vary from a few kW to 9MW.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exact same (group of) wind turbine(s) is installed in different locations, the parameter that changes is the </a:t>
            </a:r>
            <a:r>
              <a:rPr lang="sv-SE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CapacityFactor</a:t>
            </a:r>
            <a:r>
              <a:rPr lang="sv-SE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sv-S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 data can be found in the IRENA  </a:t>
            </a:r>
            <a:r>
              <a:rPr lang="sv-SE" sz="1800" b="0" i="1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Renewable Power Generation Costs in 2017</a:t>
            </a:r>
            <a:endParaRPr sz="18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6" name="Google Shape;276;p5"/>
          <p:cNvGraphicFramePr/>
          <p:nvPr/>
        </p:nvGraphicFramePr>
        <p:xfrm>
          <a:off x="7233800" y="1652293"/>
          <a:ext cx="4120000" cy="286519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20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Key characteristics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i="1" u="none" strike="noStrike" cap="none"/>
                        <a:t>Onshore wind</a:t>
                      </a:r>
                      <a:endParaRPr sz="1800" b="1" i="1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Capital cost onshore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1400 €/kW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FOM cost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2.7% of capital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Avg. capacity factor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23%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Indirect GHG emission factor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10 tCO2 eq/GWh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Lifetime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25 years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7" name="Google Shape;277;p5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Onshore wind</a:t>
            </a:r>
            <a:endParaRPr/>
          </a:p>
        </p:txBody>
      </p:sp>
      <p:sp>
        <p:nvSpPr>
          <p:cNvPr id="278" name="Google Shape;27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  <p:sp>
        <p:nvSpPr>
          <p:cNvPr id="284" name="Google Shape;284;p6"/>
          <p:cNvSpPr txBox="1"/>
          <p:nvPr/>
        </p:nvSpPr>
        <p:spPr>
          <a:xfrm>
            <a:off x="838201" y="1652293"/>
            <a:ext cx="6201578" cy="4179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Mature technology in Northern Europe, but experience still limited elsewhere.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general, higher costs than onshore, but also higher performance (especially in terms of capacity factors).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</a:t>
            </a:r>
            <a:r>
              <a:rPr lang="sv-SE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CapacityFactor</a:t>
            </a:r>
            <a:r>
              <a:rPr lang="sv-SE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due to lower disturbance of the flow, among others .</a:t>
            </a:r>
            <a:endParaRPr/>
          </a:p>
        </p:txBody>
      </p:sp>
      <p:graphicFrame>
        <p:nvGraphicFramePr>
          <p:cNvPr id="285" name="Google Shape;285;p6"/>
          <p:cNvGraphicFramePr/>
          <p:nvPr/>
        </p:nvGraphicFramePr>
        <p:xfrm>
          <a:off x="7233800" y="1652293"/>
          <a:ext cx="4120000" cy="286519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20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Key characteristics</a:t>
                      </a:r>
                      <a:endParaRPr sz="180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i="1"/>
                        <a:t>Offshore wind</a:t>
                      </a:r>
                      <a:endParaRPr sz="1800" b="1" i="1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Capital cost onshore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3470 €/kW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FOM cost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3.7% of capital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Avg. capacity factor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34%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Indirect GHG emission factor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16 tCO2 eq/GWh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Lifetime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25 years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6" name="Google Shape;286;p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Offshore wind</a:t>
            </a:r>
            <a:endParaRPr/>
          </a:p>
        </p:txBody>
      </p:sp>
      <p:sp>
        <p:nvSpPr>
          <p:cNvPr id="287" name="Google Shape;28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"/>
          <p:cNvSpPr txBox="1">
            <a:spLocks noGrp="1"/>
          </p:cNvSpPr>
          <p:nvPr>
            <p:ph type="body" idx="1"/>
          </p:nvPr>
        </p:nvSpPr>
        <p:spPr>
          <a:xfrm>
            <a:off x="838200" y="1632030"/>
            <a:ext cx="10515600" cy="472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None/>
            </a:pPr>
            <a:r>
              <a:rPr lang="sv-SE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 location is far from the grid and additional transmission line is needed: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–"/>
            </a:pPr>
            <a:r>
              <a:rPr lang="sv-S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transmission costs to the plant, or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–"/>
            </a:pPr>
            <a:r>
              <a:rPr lang="sv-S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connecting transmission line separately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None/>
            </a:pPr>
            <a:r>
              <a:rPr lang="sv-SE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Availability of wind plant during peak load: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–"/>
            </a:pPr>
            <a:r>
              <a:rPr lang="sv-S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modelled more precisely (but is also more complicated)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–"/>
            </a:pPr>
            <a:r>
              <a:rPr lang="sv-S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results and verify that behavior is “normal” (i.e. wind power plant is not producing at full power during peak load)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–"/>
            </a:pPr>
            <a:r>
              <a:rPr lang="sv-S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 operation of wind plant during peak time to avoid unrealistic results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None/>
            </a:pPr>
            <a:r>
              <a:rPr lang="sv-SE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Contribution to system reserve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–"/>
            </a:pPr>
            <a:r>
              <a:rPr lang="sv-SE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"Firm" power from wind is much lower compared to conventional techs (coal, oil, gas, nuclear, storage hydro…)</a:t>
            </a:r>
            <a:endParaRPr/>
          </a:p>
        </p:txBody>
      </p:sp>
      <p:sp>
        <p:nvSpPr>
          <p:cNvPr id="310" name="Google Shape;310;p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5</a:t>
            </a:fld>
            <a:endParaRPr/>
          </a:p>
        </p:txBody>
      </p:sp>
      <p:sp>
        <p:nvSpPr>
          <p:cNvPr id="311" name="Google Shape;311;p8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Wind power – other aspects</a:t>
            </a:r>
            <a:endParaRPr/>
          </a:p>
        </p:txBody>
      </p:sp>
      <p:sp>
        <p:nvSpPr>
          <p:cNvPr id="312" name="Google Shape;3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Widescreen</PresentationFormat>
  <Paragraphs>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KTH-OpTIMUS-DFID</vt:lpstr>
      <vt:lpstr>Wind power</vt:lpstr>
      <vt:lpstr>Wind power</vt:lpstr>
      <vt:lpstr>Onshore wind</vt:lpstr>
      <vt:lpstr>Offshore wind</vt:lpstr>
      <vt:lpstr>Wind power – other aspects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 power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2020-04-03T11:39:23Z</dcterms:modified>
</cp:coreProperties>
</file>