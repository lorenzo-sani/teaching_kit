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79" r:id="rId2"/>
    <p:sldId id="280" r:id="rId3"/>
    <p:sldId id="281" r:id="rId4"/>
    <p:sldId id="288" r:id="rId5"/>
    <p:sldId id="289" r:id="rId6"/>
    <p:sldId id="290" r:id="rId7"/>
    <p:sldId id="291" r:id="rId8"/>
    <p:sldId id="292" r:id="rId9"/>
    <p:sldId id="293" r:id="rId10"/>
    <p:sldId id="294" r:id="rId11"/>
    <p:sldId id="295" r:id="rId12"/>
    <p:sldId id="296" r:id="rId13"/>
    <p:sldId id="297" r:id="rId14"/>
    <p:sldId id="298" r:id="rId15"/>
    <p:sldId id="299" r:id="rId16"/>
    <p:sldId id="300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oundtripDataSignature="AMtx7miVP+v8xZticl0H1V5/aaqy0+lvsw==" r:id="rId55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ga Kubulenso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A206DAB-3555-4C46-A72D-0963664602DE}">
  <a:tblStyle styleId="{1A206DAB-3555-4C46-A72D-0963664602DE}" styleName="Table_0">
    <a:wholeTbl>
      <a:tcTxStyle b="off" i="off">
        <a:font>
          <a:latin typeface="Calibri Light"/>
          <a:ea typeface="Calibri Light"/>
          <a:cs typeface="Calibri Light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2CE0E53-0276-4775-8B6D-C34DD5AAE4E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8D9BFFD-CBA3-412F-AA53-2597C49C5950}" styleName="Table_2">
    <a:wholeTbl>
      <a:tcTxStyle b="off" i="off">
        <a:font>
          <a:latin typeface="Calibri Light"/>
          <a:ea typeface="Calibri Light"/>
          <a:cs typeface="Calibri Light"/>
        </a:font>
        <a:schemeClr val="dk1"/>
      </a:tcTxStyle>
      <a:tcStyle>
        <a:tcBdr>
          <a:lef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60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56" Type="http://schemas.openxmlformats.org/officeDocument/2006/relationships/commentAuthors" Target="comment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taliotis\Box%20Sync\dESA\06%20Projects\2015-04%20EC%20Cyprus\02%20Work\04%20Data\Gross%20energy%20system\Key%20assumptions%20and%20input%20data%20150117%20-%20electricity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158397460376768"/>
          <c:y val="4.8865613347800631E-2"/>
          <c:w val="0.84677591616276227"/>
          <c:h val="0.74267504159940612"/>
        </c:manualLayout>
      </c:layout>
      <c:lineChart>
        <c:grouping val="standard"/>
        <c:varyColors val="0"/>
        <c:ser>
          <c:idx val="0"/>
          <c:order val="0"/>
          <c:tx>
            <c:strRef>
              <c:f>'PV CF 30 min profiles'!$D$2</c:f>
              <c:strCache>
                <c:ptCount val="1"/>
                <c:pt idx="0">
                  <c:v>Mar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'PV CF 30 min profiles'!$A$3:$A$50</c:f>
              <c:numCache>
                <c:formatCode>hh:mm;@</c:formatCode>
                <c:ptCount val="48"/>
                <c:pt idx="0">
                  <c:v>0</c:v>
                </c:pt>
                <c:pt idx="1">
                  <c:v>2.0833333333333301E-2</c:v>
                </c:pt>
                <c:pt idx="2">
                  <c:v>4.1666666666666699E-2</c:v>
                </c:pt>
                <c:pt idx="3">
                  <c:v>6.25E-2</c:v>
                </c:pt>
                <c:pt idx="4">
                  <c:v>8.3333333333333301E-2</c:v>
                </c:pt>
                <c:pt idx="5">
                  <c:v>0.104166666666667</c:v>
                </c:pt>
                <c:pt idx="6">
                  <c:v>0.125</c:v>
                </c:pt>
                <c:pt idx="7">
                  <c:v>0.14583333333333301</c:v>
                </c:pt>
                <c:pt idx="8">
                  <c:v>0.16666666666666699</c:v>
                </c:pt>
                <c:pt idx="9">
                  <c:v>0.1875</c:v>
                </c:pt>
                <c:pt idx="10">
                  <c:v>0.20833333333333301</c:v>
                </c:pt>
                <c:pt idx="11">
                  <c:v>0.22916666666666699</c:v>
                </c:pt>
                <c:pt idx="12">
                  <c:v>0.25</c:v>
                </c:pt>
                <c:pt idx="13">
                  <c:v>0.27083333333333298</c:v>
                </c:pt>
                <c:pt idx="14">
                  <c:v>0.29166666666666702</c:v>
                </c:pt>
                <c:pt idx="15">
                  <c:v>0.3125</c:v>
                </c:pt>
                <c:pt idx="16">
                  <c:v>0.33333333333333298</c:v>
                </c:pt>
                <c:pt idx="17">
                  <c:v>0.35416666666666702</c:v>
                </c:pt>
                <c:pt idx="18">
                  <c:v>0.375</c:v>
                </c:pt>
                <c:pt idx="19">
                  <c:v>0.39583333333333298</c:v>
                </c:pt>
                <c:pt idx="20">
                  <c:v>0.41666666666666702</c:v>
                </c:pt>
                <c:pt idx="21">
                  <c:v>0.4375</c:v>
                </c:pt>
                <c:pt idx="22">
                  <c:v>0.45833333333333298</c:v>
                </c:pt>
                <c:pt idx="23">
                  <c:v>0.47916666666666702</c:v>
                </c:pt>
                <c:pt idx="24">
                  <c:v>0.5</c:v>
                </c:pt>
                <c:pt idx="25">
                  <c:v>0.52083333333333304</c:v>
                </c:pt>
                <c:pt idx="26">
                  <c:v>0.54166666666666696</c:v>
                </c:pt>
                <c:pt idx="27">
                  <c:v>0.5625</c:v>
                </c:pt>
                <c:pt idx="28">
                  <c:v>0.58333333333333304</c:v>
                </c:pt>
                <c:pt idx="29">
                  <c:v>0.60416666666666696</c:v>
                </c:pt>
                <c:pt idx="30">
                  <c:v>0.625</c:v>
                </c:pt>
                <c:pt idx="31">
                  <c:v>0.64583333333333304</c:v>
                </c:pt>
                <c:pt idx="32">
                  <c:v>0.66666666666666696</c:v>
                </c:pt>
                <c:pt idx="33">
                  <c:v>0.6875</c:v>
                </c:pt>
                <c:pt idx="34">
                  <c:v>0.70833333333333304</c:v>
                </c:pt>
                <c:pt idx="35">
                  <c:v>0.72916666666666696</c:v>
                </c:pt>
                <c:pt idx="36">
                  <c:v>0.75</c:v>
                </c:pt>
                <c:pt idx="37">
                  <c:v>0.77083333333333304</c:v>
                </c:pt>
                <c:pt idx="38">
                  <c:v>0.79166666666666696</c:v>
                </c:pt>
                <c:pt idx="39">
                  <c:v>0.8125</c:v>
                </c:pt>
                <c:pt idx="40">
                  <c:v>0.83333333333333304</c:v>
                </c:pt>
                <c:pt idx="41">
                  <c:v>0.85416666666666696</c:v>
                </c:pt>
                <c:pt idx="42">
                  <c:v>0.875</c:v>
                </c:pt>
                <c:pt idx="43">
                  <c:v>0.89583333333333304</c:v>
                </c:pt>
                <c:pt idx="44">
                  <c:v>0.91666666666666696</c:v>
                </c:pt>
                <c:pt idx="45">
                  <c:v>0.9375</c:v>
                </c:pt>
                <c:pt idx="46">
                  <c:v>0.95833333333333304</c:v>
                </c:pt>
                <c:pt idx="47">
                  <c:v>0.97916666666666696</c:v>
                </c:pt>
              </c:numCache>
            </c:numRef>
          </c:cat>
          <c:val>
            <c:numRef>
              <c:f>'PV CF 30 min profiles'!$D$3:$D$50</c:f>
              <c:numCache>
                <c:formatCode>0%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2.0040626442911946E-3</c:v>
                </c:pt>
                <c:pt idx="13">
                  <c:v>1.5607799136996323E-2</c:v>
                </c:pt>
                <c:pt idx="14">
                  <c:v>7.1695009301066454E-2</c:v>
                </c:pt>
                <c:pt idx="15">
                  <c:v>0.16665572598916906</c:v>
                </c:pt>
                <c:pt idx="16">
                  <c:v>0.2860102647978493</c:v>
                </c:pt>
                <c:pt idx="17">
                  <c:v>0.3884961703555751</c:v>
                </c:pt>
                <c:pt idx="18">
                  <c:v>0.45635558956260075</c:v>
                </c:pt>
                <c:pt idx="19">
                  <c:v>0.52892654677441708</c:v>
                </c:pt>
                <c:pt idx="20">
                  <c:v>0.58842464501519476</c:v>
                </c:pt>
                <c:pt idx="21">
                  <c:v>0.61273883550752228</c:v>
                </c:pt>
                <c:pt idx="22">
                  <c:v>0.62927567030743503</c:v>
                </c:pt>
                <c:pt idx="23">
                  <c:v>0.67225020568634164</c:v>
                </c:pt>
                <c:pt idx="24">
                  <c:v>0.63875183406918301</c:v>
                </c:pt>
                <c:pt idx="25">
                  <c:v>0.62453758842656137</c:v>
                </c:pt>
                <c:pt idx="26">
                  <c:v>0.56744171097132468</c:v>
                </c:pt>
                <c:pt idx="27">
                  <c:v>0.50097584525867367</c:v>
                </c:pt>
                <c:pt idx="28">
                  <c:v>0.48470444921959416</c:v>
                </c:pt>
                <c:pt idx="29">
                  <c:v>0.38901377593920011</c:v>
                </c:pt>
                <c:pt idx="30">
                  <c:v>0.35300700803216689</c:v>
                </c:pt>
                <c:pt idx="31">
                  <c:v>0.29540679693134719</c:v>
                </c:pt>
                <c:pt idx="32">
                  <c:v>0.24943280355502459</c:v>
                </c:pt>
                <c:pt idx="33">
                  <c:v>0.18871368701441396</c:v>
                </c:pt>
                <c:pt idx="34">
                  <c:v>0.11703194965138913</c:v>
                </c:pt>
                <c:pt idx="35">
                  <c:v>3.7572856595949486E-2</c:v>
                </c:pt>
                <c:pt idx="36">
                  <c:v>4.9769767656238275E-3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B18-4CF2-A69A-FCF8099025E0}"/>
            </c:ext>
          </c:extLst>
        </c:ser>
        <c:ser>
          <c:idx val="1"/>
          <c:order val="1"/>
          <c:tx>
            <c:strRef>
              <c:f>'PV CF 30 min profiles'!$G$2</c:f>
              <c:strCache>
                <c:ptCount val="1"/>
                <c:pt idx="0">
                  <c:v>Jun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'PV CF 30 min profiles'!$A$3:$A$50</c:f>
              <c:numCache>
                <c:formatCode>hh:mm;@</c:formatCode>
                <c:ptCount val="48"/>
                <c:pt idx="0">
                  <c:v>0</c:v>
                </c:pt>
                <c:pt idx="1">
                  <c:v>2.0833333333333301E-2</c:v>
                </c:pt>
                <c:pt idx="2">
                  <c:v>4.1666666666666699E-2</c:v>
                </c:pt>
                <c:pt idx="3">
                  <c:v>6.25E-2</c:v>
                </c:pt>
                <c:pt idx="4">
                  <c:v>8.3333333333333301E-2</c:v>
                </c:pt>
                <c:pt idx="5">
                  <c:v>0.104166666666667</c:v>
                </c:pt>
                <c:pt idx="6">
                  <c:v>0.125</c:v>
                </c:pt>
                <c:pt idx="7">
                  <c:v>0.14583333333333301</c:v>
                </c:pt>
                <c:pt idx="8">
                  <c:v>0.16666666666666699</c:v>
                </c:pt>
                <c:pt idx="9">
                  <c:v>0.1875</c:v>
                </c:pt>
                <c:pt idx="10">
                  <c:v>0.20833333333333301</c:v>
                </c:pt>
                <c:pt idx="11">
                  <c:v>0.22916666666666699</c:v>
                </c:pt>
                <c:pt idx="12">
                  <c:v>0.25</c:v>
                </c:pt>
                <c:pt idx="13">
                  <c:v>0.27083333333333298</c:v>
                </c:pt>
                <c:pt idx="14">
                  <c:v>0.29166666666666702</c:v>
                </c:pt>
                <c:pt idx="15">
                  <c:v>0.3125</c:v>
                </c:pt>
                <c:pt idx="16">
                  <c:v>0.33333333333333298</c:v>
                </c:pt>
                <c:pt idx="17">
                  <c:v>0.35416666666666702</c:v>
                </c:pt>
                <c:pt idx="18">
                  <c:v>0.375</c:v>
                </c:pt>
                <c:pt idx="19">
                  <c:v>0.39583333333333298</c:v>
                </c:pt>
                <c:pt idx="20">
                  <c:v>0.41666666666666702</c:v>
                </c:pt>
                <c:pt idx="21">
                  <c:v>0.4375</c:v>
                </c:pt>
                <c:pt idx="22">
                  <c:v>0.45833333333333298</c:v>
                </c:pt>
                <c:pt idx="23">
                  <c:v>0.47916666666666702</c:v>
                </c:pt>
                <c:pt idx="24">
                  <c:v>0.5</c:v>
                </c:pt>
                <c:pt idx="25">
                  <c:v>0.52083333333333304</c:v>
                </c:pt>
                <c:pt idx="26">
                  <c:v>0.54166666666666696</c:v>
                </c:pt>
                <c:pt idx="27">
                  <c:v>0.5625</c:v>
                </c:pt>
                <c:pt idx="28">
                  <c:v>0.58333333333333304</c:v>
                </c:pt>
                <c:pt idx="29">
                  <c:v>0.60416666666666696</c:v>
                </c:pt>
                <c:pt idx="30">
                  <c:v>0.625</c:v>
                </c:pt>
                <c:pt idx="31">
                  <c:v>0.64583333333333304</c:v>
                </c:pt>
                <c:pt idx="32">
                  <c:v>0.66666666666666696</c:v>
                </c:pt>
                <c:pt idx="33">
                  <c:v>0.6875</c:v>
                </c:pt>
                <c:pt idx="34">
                  <c:v>0.70833333333333304</c:v>
                </c:pt>
                <c:pt idx="35">
                  <c:v>0.72916666666666696</c:v>
                </c:pt>
                <c:pt idx="36">
                  <c:v>0.75</c:v>
                </c:pt>
                <c:pt idx="37">
                  <c:v>0.77083333333333304</c:v>
                </c:pt>
                <c:pt idx="38">
                  <c:v>0.79166666666666696</c:v>
                </c:pt>
                <c:pt idx="39">
                  <c:v>0.8125</c:v>
                </c:pt>
                <c:pt idx="40">
                  <c:v>0.83333333333333304</c:v>
                </c:pt>
                <c:pt idx="41">
                  <c:v>0.85416666666666696</c:v>
                </c:pt>
                <c:pt idx="42">
                  <c:v>0.875</c:v>
                </c:pt>
                <c:pt idx="43">
                  <c:v>0.89583333333333304</c:v>
                </c:pt>
                <c:pt idx="44">
                  <c:v>0.91666666666666696</c:v>
                </c:pt>
                <c:pt idx="45">
                  <c:v>0.9375</c:v>
                </c:pt>
                <c:pt idx="46">
                  <c:v>0.95833333333333304</c:v>
                </c:pt>
                <c:pt idx="47">
                  <c:v>0.97916666666666696</c:v>
                </c:pt>
              </c:numCache>
            </c:numRef>
          </c:cat>
          <c:val>
            <c:numRef>
              <c:f>'PV CF 30 min profiles'!$G$3:$G$50</c:f>
              <c:numCache>
                <c:formatCode>0%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3.017153914804844E-4</c:v>
                </c:pt>
                <c:pt idx="10">
                  <c:v>1.0052608270690681E-2</c:v>
                </c:pt>
                <c:pt idx="11">
                  <c:v>2.6468668434424306E-2</c:v>
                </c:pt>
                <c:pt idx="12">
                  <c:v>4.4955593330592174E-2</c:v>
                </c:pt>
                <c:pt idx="13">
                  <c:v>0.14825197190472894</c:v>
                </c:pt>
                <c:pt idx="14">
                  <c:v>0.24028888064225315</c:v>
                </c:pt>
                <c:pt idx="15">
                  <c:v>0.32346632833903216</c:v>
                </c:pt>
                <c:pt idx="16">
                  <c:v>0.40348947876124247</c:v>
                </c:pt>
                <c:pt idx="17">
                  <c:v>0.49027379681981104</c:v>
                </c:pt>
                <c:pt idx="18">
                  <c:v>0.55218030941721574</c:v>
                </c:pt>
                <c:pt idx="19">
                  <c:v>0.57057123396154885</c:v>
                </c:pt>
                <c:pt idx="20">
                  <c:v>0.64303778526077071</c:v>
                </c:pt>
                <c:pt idx="21">
                  <c:v>0.69251910946357009</c:v>
                </c:pt>
                <c:pt idx="22">
                  <c:v>0.73067239214987501</c:v>
                </c:pt>
                <c:pt idx="23">
                  <c:v>0.75234104299256443</c:v>
                </c:pt>
                <c:pt idx="24">
                  <c:v>0.76024050051496239</c:v>
                </c:pt>
                <c:pt idx="25">
                  <c:v>0.71821977508331714</c:v>
                </c:pt>
                <c:pt idx="26">
                  <c:v>0.69616712283328863</c:v>
                </c:pt>
                <c:pt idx="27">
                  <c:v>0.6436275017077554</c:v>
                </c:pt>
                <c:pt idx="28">
                  <c:v>0.58391528286657235</c:v>
                </c:pt>
                <c:pt idx="29">
                  <c:v>0.51287502250889461</c:v>
                </c:pt>
                <c:pt idx="30">
                  <c:v>0.47529774193359775</c:v>
                </c:pt>
                <c:pt idx="31">
                  <c:v>0.41820496126390438</c:v>
                </c:pt>
                <c:pt idx="32">
                  <c:v>0.33866181260086736</c:v>
                </c:pt>
                <c:pt idx="33">
                  <c:v>0.25787065936397957</c:v>
                </c:pt>
                <c:pt idx="34">
                  <c:v>0.18720068607766424</c:v>
                </c:pt>
                <c:pt idx="35">
                  <c:v>0.11192269590328337</c:v>
                </c:pt>
                <c:pt idx="36">
                  <c:v>5.4569342850038539E-2</c:v>
                </c:pt>
                <c:pt idx="37">
                  <c:v>2.5179520852644053E-2</c:v>
                </c:pt>
                <c:pt idx="38">
                  <c:v>4.5943025520891962E-3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B18-4CF2-A69A-FCF8099025E0}"/>
            </c:ext>
          </c:extLst>
        </c:ser>
        <c:ser>
          <c:idx val="2"/>
          <c:order val="2"/>
          <c:tx>
            <c:strRef>
              <c:f>'PV CF 30 min profiles'!$J$2</c:f>
              <c:strCache>
                <c:ptCount val="1"/>
                <c:pt idx="0">
                  <c:v>Sep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'PV CF 30 min profiles'!$A$3:$A$50</c:f>
              <c:numCache>
                <c:formatCode>hh:mm;@</c:formatCode>
                <c:ptCount val="48"/>
                <c:pt idx="0">
                  <c:v>0</c:v>
                </c:pt>
                <c:pt idx="1">
                  <c:v>2.0833333333333301E-2</c:v>
                </c:pt>
                <c:pt idx="2">
                  <c:v>4.1666666666666699E-2</c:v>
                </c:pt>
                <c:pt idx="3">
                  <c:v>6.25E-2</c:v>
                </c:pt>
                <c:pt idx="4">
                  <c:v>8.3333333333333301E-2</c:v>
                </c:pt>
                <c:pt idx="5">
                  <c:v>0.104166666666667</c:v>
                </c:pt>
                <c:pt idx="6">
                  <c:v>0.125</c:v>
                </c:pt>
                <c:pt idx="7">
                  <c:v>0.14583333333333301</c:v>
                </c:pt>
                <c:pt idx="8">
                  <c:v>0.16666666666666699</c:v>
                </c:pt>
                <c:pt idx="9">
                  <c:v>0.1875</c:v>
                </c:pt>
                <c:pt idx="10">
                  <c:v>0.20833333333333301</c:v>
                </c:pt>
                <c:pt idx="11">
                  <c:v>0.22916666666666699</c:v>
                </c:pt>
                <c:pt idx="12">
                  <c:v>0.25</c:v>
                </c:pt>
                <c:pt idx="13">
                  <c:v>0.27083333333333298</c:v>
                </c:pt>
                <c:pt idx="14">
                  <c:v>0.29166666666666702</c:v>
                </c:pt>
                <c:pt idx="15">
                  <c:v>0.3125</c:v>
                </c:pt>
                <c:pt idx="16">
                  <c:v>0.33333333333333298</c:v>
                </c:pt>
                <c:pt idx="17">
                  <c:v>0.35416666666666702</c:v>
                </c:pt>
                <c:pt idx="18">
                  <c:v>0.375</c:v>
                </c:pt>
                <c:pt idx="19">
                  <c:v>0.39583333333333298</c:v>
                </c:pt>
                <c:pt idx="20">
                  <c:v>0.41666666666666702</c:v>
                </c:pt>
                <c:pt idx="21">
                  <c:v>0.4375</c:v>
                </c:pt>
                <c:pt idx="22">
                  <c:v>0.45833333333333298</c:v>
                </c:pt>
                <c:pt idx="23">
                  <c:v>0.47916666666666702</c:v>
                </c:pt>
                <c:pt idx="24">
                  <c:v>0.5</c:v>
                </c:pt>
                <c:pt idx="25">
                  <c:v>0.52083333333333304</c:v>
                </c:pt>
                <c:pt idx="26">
                  <c:v>0.54166666666666696</c:v>
                </c:pt>
                <c:pt idx="27">
                  <c:v>0.5625</c:v>
                </c:pt>
                <c:pt idx="28">
                  <c:v>0.58333333333333304</c:v>
                </c:pt>
                <c:pt idx="29">
                  <c:v>0.60416666666666696</c:v>
                </c:pt>
                <c:pt idx="30">
                  <c:v>0.625</c:v>
                </c:pt>
                <c:pt idx="31">
                  <c:v>0.64583333333333304</c:v>
                </c:pt>
                <c:pt idx="32">
                  <c:v>0.66666666666666696</c:v>
                </c:pt>
                <c:pt idx="33">
                  <c:v>0.6875</c:v>
                </c:pt>
                <c:pt idx="34">
                  <c:v>0.70833333333333304</c:v>
                </c:pt>
                <c:pt idx="35">
                  <c:v>0.72916666666666696</c:v>
                </c:pt>
                <c:pt idx="36">
                  <c:v>0.75</c:v>
                </c:pt>
                <c:pt idx="37">
                  <c:v>0.77083333333333304</c:v>
                </c:pt>
                <c:pt idx="38">
                  <c:v>0.79166666666666696</c:v>
                </c:pt>
                <c:pt idx="39">
                  <c:v>0.8125</c:v>
                </c:pt>
                <c:pt idx="40">
                  <c:v>0.83333333333333304</c:v>
                </c:pt>
                <c:pt idx="41">
                  <c:v>0.85416666666666696</c:v>
                </c:pt>
                <c:pt idx="42">
                  <c:v>0.875</c:v>
                </c:pt>
                <c:pt idx="43">
                  <c:v>0.89583333333333304</c:v>
                </c:pt>
                <c:pt idx="44">
                  <c:v>0.91666666666666696</c:v>
                </c:pt>
                <c:pt idx="45">
                  <c:v>0.9375</c:v>
                </c:pt>
                <c:pt idx="46">
                  <c:v>0.95833333333333304</c:v>
                </c:pt>
                <c:pt idx="47">
                  <c:v>0.97916666666666696</c:v>
                </c:pt>
              </c:numCache>
            </c:numRef>
          </c:cat>
          <c:val>
            <c:numRef>
              <c:f>'PV CF 30 min profiles'!$J$3:$J$50</c:f>
              <c:numCache>
                <c:formatCode>0%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2.6057238355132751E-4</c:v>
                </c:pt>
                <c:pt idx="12">
                  <c:v>9.6823211993282698E-3</c:v>
                </c:pt>
                <c:pt idx="13">
                  <c:v>3.9319001244297679E-2</c:v>
                </c:pt>
                <c:pt idx="14">
                  <c:v>0.18038466109740056</c:v>
                </c:pt>
                <c:pt idx="15">
                  <c:v>0.29263650106411715</c:v>
                </c:pt>
                <c:pt idx="16">
                  <c:v>0.40521748509426692</c:v>
                </c:pt>
                <c:pt idx="17">
                  <c:v>0.49058922654726789</c:v>
                </c:pt>
                <c:pt idx="18">
                  <c:v>0.55648661091380092</c:v>
                </c:pt>
                <c:pt idx="19">
                  <c:v>0.5911838809340566</c:v>
                </c:pt>
                <c:pt idx="20">
                  <c:v>0.656560120533487</c:v>
                </c:pt>
                <c:pt idx="21">
                  <c:v>0.67916134622257041</c:v>
                </c:pt>
                <c:pt idx="22">
                  <c:v>0.68920024015728498</c:v>
                </c:pt>
                <c:pt idx="23">
                  <c:v>0.70753630735771267</c:v>
                </c:pt>
                <c:pt idx="24">
                  <c:v>0.71403690261051922</c:v>
                </c:pt>
                <c:pt idx="25">
                  <c:v>0.68492136733265274</c:v>
                </c:pt>
                <c:pt idx="26">
                  <c:v>0.66836816380915498</c:v>
                </c:pt>
                <c:pt idx="27">
                  <c:v>0.63398632351635642</c:v>
                </c:pt>
                <c:pt idx="28">
                  <c:v>0.60802508551305834</c:v>
                </c:pt>
                <c:pt idx="29">
                  <c:v>0.57083180634510022</c:v>
                </c:pt>
                <c:pt idx="30">
                  <c:v>0.51767504010062948</c:v>
                </c:pt>
                <c:pt idx="31">
                  <c:v>0.4239375537020334</c:v>
                </c:pt>
                <c:pt idx="32">
                  <c:v>0.33148921488521771</c:v>
                </c:pt>
                <c:pt idx="33">
                  <c:v>0.2325814238235244</c:v>
                </c:pt>
                <c:pt idx="34">
                  <c:v>0.13910450980847974</c:v>
                </c:pt>
                <c:pt idx="35">
                  <c:v>5.253962112553346E-2</c:v>
                </c:pt>
                <c:pt idx="36">
                  <c:v>8.9691757285562199E-3</c:v>
                </c:pt>
                <c:pt idx="37">
                  <c:v>3.2914406343325579E-4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B18-4CF2-A69A-FCF8099025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0587264"/>
        <c:axId val="150588800"/>
      </c:lineChart>
      <c:catAx>
        <c:axId val="150587264"/>
        <c:scaling>
          <c:orientation val="minMax"/>
        </c:scaling>
        <c:delete val="0"/>
        <c:axPos val="b"/>
        <c:numFmt formatCode="hh:mm;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sv-SE"/>
          </a:p>
        </c:txPr>
        <c:crossAx val="150588800"/>
        <c:crosses val="autoZero"/>
        <c:auto val="1"/>
        <c:lblAlgn val="ctr"/>
        <c:lblOffset val="100"/>
        <c:noMultiLvlLbl val="0"/>
      </c:catAx>
      <c:valAx>
        <c:axId val="150588800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b="1"/>
                  <a:t>PV Capacity Factor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sv-SE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sv-SE"/>
          </a:p>
        </c:txPr>
        <c:crossAx val="1505872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sv-SE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1800"/>
      </a:pPr>
      <a:endParaRPr lang="sv-S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Google Shape;600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4" name="Google Shape;644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p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" name="Google Shape;654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2" name="Google Shape;662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" name="Google Shape;671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0" name="Google Shape;680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8" name="Google Shape;698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9"/>
          <p:cNvSpPr txBox="1"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49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49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30" name="Google Shape;30;p49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ngelog and attribution">
  <p:cSld name="Changelog and attribu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Google Shape;40;p51"/>
          <p:cNvGraphicFramePr/>
          <p:nvPr/>
        </p:nvGraphicFramePr>
        <p:xfrm>
          <a:off x="838200" y="161607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{1A206DAB-3555-4C46-A72D-0963664602DE}</a:tableStyleId>
              </a:tblPr>
              <a:tblGrid>
                <a:gridCol w="1490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8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Date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Author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Reviewer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Reviser 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1" name="Google Shape;41;p51"/>
          <p:cNvSpPr txBox="1"/>
          <p:nvPr/>
        </p:nvSpPr>
        <p:spPr>
          <a:xfrm>
            <a:off x="838200" y="5397500"/>
            <a:ext cx="10515600" cy="851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correctly reference this work, please use the following:</a:t>
            </a:r>
            <a:endParaRPr/>
          </a:p>
        </p:txBody>
      </p:sp>
      <p:sp>
        <p:nvSpPr>
          <p:cNvPr id="42" name="Google Shape;42;p5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51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51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45" name="Google Shape;45;p51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2"/>
          <p:cNvSpPr txBox="1"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52"/>
          <p:cNvSpPr txBox="1">
            <a:spLocks noGrp="1"/>
          </p:cNvSpPr>
          <p:nvPr>
            <p:ph type="title"/>
          </p:nvPr>
        </p:nvSpPr>
        <p:spPr>
          <a:xfrm>
            <a:off x="2123768" y="372221"/>
            <a:ext cx="9226296" cy="669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52"/>
          <p:cNvSpPr txBox="1">
            <a:spLocks noGrp="1"/>
          </p:cNvSpPr>
          <p:nvPr>
            <p:ph type="body" idx="2"/>
          </p:nvPr>
        </p:nvSpPr>
        <p:spPr>
          <a:xfrm>
            <a:off x="2123768" y="1051561"/>
            <a:ext cx="9220200" cy="398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070"/>
              </a:buClr>
              <a:buSzPts val="2800"/>
              <a:buNone/>
              <a:defRPr b="1">
                <a:solidFill>
                  <a:srgbClr val="75707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5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52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52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5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53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53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4"/>
          <p:cNvSpPr txBox="1">
            <a:spLocks noGrp="1"/>
          </p:cNvSpPr>
          <p:nvPr>
            <p:ph type="body" idx="1"/>
          </p:nvPr>
        </p:nvSpPr>
        <p:spPr>
          <a:xfrm>
            <a:off x="838200" y="1618488"/>
            <a:ext cx="5181600" cy="457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54"/>
          <p:cNvSpPr txBox="1">
            <a:spLocks noGrp="1"/>
          </p:cNvSpPr>
          <p:nvPr>
            <p:ph type="body" idx="2"/>
          </p:nvPr>
        </p:nvSpPr>
        <p:spPr>
          <a:xfrm>
            <a:off x="6172200" y="1618488"/>
            <a:ext cx="5181600" cy="457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5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54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54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65" name="Google Shape;65;p54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>
  <p:cSld name="1_Two Conten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5"/>
          <p:cNvSpPr txBox="1">
            <a:spLocks noGrp="1"/>
          </p:cNvSpPr>
          <p:nvPr>
            <p:ph type="body" idx="1"/>
          </p:nvPr>
        </p:nvSpPr>
        <p:spPr>
          <a:xfrm>
            <a:off x="838200" y="1618488"/>
            <a:ext cx="5181600" cy="457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55"/>
          <p:cNvSpPr txBox="1">
            <a:spLocks noGrp="1"/>
          </p:cNvSpPr>
          <p:nvPr>
            <p:ph type="body" idx="2"/>
          </p:nvPr>
        </p:nvSpPr>
        <p:spPr>
          <a:xfrm>
            <a:off x="6172200" y="1618488"/>
            <a:ext cx="5181600" cy="457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5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55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55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72" name="Google Shape;72;p55"/>
          <p:cNvSpPr txBox="1">
            <a:spLocks noGrp="1"/>
          </p:cNvSpPr>
          <p:nvPr>
            <p:ph type="title"/>
          </p:nvPr>
        </p:nvSpPr>
        <p:spPr>
          <a:xfrm>
            <a:off x="2123768" y="372221"/>
            <a:ext cx="9226296" cy="669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5"/>
          <p:cNvSpPr txBox="1">
            <a:spLocks noGrp="1"/>
          </p:cNvSpPr>
          <p:nvPr>
            <p:ph type="body" idx="3"/>
          </p:nvPr>
        </p:nvSpPr>
        <p:spPr>
          <a:xfrm>
            <a:off x="2123768" y="1051561"/>
            <a:ext cx="9220200" cy="398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070"/>
              </a:buClr>
              <a:buSzPts val="2800"/>
              <a:buNone/>
              <a:defRPr b="1">
                <a:solidFill>
                  <a:srgbClr val="75707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6"/>
          <p:cNvSpPr txBox="1">
            <a:spLocks noGrp="1"/>
          </p:cNvSpPr>
          <p:nvPr>
            <p:ph type="body" idx="1"/>
          </p:nvPr>
        </p:nvSpPr>
        <p:spPr>
          <a:xfrm>
            <a:off x="839788" y="1618488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6" name="Google Shape;76;p56"/>
          <p:cNvSpPr txBox="1">
            <a:spLocks noGrp="1"/>
          </p:cNvSpPr>
          <p:nvPr>
            <p:ph type="body" idx="2"/>
          </p:nvPr>
        </p:nvSpPr>
        <p:spPr>
          <a:xfrm>
            <a:off x="839788" y="2609087"/>
            <a:ext cx="5157787" cy="3580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56"/>
          <p:cNvSpPr txBox="1">
            <a:spLocks noGrp="1"/>
          </p:cNvSpPr>
          <p:nvPr>
            <p:ph type="body" idx="3"/>
          </p:nvPr>
        </p:nvSpPr>
        <p:spPr>
          <a:xfrm>
            <a:off x="6172200" y="1618488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8" name="Google Shape;78;p56"/>
          <p:cNvSpPr txBox="1">
            <a:spLocks noGrp="1"/>
          </p:cNvSpPr>
          <p:nvPr>
            <p:ph type="body" idx="4"/>
          </p:nvPr>
        </p:nvSpPr>
        <p:spPr>
          <a:xfrm>
            <a:off x="6172200" y="2609087"/>
            <a:ext cx="5183188" cy="3580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5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56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56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82" name="Google Shape;82;p56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57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57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87" name="Google Shape;87;p57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0" name="Google Shape;90;p58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" name="Google Shape;91;p58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9"/>
          <p:cNvSpPr txBox="1">
            <a:spLocks noGrp="1"/>
          </p:cNvSpPr>
          <p:nvPr>
            <p:ph type="title"/>
          </p:nvPr>
        </p:nvSpPr>
        <p:spPr>
          <a:xfrm>
            <a:off x="838200" y="1618488"/>
            <a:ext cx="3932237" cy="142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59"/>
          <p:cNvSpPr txBox="1">
            <a:spLocks noGrp="1"/>
          </p:cNvSpPr>
          <p:nvPr>
            <p:ph type="body" idx="1"/>
          </p:nvPr>
        </p:nvSpPr>
        <p:spPr>
          <a:xfrm>
            <a:off x="5183188" y="1618488"/>
            <a:ext cx="6172200" cy="451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95" name="Google Shape;95;p59"/>
          <p:cNvSpPr txBox="1">
            <a:spLocks noGrp="1"/>
          </p:cNvSpPr>
          <p:nvPr>
            <p:ph type="body" idx="2"/>
          </p:nvPr>
        </p:nvSpPr>
        <p:spPr>
          <a:xfrm>
            <a:off x="839788" y="3162300"/>
            <a:ext cx="3932237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96" name="Google Shape;96;p5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7" name="Google Shape;97;p59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8" name="Google Shape;98;p59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0"/>
          <p:cNvSpPr txBox="1">
            <a:spLocks noGrp="1"/>
          </p:cNvSpPr>
          <p:nvPr>
            <p:ph type="title"/>
          </p:nvPr>
        </p:nvSpPr>
        <p:spPr>
          <a:xfrm>
            <a:off x="838200" y="1618488"/>
            <a:ext cx="3932237" cy="1426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60"/>
          <p:cNvSpPr>
            <a:spLocks noGrp="1"/>
          </p:cNvSpPr>
          <p:nvPr>
            <p:ph type="pic" idx="2"/>
          </p:nvPr>
        </p:nvSpPr>
        <p:spPr>
          <a:xfrm>
            <a:off x="5183188" y="1618488"/>
            <a:ext cx="6172200" cy="451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2" name="Google Shape;102;p60"/>
          <p:cNvSpPr txBox="1">
            <a:spLocks noGrp="1"/>
          </p:cNvSpPr>
          <p:nvPr>
            <p:ph type="body" idx="1"/>
          </p:nvPr>
        </p:nvSpPr>
        <p:spPr>
          <a:xfrm>
            <a:off x="839788" y="3162300"/>
            <a:ext cx="3932237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3" name="Google Shape;103;p6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" name="Google Shape;104;p60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5" name="Google Shape;105;p60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1"/>
          <p:cNvSpPr txBox="1">
            <a:spLocks noGrp="1"/>
          </p:cNvSpPr>
          <p:nvPr>
            <p:ph type="body" idx="1"/>
          </p:nvPr>
        </p:nvSpPr>
        <p:spPr>
          <a:xfrm rot="5400000">
            <a:off x="3820633" y="-1366284"/>
            <a:ext cx="4550734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6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9" name="Google Shape;109;p61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0" name="Google Shape;110;p61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111" name="Google Shape;111;p61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6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6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6" name="Google Shape;116;p62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7" name="Google Shape;117;p62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69000">
              <a:srgbClr val="FDFDFD"/>
            </a:gs>
            <a:gs pos="100000">
              <a:srgbClr val="E7E6E6">
                <a:alpha val="49803"/>
              </a:srgbClr>
            </a:gs>
          </a:gsLst>
          <a:lin ang="18900000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7"/>
          <p:cNvSpPr txBox="1"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1" name="Google Shape;11;p47"/>
          <p:cNvCxnSpPr/>
          <p:nvPr/>
        </p:nvCxnSpPr>
        <p:spPr>
          <a:xfrm>
            <a:off x="838200" y="6323905"/>
            <a:ext cx="10515600" cy="0"/>
          </a:xfrm>
          <a:prstGeom prst="straightConnector1">
            <a:avLst/>
          </a:prstGeom>
          <a:noFill/>
          <a:ln w="19050" cap="flat" cmpd="sng">
            <a:solidFill>
              <a:srgbClr val="D0CECE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" name="Google Shape;12;p47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13" name="Google Shape;13;p47"/>
          <p:cNvPicPr preferRelativeResize="0"/>
          <p:nvPr/>
        </p:nvPicPr>
        <p:blipFill rotWithShape="1">
          <a:blip r:embed="rId15">
            <a:alphaModFix/>
          </a:blip>
          <a:srcRect l="6330" t="11650" r="6449" b="15113"/>
          <a:stretch/>
        </p:blipFill>
        <p:spPr>
          <a:xfrm>
            <a:off x="906186" y="1041144"/>
            <a:ext cx="1158284" cy="34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47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38200" y="456647"/>
            <a:ext cx="1294256" cy="510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47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10734628" y="364808"/>
            <a:ext cx="619172" cy="61917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3"/>
          <p:cNvSpPr txBox="1"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sv-SE" dirty="0"/>
              <a:t>By the end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this</a:t>
            </a:r>
            <a:r>
              <a:rPr lang="sv-SE" dirty="0"/>
              <a:t> </a:t>
            </a:r>
            <a:r>
              <a:rPr lang="sv-SE" dirty="0" err="1"/>
              <a:t>exercise</a:t>
            </a:r>
            <a:r>
              <a:rPr lang="sv-SE" dirty="0"/>
              <a:t> </a:t>
            </a:r>
            <a:r>
              <a:rPr lang="sv-SE" dirty="0" err="1"/>
              <a:t>you</a:t>
            </a:r>
            <a:r>
              <a:rPr lang="sv-SE" dirty="0"/>
              <a:t> </a:t>
            </a:r>
            <a:r>
              <a:rPr lang="sv-SE" dirty="0" err="1"/>
              <a:t>will</a:t>
            </a:r>
            <a:r>
              <a:rPr lang="sv-SE" dirty="0"/>
              <a:t> be </a:t>
            </a:r>
            <a:r>
              <a:rPr lang="sv-SE" dirty="0" err="1"/>
              <a:t>able</a:t>
            </a:r>
            <a:r>
              <a:rPr lang="sv-SE" dirty="0"/>
              <a:t> to: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sv-SE" dirty="0" err="1" smtClean="0"/>
              <a:t>Define</a:t>
            </a:r>
            <a:r>
              <a:rPr lang="sv-SE" dirty="0" smtClean="0"/>
              <a:t> </a:t>
            </a:r>
            <a:r>
              <a:rPr lang="sv-SE" dirty="0"/>
              <a:t>Solar PV </a:t>
            </a:r>
            <a:r>
              <a:rPr lang="sv-SE" dirty="0" err="1"/>
              <a:t>technology</a:t>
            </a:r>
            <a:r>
              <a:rPr lang="sv-SE" dirty="0"/>
              <a:t> generating </a:t>
            </a:r>
            <a:r>
              <a:rPr lang="sv-SE" dirty="0" err="1"/>
              <a:t>electricity</a:t>
            </a:r>
            <a:r>
              <a:rPr lang="sv-SE" dirty="0"/>
              <a:t> at the </a:t>
            </a:r>
            <a:r>
              <a:rPr lang="sv-SE" dirty="0" err="1"/>
              <a:t>decentralized</a:t>
            </a:r>
            <a:r>
              <a:rPr lang="sv-SE" dirty="0"/>
              <a:t> </a:t>
            </a:r>
            <a:r>
              <a:rPr lang="sv-SE" dirty="0" err="1"/>
              <a:t>level</a:t>
            </a:r>
            <a:r>
              <a:rPr lang="sv-SE" dirty="0"/>
              <a:t>, </a:t>
            </a:r>
            <a:r>
              <a:rPr lang="sv-SE" dirty="0" err="1"/>
              <a:t>along</a:t>
            </a:r>
            <a:r>
              <a:rPr lang="sv-SE" dirty="0"/>
              <a:t> </a:t>
            </a:r>
            <a:r>
              <a:rPr lang="sv-SE" dirty="0" err="1"/>
              <a:t>with</a:t>
            </a:r>
            <a:r>
              <a:rPr lang="sv-SE" dirty="0"/>
              <a:t> a temporal </a:t>
            </a:r>
            <a:r>
              <a:rPr lang="sv-SE" dirty="0" err="1"/>
              <a:t>profile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generation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sv-SE" dirty="0" err="1"/>
              <a:t>Define</a:t>
            </a:r>
            <a:r>
              <a:rPr lang="sv-SE" dirty="0"/>
              <a:t> Solar PV </a:t>
            </a:r>
            <a:r>
              <a:rPr lang="sv-SE" dirty="0" err="1"/>
              <a:t>technology</a:t>
            </a:r>
            <a:r>
              <a:rPr lang="sv-SE" dirty="0"/>
              <a:t>, </a:t>
            </a:r>
            <a:r>
              <a:rPr lang="sv-SE" dirty="0" err="1"/>
              <a:t>coupled</a:t>
            </a:r>
            <a:r>
              <a:rPr lang="sv-SE" dirty="0"/>
              <a:t> </a:t>
            </a:r>
            <a:r>
              <a:rPr lang="sv-SE" dirty="0" err="1"/>
              <a:t>with</a:t>
            </a:r>
            <a:r>
              <a:rPr lang="sv-SE" dirty="0"/>
              <a:t> a </a:t>
            </a:r>
            <a:r>
              <a:rPr lang="sv-SE" dirty="0" err="1"/>
              <a:t>battery</a:t>
            </a:r>
            <a:r>
              <a:rPr lang="sv-SE" dirty="0"/>
              <a:t>, generating </a:t>
            </a:r>
            <a:r>
              <a:rPr lang="sv-SE" dirty="0" err="1"/>
              <a:t>electricity</a:t>
            </a:r>
            <a:r>
              <a:rPr lang="sv-SE" dirty="0"/>
              <a:t> at the </a:t>
            </a:r>
            <a:r>
              <a:rPr lang="sv-SE" dirty="0" err="1"/>
              <a:t>decentralized</a:t>
            </a:r>
            <a:r>
              <a:rPr lang="sv-SE" dirty="0"/>
              <a:t> </a:t>
            </a:r>
            <a:r>
              <a:rPr lang="sv-SE" dirty="0" err="1"/>
              <a:t>level</a:t>
            </a:r>
            <a:r>
              <a:rPr lang="sv-SE" dirty="0"/>
              <a:t>, </a:t>
            </a:r>
            <a:r>
              <a:rPr lang="sv-SE" dirty="0" err="1"/>
              <a:t>along</a:t>
            </a:r>
            <a:r>
              <a:rPr lang="sv-SE" dirty="0"/>
              <a:t> </a:t>
            </a:r>
            <a:r>
              <a:rPr lang="sv-SE" dirty="0" err="1"/>
              <a:t>with</a:t>
            </a:r>
            <a:r>
              <a:rPr lang="sv-SE" dirty="0"/>
              <a:t> an </a:t>
            </a:r>
            <a:r>
              <a:rPr lang="sv-SE" dirty="0" err="1"/>
              <a:t>assumed</a:t>
            </a:r>
            <a:r>
              <a:rPr lang="sv-SE" dirty="0"/>
              <a:t> temporal </a:t>
            </a:r>
            <a:r>
              <a:rPr lang="sv-SE" dirty="0" err="1"/>
              <a:t>profile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generation</a:t>
            </a:r>
            <a:endParaRPr dirty="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sv-SE" dirty="0" err="1"/>
              <a:t>Run</a:t>
            </a:r>
            <a:r>
              <a:rPr lang="sv-SE" dirty="0"/>
              <a:t> the </a:t>
            </a:r>
            <a:r>
              <a:rPr lang="sv-SE" dirty="0" err="1"/>
              <a:t>model</a:t>
            </a:r>
            <a:r>
              <a:rPr lang="sv-SE" dirty="0"/>
              <a:t> and check </a:t>
            </a:r>
            <a:r>
              <a:rPr lang="sv-SE" dirty="0" err="1"/>
              <a:t>results</a:t>
            </a:r>
            <a:r>
              <a:rPr lang="sv-SE" dirty="0"/>
              <a:t> on </a:t>
            </a:r>
            <a:r>
              <a:rPr lang="sv-SE" dirty="0" err="1"/>
              <a:t>production</a:t>
            </a:r>
            <a:r>
              <a:rPr lang="sv-SE" dirty="0"/>
              <a:t> by </a:t>
            </a:r>
            <a:r>
              <a:rPr lang="sv-SE" dirty="0" err="1"/>
              <a:t>technology</a:t>
            </a:r>
            <a:r>
              <a:rPr lang="sv-SE" dirty="0"/>
              <a:t> and </a:t>
            </a:r>
            <a:r>
              <a:rPr lang="sv-SE" dirty="0" err="1"/>
              <a:t>capacity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each</a:t>
            </a:r>
            <a:r>
              <a:rPr lang="sv-SE" dirty="0"/>
              <a:t> </a:t>
            </a:r>
            <a:r>
              <a:rPr lang="sv-SE" dirty="0" err="1"/>
              <a:t>technology</a:t>
            </a:r>
            <a:endParaRPr dirty="0"/>
          </a:p>
        </p:txBody>
      </p:sp>
      <p:sp>
        <p:nvSpPr>
          <p:cNvPr id="450" name="Google Shape;450;p23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1</a:t>
            </a:fld>
            <a:endParaRPr/>
          </a:p>
        </p:txBody>
      </p:sp>
      <p:sp>
        <p:nvSpPr>
          <p:cNvPr id="451" name="Google Shape;451;p23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sv-SE"/>
              <a:t>Exercise - Learning Objectives</a:t>
            </a:r>
            <a:endParaRPr/>
          </a:p>
        </p:txBody>
      </p:sp>
      <p:sp>
        <p:nvSpPr>
          <p:cNvPr id="452" name="Google Shape;45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>
                <a:solidFill>
                  <a:srgbClr val="888888"/>
                </a:solidFill>
              </a:rPr>
              <a:t>03/2019</a:t>
            </a:r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4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2</a:t>
            </a:fld>
            <a:endParaRPr/>
          </a:p>
        </p:txBody>
      </p:sp>
      <p:grpSp>
        <p:nvGrpSpPr>
          <p:cNvPr id="458" name="Google Shape;458;p24"/>
          <p:cNvGrpSpPr/>
          <p:nvPr/>
        </p:nvGrpSpPr>
        <p:grpSpPr>
          <a:xfrm>
            <a:off x="2310507" y="-49744"/>
            <a:ext cx="7614568" cy="6406094"/>
            <a:chOff x="2310507" y="-49744"/>
            <a:chExt cx="7614568" cy="6406094"/>
          </a:xfrm>
        </p:grpSpPr>
        <p:grpSp>
          <p:nvGrpSpPr>
            <p:cNvPr id="459" name="Google Shape;459;p24"/>
            <p:cNvGrpSpPr/>
            <p:nvPr/>
          </p:nvGrpSpPr>
          <p:grpSpPr>
            <a:xfrm>
              <a:off x="2310507" y="-49744"/>
              <a:ext cx="7614568" cy="6406094"/>
              <a:chOff x="1859055" y="37795"/>
              <a:chExt cx="7614568" cy="6406094"/>
            </a:xfrm>
          </p:grpSpPr>
          <p:sp>
            <p:nvSpPr>
              <p:cNvPr id="460" name="Google Shape;460;p24"/>
              <p:cNvSpPr/>
              <p:nvPr/>
            </p:nvSpPr>
            <p:spPr>
              <a:xfrm>
                <a:off x="1859055" y="2653395"/>
                <a:ext cx="1265143" cy="904341"/>
              </a:xfrm>
              <a:prstGeom prst="roundRect">
                <a:avLst>
                  <a:gd name="adj" fmla="val 16667"/>
                </a:avLst>
              </a:prstGeom>
              <a:noFill/>
              <a:ln w="25400" cap="flat" cmpd="sng">
                <a:solidFill>
                  <a:srgbClr val="7F7F7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sv-SE" sz="1400" b="1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Natural Gas Imports</a:t>
                </a:r>
                <a:endParaRPr/>
              </a:p>
            </p:txBody>
          </p:sp>
          <p:sp>
            <p:nvSpPr>
              <p:cNvPr id="461" name="Google Shape;461;p24"/>
              <p:cNvSpPr/>
              <p:nvPr/>
            </p:nvSpPr>
            <p:spPr>
              <a:xfrm>
                <a:off x="1859055" y="1221118"/>
                <a:ext cx="1265143" cy="904341"/>
              </a:xfrm>
              <a:prstGeom prst="roundRect">
                <a:avLst>
                  <a:gd name="adj" fmla="val 16667"/>
                </a:avLst>
              </a:prstGeom>
              <a:noFill/>
              <a:ln w="25400" cap="flat" cmpd="sng">
                <a:solidFill>
                  <a:srgbClr val="7F7F7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sv-SE" sz="1400" b="1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Natural Gas Production</a:t>
                </a:r>
                <a:endParaRPr/>
              </a:p>
            </p:txBody>
          </p:sp>
          <p:sp>
            <p:nvSpPr>
              <p:cNvPr id="462" name="Google Shape;462;p24"/>
              <p:cNvSpPr txBox="1"/>
              <p:nvPr/>
            </p:nvSpPr>
            <p:spPr>
              <a:xfrm rot="2514107">
                <a:off x="2711182" y="696101"/>
                <a:ext cx="126136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sv-SE" sz="1400" b="1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Natural Gas</a:t>
                </a:r>
                <a:endParaRPr/>
              </a:p>
            </p:txBody>
          </p:sp>
          <p:cxnSp>
            <p:nvCxnSpPr>
              <p:cNvPr id="463" name="Google Shape;463;p24"/>
              <p:cNvCxnSpPr/>
              <p:nvPr/>
            </p:nvCxnSpPr>
            <p:spPr>
              <a:xfrm>
                <a:off x="3476288" y="1093908"/>
                <a:ext cx="0" cy="5334101"/>
              </a:xfrm>
              <a:prstGeom prst="straightConnector1">
                <a:avLst/>
              </a:prstGeom>
              <a:noFill/>
              <a:ln w="25400" cap="flat" cmpd="sng">
                <a:solidFill>
                  <a:srgbClr val="7F7F7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64" name="Google Shape;464;p24"/>
              <p:cNvCxnSpPr/>
              <p:nvPr/>
            </p:nvCxnSpPr>
            <p:spPr>
              <a:xfrm>
                <a:off x="5947076" y="1093908"/>
                <a:ext cx="0" cy="5348271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465" name="Google Shape;465;p24"/>
              <p:cNvSpPr/>
              <p:nvPr/>
            </p:nvSpPr>
            <p:spPr>
              <a:xfrm>
                <a:off x="4352794" y="3123600"/>
                <a:ext cx="1265143" cy="598021"/>
              </a:xfrm>
              <a:prstGeom prst="rect">
                <a:avLst/>
              </a:prstGeom>
              <a:noFill/>
              <a:ln w="25400" cap="flat" cmpd="sng">
                <a:solidFill>
                  <a:srgbClr val="7030A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sv-SE" sz="140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Wind</a:t>
                </a:r>
                <a:endParaRPr/>
              </a:p>
            </p:txBody>
          </p:sp>
          <p:cxnSp>
            <p:nvCxnSpPr>
              <p:cNvPr id="466" name="Google Shape;466;p24"/>
              <p:cNvCxnSpPr/>
              <p:nvPr/>
            </p:nvCxnSpPr>
            <p:spPr>
              <a:xfrm>
                <a:off x="5961593" y="2393123"/>
                <a:ext cx="637370" cy="0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sp>
            <p:nvSpPr>
              <p:cNvPr id="467" name="Google Shape;467;p24"/>
              <p:cNvSpPr/>
              <p:nvPr/>
            </p:nvSpPr>
            <p:spPr>
              <a:xfrm>
                <a:off x="4352794" y="4200164"/>
                <a:ext cx="1265143" cy="598021"/>
              </a:xfrm>
              <a:prstGeom prst="rect">
                <a:avLst/>
              </a:prstGeom>
              <a:noFill/>
              <a:ln w="25400" cap="flat" cmpd="sng">
                <a:solidFill>
                  <a:srgbClr val="7F7F7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sv-SE" sz="140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New CCGT/GT</a:t>
                </a:r>
                <a:endParaRPr/>
              </a:p>
            </p:txBody>
          </p:sp>
          <p:cxnSp>
            <p:nvCxnSpPr>
              <p:cNvPr id="468" name="Google Shape;468;p24"/>
              <p:cNvCxnSpPr/>
              <p:nvPr/>
            </p:nvCxnSpPr>
            <p:spPr>
              <a:xfrm>
                <a:off x="5634989" y="4504092"/>
                <a:ext cx="326604" cy="0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cxnSp>
            <p:nvCxnSpPr>
              <p:cNvPr id="469" name="Google Shape;469;p24"/>
              <p:cNvCxnSpPr>
                <a:endCxn id="467" idx="1"/>
              </p:cNvCxnSpPr>
              <p:nvPr/>
            </p:nvCxnSpPr>
            <p:spPr>
              <a:xfrm>
                <a:off x="3476194" y="4499175"/>
                <a:ext cx="876600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7F7F7F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sp>
            <p:nvSpPr>
              <p:cNvPr id="470" name="Google Shape;470;p24"/>
              <p:cNvSpPr/>
              <p:nvPr/>
            </p:nvSpPr>
            <p:spPr>
              <a:xfrm>
                <a:off x="4352796" y="1093908"/>
                <a:ext cx="1265143" cy="598021"/>
              </a:xfrm>
              <a:prstGeom prst="rect">
                <a:avLst/>
              </a:prstGeom>
              <a:noFill/>
              <a:ln w="25400" cap="flat" cmpd="sng">
                <a:solidFill>
                  <a:schemeClr val="accent5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sv-SE" sz="140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Hydro run-of-river</a:t>
                </a:r>
                <a:endParaRPr/>
              </a:p>
            </p:txBody>
          </p:sp>
          <p:sp>
            <p:nvSpPr>
              <p:cNvPr id="471" name="Google Shape;471;p24"/>
              <p:cNvSpPr/>
              <p:nvPr/>
            </p:nvSpPr>
            <p:spPr>
              <a:xfrm>
                <a:off x="4352795" y="2125459"/>
                <a:ext cx="1265143" cy="598021"/>
              </a:xfrm>
              <a:prstGeom prst="rect">
                <a:avLst/>
              </a:prstGeom>
              <a:noFill/>
              <a:ln w="25400" cap="flat" cmpd="sng">
                <a:solidFill>
                  <a:schemeClr val="accent5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sv-SE" sz="140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Hydro Dam</a:t>
                </a:r>
                <a:endParaRPr/>
              </a:p>
            </p:txBody>
          </p:sp>
          <p:cxnSp>
            <p:nvCxnSpPr>
              <p:cNvPr id="472" name="Google Shape;472;p24"/>
              <p:cNvCxnSpPr/>
              <p:nvPr/>
            </p:nvCxnSpPr>
            <p:spPr>
              <a:xfrm rot="10800000" flipH="1">
                <a:off x="5623945" y="1388000"/>
                <a:ext cx="326603" cy="4918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cxnSp>
            <p:nvCxnSpPr>
              <p:cNvPr id="473" name="Google Shape;473;p24"/>
              <p:cNvCxnSpPr/>
              <p:nvPr/>
            </p:nvCxnSpPr>
            <p:spPr>
              <a:xfrm rot="10800000" flipH="1">
                <a:off x="5634990" y="3404568"/>
                <a:ext cx="326603" cy="4918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cxnSp>
            <p:nvCxnSpPr>
              <p:cNvPr id="474" name="Google Shape;474;p24"/>
              <p:cNvCxnSpPr/>
              <p:nvPr/>
            </p:nvCxnSpPr>
            <p:spPr>
              <a:xfrm>
                <a:off x="8367979" y="1093908"/>
                <a:ext cx="0" cy="5323638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475" name="Google Shape;475;p24"/>
              <p:cNvSpPr txBox="1"/>
              <p:nvPr/>
            </p:nvSpPr>
            <p:spPr>
              <a:xfrm rot="2514107">
                <a:off x="7246820" y="579304"/>
                <a:ext cx="1786613" cy="4308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sv-SE" sz="110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Demand for electrified population</a:t>
                </a:r>
                <a:endParaRPr/>
              </a:p>
            </p:txBody>
          </p:sp>
          <p:sp>
            <p:nvSpPr>
              <p:cNvPr id="476" name="Google Shape;476;p24"/>
              <p:cNvSpPr/>
              <p:nvPr/>
            </p:nvSpPr>
            <p:spPr>
              <a:xfrm>
                <a:off x="6605350" y="1093908"/>
                <a:ext cx="1265143" cy="904341"/>
              </a:xfrm>
              <a:prstGeom prst="roundRect">
                <a:avLst>
                  <a:gd name="adj" fmla="val 16667"/>
                </a:avLst>
              </a:prstGeom>
              <a:noFill/>
              <a:ln w="254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sv-SE" sz="140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Transmission &amp; Distribution</a:t>
                </a:r>
                <a:endParaRPr/>
              </a:p>
            </p:txBody>
          </p:sp>
          <p:cxnSp>
            <p:nvCxnSpPr>
              <p:cNvPr id="477" name="Google Shape;477;p24"/>
              <p:cNvCxnSpPr/>
              <p:nvPr/>
            </p:nvCxnSpPr>
            <p:spPr>
              <a:xfrm rot="10800000" flipH="1">
                <a:off x="5614087" y="2398743"/>
                <a:ext cx="326603" cy="4918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cxnSp>
            <p:nvCxnSpPr>
              <p:cNvPr id="478" name="Google Shape;478;p24"/>
              <p:cNvCxnSpPr/>
              <p:nvPr/>
            </p:nvCxnSpPr>
            <p:spPr>
              <a:xfrm>
                <a:off x="7870493" y="1546078"/>
                <a:ext cx="497486" cy="0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cxnSp>
            <p:nvCxnSpPr>
              <p:cNvPr id="479" name="Google Shape;479;p24"/>
              <p:cNvCxnSpPr/>
              <p:nvPr/>
            </p:nvCxnSpPr>
            <p:spPr>
              <a:xfrm>
                <a:off x="7896074" y="4574376"/>
                <a:ext cx="966113" cy="0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sp>
            <p:nvSpPr>
              <p:cNvPr id="480" name="Google Shape;480;p24"/>
              <p:cNvSpPr/>
              <p:nvPr/>
            </p:nvSpPr>
            <p:spPr>
              <a:xfrm>
                <a:off x="6605350" y="3180724"/>
                <a:ext cx="1265143" cy="797461"/>
              </a:xfrm>
              <a:prstGeom prst="rect">
                <a:avLst/>
              </a:prstGeom>
              <a:noFill/>
              <a:ln w="25400" cap="flat" cmpd="sng">
                <a:solidFill>
                  <a:srgbClr val="F5EA1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sv-SE" sz="140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Dist. Solar PV</a:t>
                </a:r>
                <a:endParaRPr/>
              </a:p>
            </p:txBody>
          </p:sp>
          <p:cxnSp>
            <p:nvCxnSpPr>
              <p:cNvPr id="481" name="Google Shape;481;p24"/>
              <p:cNvCxnSpPr/>
              <p:nvPr/>
            </p:nvCxnSpPr>
            <p:spPr>
              <a:xfrm>
                <a:off x="7885973" y="3579454"/>
                <a:ext cx="976214" cy="0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sp>
            <p:nvSpPr>
              <p:cNvPr id="482" name="Google Shape;482;p24"/>
              <p:cNvSpPr/>
              <p:nvPr/>
            </p:nvSpPr>
            <p:spPr>
              <a:xfrm>
                <a:off x="6605350" y="4175646"/>
                <a:ext cx="1265143" cy="797461"/>
              </a:xfrm>
              <a:prstGeom prst="rect">
                <a:avLst/>
              </a:prstGeom>
              <a:noFill/>
              <a:ln w="25400" cap="flat" cmpd="sng">
                <a:solidFill>
                  <a:srgbClr val="F5EA1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sv-SE" sz="140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Dist. Solar PV with battery</a:t>
                </a:r>
                <a:endParaRPr/>
              </a:p>
            </p:txBody>
          </p:sp>
          <p:cxnSp>
            <p:nvCxnSpPr>
              <p:cNvPr id="483" name="Google Shape;483;p24"/>
              <p:cNvCxnSpPr/>
              <p:nvPr/>
            </p:nvCxnSpPr>
            <p:spPr>
              <a:xfrm>
                <a:off x="8863279" y="1093908"/>
                <a:ext cx="0" cy="5334101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484" name="Google Shape;484;p24"/>
              <p:cNvSpPr/>
              <p:nvPr/>
            </p:nvSpPr>
            <p:spPr>
              <a:xfrm>
                <a:off x="6605350" y="2114299"/>
                <a:ext cx="1265143" cy="904341"/>
              </a:xfrm>
              <a:prstGeom prst="roundRect">
                <a:avLst>
                  <a:gd name="adj" fmla="val 16667"/>
                </a:avLst>
              </a:prstGeom>
              <a:noFill/>
              <a:ln w="254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sv-SE" sz="140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Grid Expansion</a:t>
                </a:r>
                <a:endParaRPr/>
              </a:p>
            </p:txBody>
          </p:sp>
          <p:cxnSp>
            <p:nvCxnSpPr>
              <p:cNvPr id="485" name="Google Shape;485;p24"/>
              <p:cNvCxnSpPr/>
              <p:nvPr/>
            </p:nvCxnSpPr>
            <p:spPr>
              <a:xfrm rot="10800000" flipH="1">
                <a:off x="5961593" y="1388000"/>
                <a:ext cx="640286" cy="4216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cxnSp>
            <p:nvCxnSpPr>
              <p:cNvPr id="486" name="Google Shape;486;p24"/>
              <p:cNvCxnSpPr/>
              <p:nvPr/>
            </p:nvCxnSpPr>
            <p:spPr>
              <a:xfrm>
                <a:off x="7871586" y="2566469"/>
                <a:ext cx="992786" cy="0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sp>
            <p:nvSpPr>
              <p:cNvPr id="487" name="Google Shape;487;p24"/>
              <p:cNvSpPr txBox="1"/>
              <p:nvPr/>
            </p:nvSpPr>
            <p:spPr>
              <a:xfrm rot="2514107">
                <a:off x="8200163" y="400958"/>
                <a:ext cx="1229879" cy="601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sv-SE" sz="110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Demand for future connections</a:t>
                </a:r>
                <a:endParaRPr/>
              </a:p>
            </p:txBody>
          </p:sp>
          <p:sp>
            <p:nvSpPr>
              <p:cNvPr id="488" name="Google Shape;488;p24"/>
              <p:cNvSpPr/>
              <p:nvPr/>
            </p:nvSpPr>
            <p:spPr>
              <a:xfrm>
                <a:off x="6605350" y="5129934"/>
                <a:ext cx="1265143" cy="598021"/>
              </a:xfrm>
              <a:prstGeom prst="rect">
                <a:avLst/>
              </a:prstGeom>
              <a:noFill/>
              <a:ln w="25400" cap="flat" cmpd="sng">
                <a:solidFill>
                  <a:schemeClr val="dk1"/>
                </a:solidFill>
                <a:prstDash val="dot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sv-SE" sz="140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Backstop 1</a:t>
                </a:r>
                <a:endParaRPr/>
              </a:p>
            </p:txBody>
          </p:sp>
          <p:sp>
            <p:nvSpPr>
              <p:cNvPr id="489" name="Google Shape;489;p24"/>
              <p:cNvSpPr/>
              <p:nvPr/>
            </p:nvSpPr>
            <p:spPr>
              <a:xfrm>
                <a:off x="6605349" y="5845868"/>
                <a:ext cx="1265143" cy="598021"/>
              </a:xfrm>
              <a:prstGeom prst="rect">
                <a:avLst/>
              </a:prstGeom>
              <a:noFill/>
              <a:ln w="25400" cap="flat" cmpd="sng">
                <a:solidFill>
                  <a:schemeClr val="dk1"/>
                </a:solidFill>
                <a:prstDash val="dot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sv-SE" sz="1400" b="1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Backstop 2</a:t>
                </a:r>
                <a:endParaRPr/>
              </a:p>
            </p:txBody>
          </p:sp>
          <p:cxnSp>
            <p:nvCxnSpPr>
              <p:cNvPr id="490" name="Google Shape;490;p24"/>
              <p:cNvCxnSpPr/>
              <p:nvPr/>
            </p:nvCxnSpPr>
            <p:spPr>
              <a:xfrm>
                <a:off x="7917551" y="5415103"/>
                <a:ext cx="448241" cy="0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dot"/>
                <a:miter lim="800000"/>
                <a:headEnd type="none" w="sm" len="sm"/>
                <a:tailEnd type="triangle" w="med" len="med"/>
              </a:ln>
            </p:spPr>
          </p:cxnSp>
          <p:cxnSp>
            <p:nvCxnSpPr>
              <p:cNvPr id="491" name="Google Shape;491;p24"/>
              <p:cNvCxnSpPr/>
              <p:nvPr/>
            </p:nvCxnSpPr>
            <p:spPr>
              <a:xfrm rot="10800000" flipH="1">
                <a:off x="7917551" y="6137055"/>
                <a:ext cx="944636" cy="1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dot"/>
                <a:miter lim="800000"/>
                <a:headEnd type="none" w="sm" len="sm"/>
                <a:tailEnd type="triangle" w="med" len="med"/>
              </a:ln>
            </p:spPr>
          </p:cxnSp>
          <p:cxnSp>
            <p:nvCxnSpPr>
              <p:cNvPr id="492" name="Google Shape;492;p24"/>
              <p:cNvCxnSpPr/>
              <p:nvPr/>
            </p:nvCxnSpPr>
            <p:spPr>
              <a:xfrm>
                <a:off x="3131371" y="3105626"/>
                <a:ext cx="344917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7F7F7F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cxnSp>
            <p:nvCxnSpPr>
              <p:cNvPr id="493" name="Google Shape;493;p24"/>
              <p:cNvCxnSpPr/>
              <p:nvPr/>
            </p:nvCxnSpPr>
            <p:spPr>
              <a:xfrm>
                <a:off x="3124198" y="1673288"/>
                <a:ext cx="344917" cy="0"/>
              </a:xfrm>
              <a:prstGeom prst="straightConnector1">
                <a:avLst/>
              </a:prstGeom>
              <a:noFill/>
              <a:ln w="25400" cap="flat" cmpd="sng">
                <a:solidFill>
                  <a:srgbClr val="7F7F7F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</p:grpSp>
        <p:sp>
          <p:nvSpPr>
            <p:cNvPr id="494" name="Google Shape;494;p24"/>
            <p:cNvSpPr txBox="1"/>
            <p:nvPr/>
          </p:nvSpPr>
          <p:spPr>
            <a:xfrm rot="2514107">
              <a:off x="5676663" y="598095"/>
              <a:ext cx="1261365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sv-SE" sz="14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Electricity</a:t>
              </a:r>
              <a:endParaRPr/>
            </a:p>
          </p:txBody>
        </p:sp>
      </p:grpSp>
      <p:sp>
        <p:nvSpPr>
          <p:cNvPr id="495" name="Google Shape;49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>
                <a:solidFill>
                  <a:srgbClr val="888888"/>
                </a:solidFill>
              </a:rPr>
              <a:t>03/2019</a:t>
            </a:r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5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3</a:t>
            </a:fld>
            <a:endParaRPr/>
          </a:p>
        </p:txBody>
      </p:sp>
      <p:sp>
        <p:nvSpPr>
          <p:cNvPr id="501" name="Google Shape;501;p25"/>
          <p:cNvSpPr/>
          <p:nvPr/>
        </p:nvSpPr>
        <p:spPr>
          <a:xfrm>
            <a:off x="2310507" y="2565856"/>
            <a:ext cx="1265143" cy="904341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rgbClr val="42719B">
                <a:alpha val="24705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 b="1">
                <a:solidFill>
                  <a:srgbClr val="AEABAB"/>
                </a:solidFill>
                <a:latin typeface="Calibri"/>
                <a:ea typeface="Calibri"/>
                <a:cs typeface="Calibri"/>
                <a:sym typeface="Calibri"/>
              </a:rPr>
              <a:t>Natural Gas Imports</a:t>
            </a:r>
            <a:endParaRPr/>
          </a:p>
        </p:txBody>
      </p:sp>
      <p:sp>
        <p:nvSpPr>
          <p:cNvPr id="502" name="Google Shape;502;p25"/>
          <p:cNvSpPr/>
          <p:nvPr/>
        </p:nvSpPr>
        <p:spPr>
          <a:xfrm>
            <a:off x="2310507" y="1133579"/>
            <a:ext cx="1265143" cy="904341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rgbClr val="42719B">
                <a:alpha val="24705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 b="1">
                <a:solidFill>
                  <a:srgbClr val="AEABAB"/>
                </a:solidFill>
                <a:latin typeface="Calibri"/>
                <a:ea typeface="Calibri"/>
                <a:cs typeface="Calibri"/>
                <a:sym typeface="Calibri"/>
              </a:rPr>
              <a:t>Natural Gas Production</a:t>
            </a:r>
            <a:endParaRPr/>
          </a:p>
        </p:txBody>
      </p:sp>
      <p:sp>
        <p:nvSpPr>
          <p:cNvPr id="503" name="Google Shape;503;p25"/>
          <p:cNvSpPr txBox="1"/>
          <p:nvPr/>
        </p:nvSpPr>
        <p:spPr>
          <a:xfrm rot="2514107">
            <a:off x="3162634" y="608562"/>
            <a:ext cx="126136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 b="1">
                <a:solidFill>
                  <a:srgbClr val="AEABAB"/>
                </a:solidFill>
                <a:latin typeface="Calibri"/>
                <a:ea typeface="Calibri"/>
                <a:cs typeface="Calibri"/>
                <a:sym typeface="Calibri"/>
              </a:rPr>
              <a:t>Natural Gas</a:t>
            </a:r>
            <a:endParaRPr/>
          </a:p>
        </p:txBody>
      </p:sp>
      <p:cxnSp>
        <p:nvCxnSpPr>
          <p:cNvPr id="504" name="Google Shape;504;p25"/>
          <p:cNvCxnSpPr/>
          <p:nvPr/>
        </p:nvCxnSpPr>
        <p:spPr>
          <a:xfrm>
            <a:off x="3927740" y="1006369"/>
            <a:ext cx="0" cy="5334101"/>
          </a:xfrm>
          <a:prstGeom prst="straightConnector1">
            <a:avLst/>
          </a:prstGeom>
          <a:noFill/>
          <a:ln w="25400" cap="flat" cmpd="sng">
            <a:solidFill>
              <a:srgbClr val="42719B">
                <a:alpha val="24705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05" name="Google Shape;505;p25"/>
          <p:cNvCxnSpPr/>
          <p:nvPr/>
        </p:nvCxnSpPr>
        <p:spPr>
          <a:xfrm>
            <a:off x="6398528" y="1006369"/>
            <a:ext cx="0" cy="5348271"/>
          </a:xfrm>
          <a:prstGeom prst="straightConnector1">
            <a:avLst/>
          </a:prstGeom>
          <a:noFill/>
          <a:ln w="25400" cap="flat" cmpd="sng">
            <a:solidFill>
              <a:srgbClr val="42719B">
                <a:alpha val="24705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06" name="Google Shape;506;p25"/>
          <p:cNvSpPr/>
          <p:nvPr/>
        </p:nvSpPr>
        <p:spPr>
          <a:xfrm>
            <a:off x="4804246" y="3036061"/>
            <a:ext cx="1265143" cy="598021"/>
          </a:xfrm>
          <a:prstGeom prst="rect">
            <a:avLst/>
          </a:prstGeom>
          <a:noFill/>
          <a:ln w="25400" cap="flat" cmpd="sng">
            <a:solidFill>
              <a:srgbClr val="7030A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Wind</a:t>
            </a:r>
            <a:endParaRPr/>
          </a:p>
        </p:txBody>
      </p:sp>
      <p:cxnSp>
        <p:nvCxnSpPr>
          <p:cNvPr id="507" name="Google Shape;507;p25"/>
          <p:cNvCxnSpPr/>
          <p:nvPr/>
        </p:nvCxnSpPr>
        <p:spPr>
          <a:xfrm>
            <a:off x="6413045" y="2305584"/>
            <a:ext cx="637370" cy="0"/>
          </a:xfrm>
          <a:prstGeom prst="straightConnector1">
            <a:avLst/>
          </a:prstGeom>
          <a:noFill/>
          <a:ln w="25400" cap="flat" cmpd="sng">
            <a:solidFill>
              <a:srgbClr val="42719B">
                <a:alpha val="24705"/>
              </a:srgbClr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08" name="Google Shape;508;p25"/>
          <p:cNvSpPr/>
          <p:nvPr/>
        </p:nvSpPr>
        <p:spPr>
          <a:xfrm>
            <a:off x="4804246" y="4112625"/>
            <a:ext cx="1265143" cy="598021"/>
          </a:xfrm>
          <a:prstGeom prst="rect">
            <a:avLst/>
          </a:prstGeom>
          <a:noFill/>
          <a:ln w="25400" cap="flat" cmpd="sng">
            <a:solidFill>
              <a:srgbClr val="42719B">
                <a:alpha val="24705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 b="1">
                <a:solidFill>
                  <a:srgbClr val="AEABAB"/>
                </a:solidFill>
                <a:latin typeface="Calibri"/>
                <a:ea typeface="Calibri"/>
                <a:cs typeface="Calibri"/>
                <a:sym typeface="Calibri"/>
              </a:rPr>
              <a:t>New CCGT/GT</a:t>
            </a:r>
            <a:endParaRPr/>
          </a:p>
        </p:txBody>
      </p:sp>
      <p:cxnSp>
        <p:nvCxnSpPr>
          <p:cNvPr id="509" name="Google Shape;509;p25"/>
          <p:cNvCxnSpPr/>
          <p:nvPr/>
        </p:nvCxnSpPr>
        <p:spPr>
          <a:xfrm>
            <a:off x="6086441" y="4416553"/>
            <a:ext cx="326604" cy="0"/>
          </a:xfrm>
          <a:prstGeom prst="straightConnector1">
            <a:avLst/>
          </a:prstGeom>
          <a:noFill/>
          <a:ln w="25400" cap="flat" cmpd="sng">
            <a:solidFill>
              <a:srgbClr val="42719B">
                <a:alpha val="24705"/>
              </a:srgbClr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10" name="Google Shape;510;p25"/>
          <p:cNvCxnSpPr>
            <a:endCxn id="508" idx="1"/>
          </p:cNvCxnSpPr>
          <p:nvPr/>
        </p:nvCxnSpPr>
        <p:spPr>
          <a:xfrm>
            <a:off x="3927646" y="4411635"/>
            <a:ext cx="876600" cy="0"/>
          </a:xfrm>
          <a:prstGeom prst="straightConnector1">
            <a:avLst/>
          </a:prstGeom>
          <a:noFill/>
          <a:ln w="25400" cap="flat" cmpd="sng">
            <a:solidFill>
              <a:srgbClr val="42719B">
                <a:alpha val="24705"/>
              </a:srgbClr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11" name="Google Shape;511;p25"/>
          <p:cNvSpPr/>
          <p:nvPr/>
        </p:nvSpPr>
        <p:spPr>
          <a:xfrm>
            <a:off x="4804248" y="1006369"/>
            <a:ext cx="1265143" cy="598021"/>
          </a:xfrm>
          <a:prstGeom prst="rect">
            <a:avLst/>
          </a:prstGeom>
          <a:noFill/>
          <a:ln w="25400" cap="flat" cmpd="sng">
            <a:solidFill>
              <a:srgbClr val="42719B">
                <a:alpha val="24705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 b="1">
                <a:solidFill>
                  <a:srgbClr val="AEABAB"/>
                </a:solidFill>
                <a:latin typeface="Calibri"/>
                <a:ea typeface="Calibri"/>
                <a:cs typeface="Calibri"/>
                <a:sym typeface="Calibri"/>
              </a:rPr>
              <a:t>Hydro run-of-river</a:t>
            </a:r>
            <a:endParaRPr/>
          </a:p>
        </p:txBody>
      </p:sp>
      <p:sp>
        <p:nvSpPr>
          <p:cNvPr id="512" name="Google Shape;512;p25"/>
          <p:cNvSpPr/>
          <p:nvPr/>
        </p:nvSpPr>
        <p:spPr>
          <a:xfrm>
            <a:off x="4804247" y="2037920"/>
            <a:ext cx="1265143" cy="598021"/>
          </a:xfrm>
          <a:prstGeom prst="rect">
            <a:avLst/>
          </a:prstGeom>
          <a:noFill/>
          <a:ln w="25400" cap="flat" cmpd="sng">
            <a:solidFill>
              <a:srgbClr val="42719B">
                <a:alpha val="24705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 b="1">
                <a:solidFill>
                  <a:srgbClr val="AEABAB"/>
                </a:solidFill>
                <a:latin typeface="Calibri"/>
                <a:ea typeface="Calibri"/>
                <a:cs typeface="Calibri"/>
                <a:sym typeface="Calibri"/>
              </a:rPr>
              <a:t>Hydro Dam</a:t>
            </a:r>
            <a:endParaRPr/>
          </a:p>
        </p:txBody>
      </p:sp>
      <p:cxnSp>
        <p:nvCxnSpPr>
          <p:cNvPr id="513" name="Google Shape;513;p25"/>
          <p:cNvCxnSpPr/>
          <p:nvPr/>
        </p:nvCxnSpPr>
        <p:spPr>
          <a:xfrm rot="10800000" flipH="1">
            <a:off x="6075397" y="1300461"/>
            <a:ext cx="326603" cy="4918"/>
          </a:xfrm>
          <a:prstGeom prst="straightConnector1">
            <a:avLst/>
          </a:prstGeom>
          <a:noFill/>
          <a:ln w="25400" cap="flat" cmpd="sng">
            <a:solidFill>
              <a:srgbClr val="42719B">
                <a:alpha val="24705"/>
              </a:srgbClr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14" name="Google Shape;514;p25"/>
          <p:cNvCxnSpPr/>
          <p:nvPr/>
        </p:nvCxnSpPr>
        <p:spPr>
          <a:xfrm rot="10800000" flipH="1">
            <a:off x="6086442" y="3317029"/>
            <a:ext cx="326603" cy="4918"/>
          </a:xfrm>
          <a:prstGeom prst="straightConnector1">
            <a:avLst/>
          </a:prstGeom>
          <a:noFill/>
          <a:ln w="25400" cap="flat" cmpd="sng">
            <a:solidFill>
              <a:srgbClr val="42719B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15" name="Google Shape;515;p25"/>
          <p:cNvCxnSpPr/>
          <p:nvPr/>
        </p:nvCxnSpPr>
        <p:spPr>
          <a:xfrm>
            <a:off x="8819431" y="1006369"/>
            <a:ext cx="0" cy="5323638"/>
          </a:xfrm>
          <a:prstGeom prst="straightConnector1">
            <a:avLst/>
          </a:prstGeom>
          <a:noFill/>
          <a:ln w="25400" cap="flat" cmpd="sng">
            <a:solidFill>
              <a:srgbClr val="7F7F7F">
                <a:alpha val="24705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16" name="Google Shape;516;p25"/>
          <p:cNvSpPr txBox="1"/>
          <p:nvPr/>
        </p:nvSpPr>
        <p:spPr>
          <a:xfrm rot="2514107">
            <a:off x="7698272" y="491765"/>
            <a:ext cx="178661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100" b="1">
                <a:solidFill>
                  <a:srgbClr val="AEABAB"/>
                </a:solidFill>
                <a:latin typeface="Calibri"/>
                <a:ea typeface="Calibri"/>
                <a:cs typeface="Calibri"/>
                <a:sym typeface="Calibri"/>
              </a:rPr>
              <a:t>Demand for electrified population</a:t>
            </a:r>
            <a:endParaRPr/>
          </a:p>
        </p:txBody>
      </p:sp>
      <p:sp>
        <p:nvSpPr>
          <p:cNvPr id="517" name="Google Shape;517;p25"/>
          <p:cNvSpPr/>
          <p:nvPr/>
        </p:nvSpPr>
        <p:spPr>
          <a:xfrm>
            <a:off x="7056802" y="1006369"/>
            <a:ext cx="1265143" cy="904341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rgbClr val="42719B">
                <a:alpha val="24705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 b="1">
                <a:solidFill>
                  <a:srgbClr val="AEABAB"/>
                </a:solidFill>
                <a:latin typeface="Calibri"/>
                <a:ea typeface="Calibri"/>
                <a:cs typeface="Calibri"/>
                <a:sym typeface="Calibri"/>
              </a:rPr>
              <a:t>Transmission &amp; Distribution</a:t>
            </a:r>
            <a:endParaRPr/>
          </a:p>
        </p:txBody>
      </p:sp>
      <p:cxnSp>
        <p:nvCxnSpPr>
          <p:cNvPr id="518" name="Google Shape;518;p25"/>
          <p:cNvCxnSpPr/>
          <p:nvPr/>
        </p:nvCxnSpPr>
        <p:spPr>
          <a:xfrm rot="10800000" flipH="1">
            <a:off x="6065539" y="2311204"/>
            <a:ext cx="326603" cy="4918"/>
          </a:xfrm>
          <a:prstGeom prst="straightConnector1">
            <a:avLst/>
          </a:prstGeom>
          <a:noFill/>
          <a:ln w="25400" cap="flat" cmpd="sng">
            <a:solidFill>
              <a:srgbClr val="42719B">
                <a:alpha val="24705"/>
              </a:srgbClr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19" name="Google Shape;519;p25"/>
          <p:cNvCxnSpPr/>
          <p:nvPr/>
        </p:nvCxnSpPr>
        <p:spPr>
          <a:xfrm>
            <a:off x="8321945" y="1458539"/>
            <a:ext cx="497486" cy="0"/>
          </a:xfrm>
          <a:prstGeom prst="straightConnector1">
            <a:avLst/>
          </a:prstGeom>
          <a:noFill/>
          <a:ln w="25400" cap="flat" cmpd="sng">
            <a:solidFill>
              <a:srgbClr val="42719B">
                <a:alpha val="24705"/>
              </a:srgbClr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20" name="Google Shape;520;p25"/>
          <p:cNvCxnSpPr/>
          <p:nvPr/>
        </p:nvCxnSpPr>
        <p:spPr>
          <a:xfrm>
            <a:off x="8347526" y="4486837"/>
            <a:ext cx="966113" cy="0"/>
          </a:xfrm>
          <a:prstGeom prst="straightConnector1">
            <a:avLst/>
          </a:prstGeom>
          <a:noFill/>
          <a:ln w="25400" cap="flat" cmpd="sng">
            <a:solidFill>
              <a:srgbClr val="42719B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21" name="Google Shape;521;p25"/>
          <p:cNvSpPr/>
          <p:nvPr/>
        </p:nvSpPr>
        <p:spPr>
          <a:xfrm>
            <a:off x="7056802" y="3093185"/>
            <a:ext cx="1265143" cy="797461"/>
          </a:xfrm>
          <a:prstGeom prst="rect">
            <a:avLst/>
          </a:prstGeom>
          <a:noFill/>
          <a:ln w="25400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Dist. Solar PV</a:t>
            </a:r>
            <a:endParaRPr/>
          </a:p>
        </p:txBody>
      </p:sp>
      <p:cxnSp>
        <p:nvCxnSpPr>
          <p:cNvPr id="522" name="Google Shape;522;p25"/>
          <p:cNvCxnSpPr/>
          <p:nvPr/>
        </p:nvCxnSpPr>
        <p:spPr>
          <a:xfrm>
            <a:off x="8337425" y="3491915"/>
            <a:ext cx="976214" cy="0"/>
          </a:xfrm>
          <a:prstGeom prst="straightConnector1">
            <a:avLst/>
          </a:prstGeom>
          <a:noFill/>
          <a:ln w="25400" cap="flat" cmpd="sng">
            <a:solidFill>
              <a:srgbClr val="42719B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23" name="Google Shape;523;p25"/>
          <p:cNvSpPr/>
          <p:nvPr/>
        </p:nvSpPr>
        <p:spPr>
          <a:xfrm>
            <a:off x="7056802" y="4088107"/>
            <a:ext cx="1265143" cy="797461"/>
          </a:xfrm>
          <a:prstGeom prst="rect">
            <a:avLst/>
          </a:prstGeom>
          <a:noFill/>
          <a:ln w="25400" cap="flat" cmpd="sng">
            <a:solidFill>
              <a:srgbClr val="FFFF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Dist. Solar PV with battery</a:t>
            </a:r>
            <a:endParaRPr/>
          </a:p>
        </p:txBody>
      </p:sp>
      <p:cxnSp>
        <p:nvCxnSpPr>
          <p:cNvPr id="524" name="Google Shape;524;p25"/>
          <p:cNvCxnSpPr/>
          <p:nvPr/>
        </p:nvCxnSpPr>
        <p:spPr>
          <a:xfrm>
            <a:off x="9314731" y="1006369"/>
            <a:ext cx="0" cy="5334101"/>
          </a:xfrm>
          <a:prstGeom prst="straightConnector1">
            <a:avLst/>
          </a:prstGeom>
          <a:noFill/>
          <a:ln w="25400" cap="flat" cmpd="sng">
            <a:solidFill>
              <a:srgbClr val="7F7F7F">
                <a:alpha val="24705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25" name="Google Shape;525;p25"/>
          <p:cNvSpPr/>
          <p:nvPr/>
        </p:nvSpPr>
        <p:spPr>
          <a:xfrm>
            <a:off x="7056802" y="2026760"/>
            <a:ext cx="1265143" cy="904341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rgbClr val="42719B">
                <a:alpha val="24705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 b="1">
                <a:solidFill>
                  <a:srgbClr val="AEABAB"/>
                </a:solidFill>
                <a:latin typeface="Calibri"/>
                <a:ea typeface="Calibri"/>
                <a:cs typeface="Calibri"/>
                <a:sym typeface="Calibri"/>
              </a:rPr>
              <a:t>Grid Expansion</a:t>
            </a:r>
            <a:endParaRPr/>
          </a:p>
        </p:txBody>
      </p:sp>
      <p:cxnSp>
        <p:nvCxnSpPr>
          <p:cNvPr id="526" name="Google Shape;526;p25"/>
          <p:cNvCxnSpPr/>
          <p:nvPr/>
        </p:nvCxnSpPr>
        <p:spPr>
          <a:xfrm rot="10800000" flipH="1">
            <a:off x="6413045" y="1300461"/>
            <a:ext cx="640286" cy="4216"/>
          </a:xfrm>
          <a:prstGeom prst="straightConnector1">
            <a:avLst/>
          </a:prstGeom>
          <a:noFill/>
          <a:ln w="25400" cap="flat" cmpd="sng">
            <a:solidFill>
              <a:srgbClr val="42719B">
                <a:alpha val="24705"/>
              </a:srgbClr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27" name="Google Shape;527;p25"/>
          <p:cNvCxnSpPr/>
          <p:nvPr/>
        </p:nvCxnSpPr>
        <p:spPr>
          <a:xfrm>
            <a:off x="8323038" y="2478930"/>
            <a:ext cx="992786" cy="0"/>
          </a:xfrm>
          <a:prstGeom prst="straightConnector1">
            <a:avLst/>
          </a:prstGeom>
          <a:noFill/>
          <a:ln w="25400" cap="flat" cmpd="sng">
            <a:solidFill>
              <a:srgbClr val="42719B">
                <a:alpha val="24705"/>
              </a:srgbClr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28" name="Google Shape;528;p25"/>
          <p:cNvSpPr txBox="1"/>
          <p:nvPr/>
        </p:nvSpPr>
        <p:spPr>
          <a:xfrm rot="2514107">
            <a:off x="8651615" y="313419"/>
            <a:ext cx="1229879" cy="601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100" b="1">
                <a:solidFill>
                  <a:srgbClr val="AEABAB"/>
                </a:solidFill>
                <a:latin typeface="Calibri"/>
                <a:ea typeface="Calibri"/>
                <a:cs typeface="Calibri"/>
                <a:sym typeface="Calibri"/>
              </a:rPr>
              <a:t>Demand for future connections</a:t>
            </a:r>
            <a:endParaRPr/>
          </a:p>
        </p:txBody>
      </p:sp>
      <p:sp>
        <p:nvSpPr>
          <p:cNvPr id="529" name="Google Shape;529;p25"/>
          <p:cNvSpPr/>
          <p:nvPr/>
        </p:nvSpPr>
        <p:spPr>
          <a:xfrm>
            <a:off x="7056802" y="5042395"/>
            <a:ext cx="1265143" cy="598021"/>
          </a:xfrm>
          <a:prstGeom prst="rect">
            <a:avLst/>
          </a:prstGeom>
          <a:noFill/>
          <a:ln w="25400" cap="flat" cmpd="sng">
            <a:solidFill>
              <a:srgbClr val="7F7F7F">
                <a:alpha val="24705"/>
              </a:srgbClr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 b="1">
                <a:solidFill>
                  <a:srgbClr val="AEABAB"/>
                </a:solidFill>
                <a:latin typeface="Calibri"/>
                <a:ea typeface="Calibri"/>
                <a:cs typeface="Calibri"/>
                <a:sym typeface="Calibri"/>
              </a:rPr>
              <a:t>Backstop 1</a:t>
            </a:r>
            <a:endParaRPr/>
          </a:p>
        </p:txBody>
      </p:sp>
      <p:sp>
        <p:nvSpPr>
          <p:cNvPr id="530" name="Google Shape;530;p25"/>
          <p:cNvSpPr/>
          <p:nvPr/>
        </p:nvSpPr>
        <p:spPr>
          <a:xfrm>
            <a:off x="7056801" y="5758329"/>
            <a:ext cx="1265143" cy="598021"/>
          </a:xfrm>
          <a:prstGeom prst="rect">
            <a:avLst/>
          </a:prstGeom>
          <a:noFill/>
          <a:ln w="25400" cap="flat" cmpd="sng">
            <a:solidFill>
              <a:srgbClr val="7F7F7F">
                <a:alpha val="24705"/>
              </a:srgbClr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 b="1">
                <a:solidFill>
                  <a:srgbClr val="AEABAB"/>
                </a:solidFill>
                <a:latin typeface="Calibri"/>
                <a:ea typeface="Calibri"/>
                <a:cs typeface="Calibri"/>
                <a:sym typeface="Calibri"/>
              </a:rPr>
              <a:t>Backstop 2</a:t>
            </a:r>
            <a:endParaRPr/>
          </a:p>
        </p:txBody>
      </p:sp>
      <p:cxnSp>
        <p:nvCxnSpPr>
          <p:cNvPr id="531" name="Google Shape;531;p25"/>
          <p:cNvCxnSpPr/>
          <p:nvPr/>
        </p:nvCxnSpPr>
        <p:spPr>
          <a:xfrm>
            <a:off x="8369003" y="5327564"/>
            <a:ext cx="448241" cy="0"/>
          </a:xfrm>
          <a:prstGeom prst="straightConnector1">
            <a:avLst/>
          </a:prstGeom>
          <a:noFill/>
          <a:ln w="25400" cap="flat" cmpd="sng">
            <a:solidFill>
              <a:srgbClr val="7F7F7F">
                <a:alpha val="24705"/>
              </a:srgbClr>
            </a:solidFill>
            <a:prstDash val="dot"/>
            <a:miter lim="800000"/>
            <a:headEnd type="none" w="sm" len="sm"/>
            <a:tailEnd type="triangle" w="med" len="med"/>
          </a:ln>
        </p:spPr>
      </p:cxnSp>
      <p:cxnSp>
        <p:nvCxnSpPr>
          <p:cNvPr id="532" name="Google Shape;532;p25"/>
          <p:cNvCxnSpPr/>
          <p:nvPr/>
        </p:nvCxnSpPr>
        <p:spPr>
          <a:xfrm rot="10800000" flipH="1">
            <a:off x="8369003" y="6049516"/>
            <a:ext cx="944636" cy="1"/>
          </a:xfrm>
          <a:prstGeom prst="straightConnector1">
            <a:avLst/>
          </a:prstGeom>
          <a:noFill/>
          <a:ln w="25400" cap="flat" cmpd="sng">
            <a:solidFill>
              <a:srgbClr val="7F7F7F">
                <a:alpha val="24705"/>
              </a:srgbClr>
            </a:solidFill>
            <a:prstDash val="dot"/>
            <a:miter lim="800000"/>
            <a:headEnd type="none" w="sm" len="sm"/>
            <a:tailEnd type="triangle" w="med" len="med"/>
          </a:ln>
        </p:spPr>
      </p:cxnSp>
      <p:cxnSp>
        <p:nvCxnSpPr>
          <p:cNvPr id="533" name="Google Shape;533;p25"/>
          <p:cNvCxnSpPr/>
          <p:nvPr/>
        </p:nvCxnSpPr>
        <p:spPr>
          <a:xfrm>
            <a:off x="3582823" y="3018087"/>
            <a:ext cx="344917" cy="0"/>
          </a:xfrm>
          <a:prstGeom prst="straightConnector1">
            <a:avLst/>
          </a:prstGeom>
          <a:noFill/>
          <a:ln w="25400" cap="flat" cmpd="sng">
            <a:solidFill>
              <a:srgbClr val="42719B">
                <a:alpha val="24705"/>
              </a:srgbClr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34" name="Google Shape;534;p25"/>
          <p:cNvCxnSpPr/>
          <p:nvPr/>
        </p:nvCxnSpPr>
        <p:spPr>
          <a:xfrm>
            <a:off x="3575650" y="1585749"/>
            <a:ext cx="344917" cy="0"/>
          </a:xfrm>
          <a:prstGeom prst="straightConnector1">
            <a:avLst/>
          </a:prstGeom>
          <a:noFill/>
          <a:ln w="25400" cap="flat" cmpd="sng">
            <a:solidFill>
              <a:srgbClr val="42719B">
                <a:alpha val="24705"/>
              </a:srgbClr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35" name="Google Shape;535;p25"/>
          <p:cNvSpPr txBox="1"/>
          <p:nvPr/>
        </p:nvSpPr>
        <p:spPr>
          <a:xfrm rot="2514107">
            <a:off x="5676663" y="598095"/>
            <a:ext cx="126136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400" b="1">
                <a:solidFill>
                  <a:srgbClr val="AEABAB"/>
                </a:solidFill>
                <a:latin typeface="Calibri"/>
                <a:ea typeface="Calibri"/>
                <a:cs typeface="Calibri"/>
                <a:sym typeface="Calibri"/>
              </a:rPr>
              <a:t>Electricity</a:t>
            </a:r>
            <a:endParaRPr/>
          </a:p>
        </p:txBody>
      </p:sp>
      <p:sp>
        <p:nvSpPr>
          <p:cNvPr id="536" name="Google Shape;536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>
                <a:solidFill>
                  <a:srgbClr val="888888"/>
                </a:solidFill>
              </a:rPr>
              <a:t>03/2019</a:t>
            </a:r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32"/>
          <p:cNvSpPr txBox="1"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0"/>
              <a:buNone/>
            </a:pPr>
            <a:r>
              <a:rPr lang="sv-SE" sz="2590"/>
              <a:t>We continue to create a TECHNOLOGY called </a:t>
            </a:r>
            <a:r>
              <a:rPr lang="sv-SE" sz="2590" b="1"/>
              <a:t>SOLPV1 </a:t>
            </a:r>
            <a:r>
              <a:rPr lang="sv-SE" sz="2590"/>
              <a:t>(i.e. solar PV rooftop).</a:t>
            </a:r>
            <a:endParaRPr/>
          </a:p>
          <a:p>
            <a:pPr marL="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None/>
            </a:pPr>
            <a:endParaRPr sz="2590"/>
          </a:p>
          <a:p>
            <a:pPr marL="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None/>
            </a:pPr>
            <a:r>
              <a:rPr lang="sv-SE" sz="2590"/>
              <a:t>The following parameters are taken into account</a:t>
            </a:r>
            <a:endParaRPr/>
          </a:p>
          <a:p>
            <a:pPr marL="457200" lvl="0" indent="-4572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Char char="•"/>
            </a:pPr>
            <a:r>
              <a:rPr lang="sv-SE" sz="2590" i="1"/>
              <a:t>OutputActivityRatio: </a:t>
            </a:r>
            <a:r>
              <a:rPr lang="sv-SE" sz="2590"/>
              <a:t>defines the rate of fuel provided (i.e. Electricity)</a:t>
            </a:r>
            <a:endParaRPr/>
          </a:p>
          <a:p>
            <a:pPr marL="457200" lvl="0" indent="-4572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Char char="•"/>
            </a:pPr>
            <a:r>
              <a:rPr lang="sv-SE" sz="2590" i="1"/>
              <a:t>VariableCost</a:t>
            </a:r>
            <a:r>
              <a:rPr lang="sv-SE" sz="2590"/>
              <a:t>: defines the variable Operation &amp; Maintenance cost ($M/PJ or $/GJ)</a:t>
            </a:r>
            <a:endParaRPr/>
          </a:p>
          <a:p>
            <a:pPr marL="457200" lvl="0" indent="-4572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Char char="•"/>
            </a:pPr>
            <a:r>
              <a:rPr lang="sv-SE" sz="2590" i="1"/>
              <a:t>CapitalCost: </a:t>
            </a:r>
            <a:r>
              <a:rPr lang="sv-SE" sz="2590"/>
              <a:t>defines the overnight investment cost of the plant ($M/GW or $/kW)</a:t>
            </a:r>
            <a:endParaRPr/>
          </a:p>
          <a:p>
            <a:pPr marL="457200" lvl="0" indent="-4572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Char char="•"/>
            </a:pPr>
            <a:r>
              <a:rPr lang="sv-SE" sz="2590" i="1"/>
              <a:t>CapacityFactor</a:t>
            </a:r>
            <a:r>
              <a:rPr lang="sv-SE" sz="2590"/>
              <a:t>: represents the variability in generation at each point in time. </a:t>
            </a:r>
            <a:endParaRPr/>
          </a:p>
          <a:p>
            <a:pPr marL="457200" lvl="0" indent="-4572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Char char="•"/>
            </a:pPr>
            <a:r>
              <a:rPr lang="sv-SE" sz="2590" i="1"/>
              <a:t>OperationalLife</a:t>
            </a:r>
            <a:r>
              <a:rPr lang="sv-SE" sz="2590"/>
              <a:t>: defines the lifetime of the technology (in years)</a:t>
            </a:r>
            <a:endParaRPr/>
          </a:p>
          <a:p>
            <a:pPr marL="457200" lvl="0" indent="-4572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Char char="•"/>
            </a:pPr>
            <a:r>
              <a:rPr lang="sv-SE" sz="2590"/>
              <a:t>CapacitytoActivityUnit: defines how much activity can occur by one unit of capacity in one year (in this case we are using GW for capacity and PJ for energy, thus 1 GW can provide 31.536 PJ annually)</a:t>
            </a:r>
            <a:endParaRPr/>
          </a:p>
        </p:txBody>
      </p:sp>
      <p:sp>
        <p:nvSpPr>
          <p:cNvPr id="595" name="Google Shape;595;p32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4</a:t>
            </a:fld>
            <a:endParaRPr/>
          </a:p>
        </p:txBody>
      </p:sp>
      <p:sp>
        <p:nvSpPr>
          <p:cNvPr id="596" name="Google Shape;596;p32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sv-SE"/>
              <a:t>Defining a solar technology</a:t>
            </a:r>
            <a:endParaRPr/>
          </a:p>
        </p:txBody>
      </p:sp>
      <p:sp>
        <p:nvSpPr>
          <p:cNvPr id="597" name="Google Shape;59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>
                <a:solidFill>
                  <a:srgbClr val="888888"/>
                </a:solidFill>
              </a:rPr>
              <a:t>03/2019</a:t>
            </a:r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33"/>
          <p:cNvSpPr txBox="1">
            <a:spLocks noGrp="1"/>
          </p:cNvSpPr>
          <p:nvPr>
            <p:ph type="body" idx="1"/>
          </p:nvPr>
        </p:nvSpPr>
        <p:spPr>
          <a:xfrm>
            <a:off x="838200" y="1825624"/>
            <a:ext cx="10500360" cy="4738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sv-SE"/>
              <a:t>For the </a:t>
            </a:r>
            <a:r>
              <a:rPr lang="sv-SE" b="1"/>
              <a:t>SOLPV1 </a:t>
            </a:r>
            <a:r>
              <a:rPr lang="sv-SE"/>
              <a:t>technology, let’s define the following.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sv-SE" i="1"/>
              <a:t>OutputActivityRatio: </a:t>
            </a:r>
            <a:r>
              <a:rPr lang="sv-SE"/>
              <a:t>Choose the </a:t>
            </a:r>
            <a:r>
              <a:rPr lang="sv-SE" b="1"/>
              <a:t>FEL2</a:t>
            </a:r>
            <a:r>
              <a:rPr lang="sv-SE"/>
              <a:t> fuel and insert the following for mode of operation 1.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sv-SE"/>
              <a:t>Note that for RET, we don’t need to define an input fuel</a:t>
            </a:r>
            <a:endParaRPr i="1"/>
          </a:p>
        </p:txBody>
      </p:sp>
      <p:sp>
        <p:nvSpPr>
          <p:cNvPr id="603" name="Google Shape;603;p33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5</a:t>
            </a:fld>
            <a:endParaRPr/>
          </a:p>
        </p:txBody>
      </p:sp>
      <p:graphicFrame>
        <p:nvGraphicFramePr>
          <p:cNvPr id="604" name="Google Shape;604;p33"/>
          <p:cNvGraphicFramePr/>
          <p:nvPr/>
        </p:nvGraphicFramePr>
        <p:xfrm>
          <a:off x="2643050" y="3284581"/>
          <a:ext cx="6890750" cy="1975800"/>
        </p:xfrm>
        <a:graphic>
          <a:graphicData uri="http://schemas.openxmlformats.org/drawingml/2006/table">
            <a:tbl>
              <a:tblPr>
                <a:noFill/>
                <a:tableStyleId>{F8D9BFFD-CBA3-412F-AA53-2597C49C5950}</a:tableStyleId>
              </a:tblPr>
              <a:tblGrid>
                <a:gridCol w="689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2014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2015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2016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2017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2018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2019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2020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2021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2022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1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2023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2024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2025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2026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2027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2028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2029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2030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2031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1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2032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2033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2034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2035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2036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2037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2038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2039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2040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1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05" name="Google Shape;605;p33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sv-SE"/>
              <a:t>Defining a solar technology</a:t>
            </a:r>
            <a:endParaRPr/>
          </a:p>
        </p:txBody>
      </p:sp>
      <p:sp>
        <p:nvSpPr>
          <p:cNvPr id="606" name="Google Shape;606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>
                <a:solidFill>
                  <a:srgbClr val="888888"/>
                </a:solidFill>
              </a:rPr>
              <a:t>03/2019</a:t>
            </a:r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4"/>
          <p:cNvSpPr txBox="1"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sv-SE"/>
              <a:t>For the </a:t>
            </a:r>
            <a:r>
              <a:rPr lang="sv-SE" b="1"/>
              <a:t>SOLPV1 </a:t>
            </a:r>
            <a:r>
              <a:rPr lang="sv-SE"/>
              <a:t>technology, let’s define the following.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sv-SE" i="1"/>
              <a:t>VariableCost: </a:t>
            </a:r>
            <a:r>
              <a:rPr lang="sv-SE"/>
              <a:t>Insert the following for mode of operation 1.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612" name="Google Shape;612;p34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6</a:t>
            </a:fld>
            <a:endParaRPr/>
          </a:p>
        </p:txBody>
      </p:sp>
      <p:graphicFrame>
        <p:nvGraphicFramePr>
          <p:cNvPr id="613" name="Google Shape;613;p34"/>
          <p:cNvGraphicFramePr/>
          <p:nvPr/>
        </p:nvGraphicFramePr>
        <p:xfrm>
          <a:off x="2650670" y="2786741"/>
          <a:ext cx="6890750" cy="1975800"/>
        </p:xfrm>
        <a:graphic>
          <a:graphicData uri="http://schemas.openxmlformats.org/drawingml/2006/table">
            <a:tbl>
              <a:tblPr>
                <a:noFill/>
                <a:tableStyleId>{F8D9BFFD-CBA3-412F-AA53-2597C49C5950}</a:tableStyleId>
              </a:tblPr>
              <a:tblGrid>
                <a:gridCol w="689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2014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2015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2016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2017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2018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2019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2020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2021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2022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1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2.5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2.5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2.5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2.5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2.5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2.5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2.5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2.5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2.5</a:t>
                      </a:r>
                      <a:endParaRPr/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2023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2024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2025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2026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2027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2028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2029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2030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2031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1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2.5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2.5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2.5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2.5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2.5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2.5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2.5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2.5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2.5</a:t>
                      </a:r>
                      <a:endParaRPr/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2032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2033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2034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2035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2036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2037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2038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2039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2040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1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2.5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2.5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2.5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2.5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2.5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2.5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2.5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2.5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2.5</a:t>
                      </a:r>
                      <a:endParaRPr/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14" name="Google Shape;614;p34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sv-SE"/>
              <a:t>Defining a solar technology</a:t>
            </a:r>
            <a:endParaRPr/>
          </a:p>
        </p:txBody>
      </p:sp>
      <p:sp>
        <p:nvSpPr>
          <p:cNvPr id="615" name="Google Shape;615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>
                <a:solidFill>
                  <a:srgbClr val="888888"/>
                </a:solidFill>
              </a:rPr>
              <a:t>03/2019</a:t>
            </a:r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35"/>
          <p:cNvSpPr txBox="1">
            <a:spLocks noGrp="1"/>
          </p:cNvSpPr>
          <p:nvPr>
            <p:ph type="body" idx="1"/>
          </p:nvPr>
        </p:nvSpPr>
        <p:spPr>
          <a:xfrm>
            <a:off x="838199" y="1835784"/>
            <a:ext cx="10515601" cy="4636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sv-SE"/>
              <a:t>For the </a:t>
            </a:r>
            <a:r>
              <a:rPr lang="sv-SE" b="1"/>
              <a:t>SOLPV1 </a:t>
            </a:r>
            <a:r>
              <a:rPr lang="sv-SE"/>
              <a:t>technology, let’s define the following.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sv-SE" i="1"/>
              <a:t>CapitalCost: </a:t>
            </a:r>
            <a:r>
              <a:rPr lang="sv-SE"/>
              <a:t>Insert the following values.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sv-SE"/>
              <a:t>The </a:t>
            </a:r>
            <a:r>
              <a:rPr lang="sv-SE" i="1"/>
              <a:t>OperationalLife</a:t>
            </a:r>
            <a:r>
              <a:rPr lang="sv-SE"/>
              <a:t> can be set to </a:t>
            </a:r>
            <a:r>
              <a:rPr lang="sv-SE" b="1"/>
              <a:t>25 </a:t>
            </a:r>
            <a:r>
              <a:rPr lang="sv-SE"/>
              <a:t>years, while the CapacitytoActivityUnit can be set to </a:t>
            </a:r>
            <a:r>
              <a:rPr lang="sv-SE" b="1"/>
              <a:t>31.536</a:t>
            </a:r>
            <a:r>
              <a:rPr lang="sv-SE"/>
              <a:t>.</a:t>
            </a:r>
            <a:endParaRPr/>
          </a:p>
        </p:txBody>
      </p:sp>
      <p:sp>
        <p:nvSpPr>
          <p:cNvPr id="621" name="Google Shape;621;p35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7</a:t>
            </a:fld>
            <a:endParaRPr/>
          </a:p>
        </p:txBody>
      </p:sp>
      <p:graphicFrame>
        <p:nvGraphicFramePr>
          <p:cNvPr id="622" name="Google Shape;622;p35"/>
          <p:cNvGraphicFramePr/>
          <p:nvPr/>
        </p:nvGraphicFramePr>
        <p:xfrm>
          <a:off x="2729590" y="2959461"/>
          <a:ext cx="7021300" cy="1975800"/>
        </p:xfrm>
        <a:graphic>
          <a:graphicData uri="http://schemas.openxmlformats.org/drawingml/2006/table">
            <a:tbl>
              <a:tblPr>
                <a:noFill/>
                <a:tableStyleId>{F8D9BFFD-CBA3-412F-AA53-2597C49C5950}</a:tableStyleId>
              </a:tblPr>
              <a:tblGrid>
                <a:gridCol w="84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2014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2015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2016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2017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2018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2019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2020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2021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2022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/>
                        <a:t>SOLPV1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1700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1700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1700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1700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1700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1700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1600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1600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1600</a:t>
                      </a:r>
                      <a:endParaRPr/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2023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2024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2025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2026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2027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2028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2029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2030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2031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/>
                        <a:t>SOLPV1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1600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1600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1500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1500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1500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1500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1500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1400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1400</a:t>
                      </a:r>
                      <a:endParaRPr/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2032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2033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2034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2035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2036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2037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2038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2039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2040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/>
                        <a:t>SOLPV1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1400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1400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1400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1300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1300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1300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1300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1300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1200</a:t>
                      </a:r>
                      <a:endParaRPr/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23" name="Google Shape;623;p35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sv-SE"/>
              <a:t>Defining a solar technology</a:t>
            </a:r>
            <a:endParaRPr/>
          </a:p>
        </p:txBody>
      </p:sp>
      <p:sp>
        <p:nvSpPr>
          <p:cNvPr id="624" name="Google Shape;624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>
                <a:solidFill>
                  <a:srgbClr val="888888"/>
                </a:solidFill>
              </a:rPr>
              <a:t>03/2019</a:t>
            </a:r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6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8</a:t>
            </a:fld>
            <a:endParaRPr/>
          </a:p>
        </p:txBody>
      </p:sp>
      <p:graphicFrame>
        <p:nvGraphicFramePr>
          <p:cNvPr id="630" name="Google Shape;630;p36"/>
          <p:cNvGraphicFramePr/>
          <p:nvPr/>
        </p:nvGraphicFramePr>
        <p:xfrm>
          <a:off x="737507" y="1610150"/>
          <a:ext cx="10616293" cy="50307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31" name="Google Shape;631;p36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sv-SE"/>
              <a:t>Solar variability in generation</a:t>
            </a:r>
            <a:endParaRPr/>
          </a:p>
        </p:txBody>
      </p:sp>
      <p:sp>
        <p:nvSpPr>
          <p:cNvPr id="632" name="Google Shape;632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>
                <a:solidFill>
                  <a:srgbClr val="888888"/>
                </a:solidFill>
              </a:rPr>
              <a:t>03/2019</a:t>
            </a:r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37"/>
          <p:cNvSpPr txBox="1">
            <a:spLocks noGrp="1"/>
          </p:cNvSpPr>
          <p:nvPr>
            <p:ph type="body" idx="1"/>
          </p:nvPr>
        </p:nvSpPr>
        <p:spPr>
          <a:xfrm>
            <a:off x="838199" y="1689099"/>
            <a:ext cx="10515601" cy="4667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sv-SE"/>
              <a:t>For the </a:t>
            </a:r>
            <a:r>
              <a:rPr lang="sv-SE" b="1"/>
              <a:t>SOLPV1 </a:t>
            </a:r>
            <a:r>
              <a:rPr lang="sv-SE"/>
              <a:t>technology, let’s define the following.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sv-SE" i="1"/>
              <a:t>CapacityFactor: </a:t>
            </a:r>
            <a:r>
              <a:rPr lang="sv-SE"/>
              <a:t>Insert the following values for the entire modelling period. </a:t>
            </a:r>
            <a:endParaRPr/>
          </a:p>
        </p:txBody>
      </p:sp>
      <p:sp>
        <p:nvSpPr>
          <p:cNvPr id="638" name="Google Shape;638;p37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9</a:t>
            </a:fld>
            <a:endParaRPr/>
          </a:p>
        </p:txBody>
      </p:sp>
      <p:graphicFrame>
        <p:nvGraphicFramePr>
          <p:cNvPr id="639" name="Google Shape;639;p37"/>
          <p:cNvGraphicFramePr/>
          <p:nvPr/>
        </p:nvGraphicFramePr>
        <p:xfrm>
          <a:off x="4913538" y="2860357"/>
          <a:ext cx="2364900" cy="2068830"/>
        </p:xfrm>
        <a:graphic>
          <a:graphicData uri="http://schemas.openxmlformats.org/drawingml/2006/table">
            <a:tbl>
              <a:tblPr>
                <a:noFill/>
                <a:tableStyleId>{F8D9BFFD-CBA3-412F-AA53-2597C49C5950}</a:tableStyleId>
              </a:tblPr>
              <a:tblGrid>
                <a:gridCol w="118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200" b="1" u="none" strike="noStrike"/>
                        <a:t>ID</a:t>
                      </a:r>
                      <a:endParaRPr sz="22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200" u="none" strike="noStrike"/>
                        <a:t>0.3</a:t>
                      </a:r>
                      <a:endParaRPr sz="22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200" b="1" u="none" strike="noStrike"/>
                        <a:t>IN</a:t>
                      </a:r>
                      <a:endParaRPr sz="22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200" u="none" strike="noStrike"/>
                        <a:t>0</a:t>
                      </a:r>
                      <a:endParaRPr sz="22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200" b="1" u="none" strike="noStrike"/>
                        <a:t>SD</a:t>
                      </a:r>
                      <a:endParaRPr sz="22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200" u="none" strike="noStrike"/>
                        <a:t>0.4</a:t>
                      </a:r>
                      <a:endParaRPr sz="22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200" b="1" u="none" strike="noStrike"/>
                        <a:t>SN</a:t>
                      </a:r>
                      <a:endParaRPr sz="22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200" u="none" strike="noStrike"/>
                        <a:t>0</a:t>
                      </a:r>
                      <a:endParaRPr sz="22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200" b="1" u="none" strike="noStrike"/>
                        <a:t>WD</a:t>
                      </a:r>
                      <a:endParaRPr sz="22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200" u="none" strike="noStrike"/>
                        <a:t>0.25</a:t>
                      </a:r>
                      <a:endParaRPr sz="22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200" b="1" u="none" strike="noStrike"/>
                        <a:t>WN</a:t>
                      </a:r>
                      <a:endParaRPr sz="22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200" u="none" strike="noStrike"/>
                        <a:t>0</a:t>
                      </a:r>
                      <a:endParaRPr/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40" name="Google Shape;640;p37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sv-SE"/>
              <a:t>Solar variability in generation</a:t>
            </a:r>
            <a:endParaRPr/>
          </a:p>
        </p:txBody>
      </p:sp>
      <p:sp>
        <p:nvSpPr>
          <p:cNvPr id="641" name="Google Shape;641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>
                <a:solidFill>
                  <a:srgbClr val="888888"/>
                </a:solidFill>
              </a:rPr>
              <a:t>03/2019</a:t>
            </a:r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38"/>
          <p:cNvSpPr txBox="1"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648" name="Google Shape;648;p38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10</a:t>
            </a:fld>
            <a:endParaRPr/>
          </a:p>
        </p:txBody>
      </p:sp>
      <p:pic>
        <p:nvPicPr>
          <p:cNvPr id="649" name="Google Shape;649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607505"/>
            <a:ext cx="9996698" cy="511397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38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sv-SE"/>
              <a:t>Run the model and check the results!</a:t>
            </a:r>
            <a:endParaRPr/>
          </a:p>
        </p:txBody>
      </p:sp>
      <p:sp>
        <p:nvSpPr>
          <p:cNvPr id="651" name="Google Shape;651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>
                <a:solidFill>
                  <a:srgbClr val="888888"/>
                </a:solidFill>
              </a:rPr>
              <a:t>03/2019</a:t>
            </a:r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3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62228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0"/>
              <a:buNone/>
            </a:pPr>
            <a:r>
              <a:rPr lang="sv-SE" sz="2590"/>
              <a:t>We continue to create a TECHNOLOGY called </a:t>
            </a:r>
            <a:r>
              <a:rPr lang="sv-SE" sz="2590" b="1"/>
              <a:t>SOLPV2 </a:t>
            </a:r>
            <a:r>
              <a:rPr lang="sv-SE" sz="2590"/>
              <a:t>(i.e. solar PV rooftop with battery).</a:t>
            </a:r>
            <a:endParaRPr/>
          </a:p>
          <a:p>
            <a:pPr marL="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None/>
            </a:pPr>
            <a:endParaRPr sz="2590"/>
          </a:p>
          <a:p>
            <a:pPr marL="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None/>
            </a:pPr>
            <a:r>
              <a:rPr lang="sv-SE" sz="2590"/>
              <a:t>The following parameters are taken into account</a:t>
            </a:r>
            <a:endParaRPr/>
          </a:p>
          <a:p>
            <a:pPr marL="457200" lvl="0" indent="-4572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Char char="•"/>
            </a:pPr>
            <a:r>
              <a:rPr lang="sv-SE" sz="2590" i="1"/>
              <a:t>OutputActivityRatio: </a:t>
            </a:r>
            <a:r>
              <a:rPr lang="sv-SE" sz="2590"/>
              <a:t>defines the rate of fuel provided (i.e. Electricity)</a:t>
            </a:r>
            <a:endParaRPr/>
          </a:p>
          <a:p>
            <a:pPr marL="457200" lvl="0" indent="-4572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Char char="•"/>
            </a:pPr>
            <a:r>
              <a:rPr lang="sv-SE" sz="2590" i="1"/>
              <a:t>VariableCost</a:t>
            </a:r>
            <a:r>
              <a:rPr lang="sv-SE" sz="2590"/>
              <a:t>: defines the variable Operation &amp; Maintenance cost ($M/PJ or $/GJ)</a:t>
            </a:r>
            <a:endParaRPr/>
          </a:p>
          <a:p>
            <a:pPr marL="457200" lvl="0" indent="-4572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Char char="•"/>
            </a:pPr>
            <a:r>
              <a:rPr lang="sv-SE" sz="2590" i="1"/>
              <a:t>CapitalCost: </a:t>
            </a:r>
            <a:r>
              <a:rPr lang="sv-SE" sz="2590"/>
              <a:t>defines the overnight investment cost of the plant ($M/GW or $/kW)</a:t>
            </a:r>
            <a:endParaRPr/>
          </a:p>
          <a:p>
            <a:pPr marL="457200" lvl="0" indent="-4572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Char char="•"/>
            </a:pPr>
            <a:r>
              <a:rPr lang="sv-SE" sz="2590" i="1"/>
              <a:t>CapacityFactor</a:t>
            </a:r>
            <a:r>
              <a:rPr lang="sv-SE" sz="2590"/>
              <a:t>: represents the variability in generation at each point in time. </a:t>
            </a:r>
            <a:endParaRPr/>
          </a:p>
          <a:p>
            <a:pPr marL="457200" lvl="0" indent="-4572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Char char="•"/>
            </a:pPr>
            <a:r>
              <a:rPr lang="sv-SE" sz="2590" i="1"/>
              <a:t>OperationalLife</a:t>
            </a:r>
            <a:r>
              <a:rPr lang="sv-SE" sz="2590"/>
              <a:t>: defines the lifetime of the technology (in years)</a:t>
            </a:r>
            <a:endParaRPr/>
          </a:p>
          <a:p>
            <a:pPr marL="457200" lvl="0" indent="-45720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Char char="•"/>
            </a:pPr>
            <a:r>
              <a:rPr lang="sv-SE" sz="2590"/>
              <a:t>CapacitytoActivityUnit: defines how much activity can occur by one unit of capacity in one year (in this case we are using GW for capacity and PJ for energy, thus 1 GW can provide 31.536 PJ annually)</a:t>
            </a:r>
            <a:endParaRPr/>
          </a:p>
        </p:txBody>
      </p:sp>
      <p:sp>
        <p:nvSpPr>
          <p:cNvPr id="657" name="Google Shape;657;p39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11</a:t>
            </a:fld>
            <a:endParaRPr/>
          </a:p>
        </p:txBody>
      </p:sp>
      <p:sp>
        <p:nvSpPr>
          <p:cNvPr id="658" name="Google Shape;658;p39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sv-SE"/>
              <a:t>Defining a solar technology</a:t>
            </a:r>
            <a:endParaRPr/>
          </a:p>
        </p:txBody>
      </p:sp>
      <p:sp>
        <p:nvSpPr>
          <p:cNvPr id="659" name="Google Shape;659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>
                <a:solidFill>
                  <a:srgbClr val="888888"/>
                </a:solidFill>
              </a:rPr>
              <a:t>03/2019</a:t>
            </a:r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40"/>
          <p:cNvSpPr txBox="1">
            <a:spLocks noGrp="1"/>
          </p:cNvSpPr>
          <p:nvPr>
            <p:ph type="body" idx="1"/>
          </p:nvPr>
        </p:nvSpPr>
        <p:spPr>
          <a:xfrm>
            <a:off x="838200" y="1825624"/>
            <a:ext cx="10515600" cy="4738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sv-SE"/>
              <a:t>For the </a:t>
            </a:r>
            <a:r>
              <a:rPr lang="sv-SE" b="1"/>
              <a:t>SOLPV2 </a:t>
            </a:r>
            <a:r>
              <a:rPr lang="sv-SE"/>
              <a:t>technology, let’s define the following.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sv-SE" i="1"/>
              <a:t>OutputActivityRatio: </a:t>
            </a:r>
            <a:r>
              <a:rPr lang="sv-SE"/>
              <a:t>Choose the </a:t>
            </a:r>
            <a:r>
              <a:rPr lang="sv-SE" b="1"/>
              <a:t>FEL2</a:t>
            </a:r>
            <a:r>
              <a:rPr lang="sv-SE"/>
              <a:t> fuel and insert the following for mode of operation 1.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sv-SE"/>
              <a:t>Note that for RET, we don’t need to define an input fuel</a:t>
            </a:r>
            <a:endParaRPr i="1"/>
          </a:p>
        </p:txBody>
      </p:sp>
      <p:sp>
        <p:nvSpPr>
          <p:cNvPr id="665" name="Google Shape;665;p40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12</a:t>
            </a:fld>
            <a:endParaRPr/>
          </a:p>
        </p:txBody>
      </p:sp>
      <p:graphicFrame>
        <p:nvGraphicFramePr>
          <p:cNvPr id="666" name="Google Shape;666;p40"/>
          <p:cNvGraphicFramePr/>
          <p:nvPr/>
        </p:nvGraphicFramePr>
        <p:xfrm>
          <a:off x="2237011" y="3396341"/>
          <a:ext cx="6890750" cy="1975800"/>
        </p:xfrm>
        <a:graphic>
          <a:graphicData uri="http://schemas.openxmlformats.org/drawingml/2006/table">
            <a:tbl>
              <a:tblPr>
                <a:noFill/>
                <a:tableStyleId>{F8D9BFFD-CBA3-412F-AA53-2597C49C5950}</a:tableStyleId>
              </a:tblPr>
              <a:tblGrid>
                <a:gridCol w="689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2014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2015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2016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2017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2018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2019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2020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2021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2022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1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2023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2024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2025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2026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2027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2028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2029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2030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2031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1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2032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2033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2034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2035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2036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2037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2038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2039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2040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1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u="none" strike="noStrike"/>
                        <a:t>1</a:t>
                      </a: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67" name="Google Shape;667;p40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sv-SE"/>
              <a:t>Defining a solar technology</a:t>
            </a:r>
            <a:endParaRPr/>
          </a:p>
        </p:txBody>
      </p:sp>
      <p:sp>
        <p:nvSpPr>
          <p:cNvPr id="668" name="Google Shape;668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>
                <a:solidFill>
                  <a:srgbClr val="888888"/>
                </a:solidFill>
              </a:rPr>
              <a:t>03/2019</a:t>
            </a:r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41"/>
          <p:cNvSpPr txBox="1"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sv-SE"/>
              <a:t>For the </a:t>
            </a:r>
            <a:r>
              <a:rPr lang="sv-SE" b="1"/>
              <a:t>SOLPV2 </a:t>
            </a:r>
            <a:r>
              <a:rPr lang="sv-SE"/>
              <a:t>technology, let’s define the following.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sv-SE" i="1"/>
              <a:t>VariableCost: </a:t>
            </a:r>
            <a:r>
              <a:rPr lang="sv-SE"/>
              <a:t>Insert the following for mode of operation 1.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674" name="Google Shape;674;p41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13</a:t>
            </a:fld>
            <a:endParaRPr/>
          </a:p>
        </p:txBody>
      </p:sp>
      <p:graphicFrame>
        <p:nvGraphicFramePr>
          <p:cNvPr id="675" name="Google Shape;675;p41"/>
          <p:cNvGraphicFramePr/>
          <p:nvPr/>
        </p:nvGraphicFramePr>
        <p:xfrm>
          <a:off x="2237011" y="3396341"/>
          <a:ext cx="6890750" cy="1975800"/>
        </p:xfrm>
        <a:graphic>
          <a:graphicData uri="http://schemas.openxmlformats.org/drawingml/2006/table">
            <a:tbl>
              <a:tblPr>
                <a:noFill/>
                <a:tableStyleId>{F8D9BFFD-CBA3-412F-AA53-2597C49C5950}</a:tableStyleId>
              </a:tblPr>
              <a:tblGrid>
                <a:gridCol w="689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890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2014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2015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2016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2017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2018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2019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2020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2021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2022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1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3.5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3.5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3.5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3.5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3.5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3.5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3.5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3.5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3.5</a:t>
                      </a:r>
                      <a:endParaRPr/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2023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2024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2025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2026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2027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2028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2029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2030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2031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1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3.5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3.5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3.5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3.5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3.5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3.5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3.5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3.5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3.5</a:t>
                      </a:r>
                      <a:endParaRPr/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2032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2033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2034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2035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2036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2037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2038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2039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2040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1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3.5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3.5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3.5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3.5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3.5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3.5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3.5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3.5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3.5</a:t>
                      </a:r>
                      <a:endParaRPr/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76" name="Google Shape;676;p41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sv-SE"/>
              <a:t>Defining a solar technology</a:t>
            </a:r>
            <a:endParaRPr/>
          </a:p>
        </p:txBody>
      </p:sp>
      <p:sp>
        <p:nvSpPr>
          <p:cNvPr id="677" name="Google Shape;677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>
                <a:solidFill>
                  <a:srgbClr val="888888"/>
                </a:solidFill>
              </a:rPr>
              <a:t>03/2019</a:t>
            </a:r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42"/>
          <p:cNvSpPr txBox="1">
            <a:spLocks noGrp="1"/>
          </p:cNvSpPr>
          <p:nvPr>
            <p:ph type="body" idx="1"/>
          </p:nvPr>
        </p:nvSpPr>
        <p:spPr>
          <a:xfrm>
            <a:off x="838199" y="1825624"/>
            <a:ext cx="10515601" cy="5032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sv-SE"/>
              <a:t>For the </a:t>
            </a:r>
            <a:r>
              <a:rPr lang="sv-SE" b="1"/>
              <a:t>SOLPV2 </a:t>
            </a:r>
            <a:r>
              <a:rPr lang="sv-SE"/>
              <a:t>technology, let’s define the following.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sv-SE" i="1"/>
              <a:t>CapitalCost: </a:t>
            </a:r>
            <a:r>
              <a:rPr lang="sv-SE"/>
              <a:t>Insert the following values.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sv-SE"/>
              <a:t>The </a:t>
            </a:r>
            <a:r>
              <a:rPr lang="sv-SE" i="1"/>
              <a:t>OperationalLife</a:t>
            </a:r>
            <a:r>
              <a:rPr lang="sv-SE"/>
              <a:t> can be set to </a:t>
            </a:r>
            <a:r>
              <a:rPr lang="sv-SE" b="1"/>
              <a:t>25 </a:t>
            </a:r>
            <a:r>
              <a:rPr lang="sv-SE"/>
              <a:t>years, while the CapacitytoActivityUnit can be set to </a:t>
            </a:r>
            <a:r>
              <a:rPr lang="sv-SE" b="1"/>
              <a:t>31.536</a:t>
            </a:r>
            <a:r>
              <a:rPr lang="sv-SE"/>
              <a:t>.</a:t>
            </a:r>
            <a:endParaRPr/>
          </a:p>
        </p:txBody>
      </p:sp>
      <p:sp>
        <p:nvSpPr>
          <p:cNvPr id="683" name="Google Shape;683;p42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14</a:t>
            </a:fld>
            <a:endParaRPr/>
          </a:p>
        </p:txBody>
      </p:sp>
      <p:graphicFrame>
        <p:nvGraphicFramePr>
          <p:cNvPr id="684" name="Google Shape;684;p42"/>
          <p:cNvGraphicFramePr/>
          <p:nvPr/>
        </p:nvGraphicFramePr>
        <p:xfrm>
          <a:off x="2650669" y="2939141"/>
          <a:ext cx="7021300" cy="1975800"/>
        </p:xfrm>
        <a:graphic>
          <a:graphicData uri="http://schemas.openxmlformats.org/drawingml/2006/table">
            <a:tbl>
              <a:tblPr>
                <a:noFill/>
                <a:tableStyleId>{F8D9BFFD-CBA3-412F-AA53-2597C49C5950}</a:tableStyleId>
              </a:tblPr>
              <a:tblGrid>
                <a:gridCol w="84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2014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2015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2016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2017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2018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2019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2020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2021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2022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/>
                        <a:t>SOLPV2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2700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2700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2700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2700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2700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2700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2600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2600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2600</a:t>
                      </a:r>
                      <a:endParaRPr/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2023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2024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2025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2026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2027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2028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2029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2030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2031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/>
                        <a:t>SOLPV2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2600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2600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2500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2500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2500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2500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2500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2400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2400</a:t>
                      </a:r>
                      <a:endParaRPr/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2032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2033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2034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2035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2036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2037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2038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2039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 u="none" strike="noStrike"/>
                        <a:t>2040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1"/>
                        <a:t>SOLPV2</a:t>
                      </a:r>
                      <a:endParaRPr sz="18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2400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2400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2400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2300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2300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2300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2300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2300</a:t>
                      </a:r>
                      <a:endParaRPr/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 b="0" i="0" u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2200</a:t>
                      </a:r>
                      <a:endParaRPr/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85" name="Google Shape;685;p42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sv-SE"/>
              <a:t>Defining a solar technology</a:t>
            </a:r>
            <a:endParaRPr/>
          </a:p>
        </p:txBody>
      </p:sp>
      <p:sp>
        <p:nvSpPr>
          <p:cNvPr id="686" name="Google Shape;686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>
                <a:solidFill>
                  <a:srgbClr val="888888"/>
                </a:solidFill>
              </a:rPr>
              <a:t>03/2019</a:t>
            </a:r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43"/>
          <p:cNvSpPr txBox="1">
            <a:spLocks noGrp="1"/>
          </p:cNvSpPr>
          <p:nvPr>
            <p:ph type="body" idx="1"/>
          </p:nvPr>
        </p:nvSpPr>
        <p:spPr>
          <a:xfrm>
            <a:off x="838199" y="1825624"/>
            <a:ext cx="10515601" cy="5032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sv-SE"/>
              <a:t>For the </a:t>
            </a:r>
            <a:r>
              <a:rPr lang="sv-SE" b="1"/>
              <a:t>SOLPV2 </a:t>
            </a:r>
            <a:r>
              <a:rPr lang="sv-SE"/>
              <a:t>technology, let’s define the following.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sv-SE" i="1"/>
              <a:t>CapacityFactor: </a:t>
            </a:r>
            <a:r>
              <a:rPr lang="sv-SE"/>
              <a:t>Insert the following values for the entire modelling period.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sv-SE" sz="2400"/>
              <a:t>Note that we assume a fixed profile for discharging of the battery (i.e. simplification)</a:t>
            </a:r>
            <a:endParaRPr/>
          </a:p>
        </p:txBody>
      </p:sp>
      <p:sp>
        <p:nvSpPr>
          <p:cNvPr id="692" name="Google Shape;692;p43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15</a:t>
            </a:fld>
            <a:endParaRPr/>
          </a:p>
        </p:txBody>
      </p:sp>
      <p:graphicFrame>
        <p:nvGraphicFramePr>
          <p:cNvPr id="693" name="Google Shape;693;p43"/>
          <p:cNvGraphicFramePr/>
          <p:nvPr/>
        </p:nvGraphicFramePr>
        <p:xfrm>
          <a:off x="4913538" y="2900997"/>
          <a:ext cx="2364900" cy="2068830"/>
        </p:xfrm>
        <a:graphic>
          <a:graphicData uri="http://schemas.openxmlformats.org/drawingml/2006/table">
            <a:tbl>
              <a:tblPr>
                <a:noFill/>
                <a:tableStyleId>{F8D9BFFD-CBA3-412F-AA53-2597C49C5950}</a:tableStyleId>
              </a:tblPr>
              <a:tblGrid>
                <a:gridCol w="118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200" b="1" u="none" strike="noStrike"/>
                        <a:t>ID</a:t>
                      </a:r>
                      <a:endParaRPr sz="22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200" u="none" strike="noStrike"/>
                        <a:t>0.25</a:t>
                      </a:r>
                      <a:endParaRPr sz="22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200" b="1" u="none" strike="noStrike"/>
                        <a:t>IN</a:t>
                      </a:r>
                      <a:endParaRPr sz="22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200" u="none" strike="noStrike"/>
                        <a:t>0.12</a:t>
                      </a:r>
                      <a:endParaRPr sz="22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200" b="1" u="none" strike="noStrike"/>
                        <a:t>SD</a:t>
                      </a:r>
                      <a:endParaRPr sz="22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200" u="none" strike="noStrike"/>
                        <a:t>0.3</a:t>
                      </a:r>
                      <a:endParaRPr sz="22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200" b="1" u="none" strike="noStrike"/>
                        <a:t>SN</a:t>
                      </a:r>
                      <a:endParaRPr sz="22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200" u="none" strike="noStrike"/>
                        <a:t>0.15</a:t>
                      </a:r>
                      <a:endParaRPr sz="22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200" b="1" u="none" strike="noStrike"/>
                        <a:t>WD</a:t>
                      </a:r>
                      <a:endParaRPr sz="22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200" u="none" strike="noStrike"/>
                        <a:t>0.2</a:t>
                      </a:r>
                      <a:endParaRPr sz="2200" b="0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200" b="1" u="none" strike="noStrike"/>
                        <a:t>WN</a:t>
                      </a:r>
                      <a:endParaRPr sz="2200" b="1" i="0" u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2200" u="none" strike="noStrike"/>
                        <a:t>0.1</a:t>
                      </a:r>
                      <a:endParaRPr/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94" name="Google Shape;694;p43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sv-SE"/>
              <a:t>Defining a solar technology</a:t>
            </a:r>
            <a:endParaRPr/>
          </a:p>
        </p:txBody>
      </p:sp>
      <p:sp>
        <p:nvSpPr>
          <p:cNvPr id="695" name="Google Shape;695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>
                <a:solidFill>
                  <a:srgbClr val="888888"/>
                </a:solidFill>
              </a:rPr>
              <a:t>03/2019</a:t>
            </a:r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44"/>
          <p:cNvSpPr txBox="1"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701" name="Google Shape;701;p44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16</a:t>
            </a:fld>
            <a:endParaRPr/>
          </a:p>
        </p:txBody>
      </p:sp>
      <p:pic>
        <p:nvPicPr>
          <p:cNvPr id="702" name="Google Shape;702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8360" y="1499767"/>
            <a:ext cx="9978220" cy="5126345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44"/>
          <p:cNvSpPr txBox="1"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sv-SE"/>
              <a:t>Run the model and check the results!</a:t>
            </a:r>
            <a:endParaRPr/>
          </a:p>
        </p:txBody>
      </p:sp>
      <p:sp>
        <p:nvSpPr>
          <p:cNvPr id="704" name="Google Shape;704;p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>
                <a:solidFill>
                  <a:srgbClr val="888888"/>
                </a:solidFill>
              </a:rPr>
              <a:t>03/2019</a:t>
            </a:r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KTH-OpTIMUS-DFID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1141</Words>
  <Application>Microsoft Office PowerPoint</Application>
  <PresentationFormat>Widescreen</PresentationFormat>
  <Paragraphs>518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KTH-OpTIMUS-DFID</vt:lpstr>
      <vt:lpstr>Exercise - Learning Objectives</vt:lpstr>
      <vt:lpstr>PowerPoint Presentation</vt:lpstr>
      <vt:lpstr>PowerPoint Presentation</vt:lpstr>
      <vt:lpstr>Defining a solar technology</vt:lpstr>
      <vt:lpstr>Defining a solar technology</vt:lpstr>
      <vt:lpstr>Defining a solar technology</vt:lpstr>
      <vt:lpstr>Defining a solar technology</vt:lpstr>
      <vt:lpstr>Solar variability in generation</vt:lpstr>
      <vt:lpstr>Solar variability in generation</vt:lpstr>
      <vt:lpstr>Run the model and check the results!</vt:lpstr>
      <vt:lpstr>Defining a solar technology</vt:lpstr>
      <vt:lpstr>Defining a solar technology</vt:lpstr>
      <vt:lpstr>Defining a solar technology</vt:lpstr>
      <vt:lpstr>Defining a solar technology</vt:lpstr>
      <vt:lpstr>Defining a solar technology</vt:lpstr>
      <vt:lpstr>Run the model and check the results!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Exercise - Learning Objectives</dc:title>
  <dc:creator>Ioannis Pappis</dc:creator>
  <cp:lastModifiedBy>Francesco Gardumi</cp:lastModifiedBy>
  <cp:revision>1</cp:revision>
  <dcterms:created xsi:type="dcterms:W3CDTF">2017-06-07T13:22:49Z</dcterms:created>
  <dcterms:modified xsi:type="dcterms:W3CDTF">2020-04-03T11:42:54Z</dcterms:modified>
</cp:coreProperties>
</file>