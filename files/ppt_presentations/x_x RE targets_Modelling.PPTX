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5" roundtripDataSignature="AMtx7mie9cXJhKAcvk5aRGOnobtHDka+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EE1D51B-67C6-4659-ACAD-171406E61F87}">
  <a:tblStyle styleId="{1EE1D51B-67C6-4659-ACAD-171406E61F87}" styleName="Table_0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 Light"/>
          <a:ea typeface="Calibri Light"/>
          <a:cs typeface="Calibri Ligh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6540606-1534-434B-83BF-B05BCBD212AB}" styleName="Table_1">
    <a:wholeTbl>
      <a:tcTxStyle b="off" i="off">
        <a:font>
          <a:latin typeface="Calibri Light"/>
          <a:ea typeface="Calibri Light"/>
          <a:cs typeface="Calibri Light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60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0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0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28" name="Google Shape;28;p30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30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ngelog and attribution">
  <p:cSld name="Changelog and attribu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1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aphicFrame>
        <p:nvGraphicFramePr>
          <p:cNvPr id="32" name="Google Shape;32;p31"/>
          <p:cNvGraphicFramePr/>
          <p:nvPr/>
        </p:nvGraphicFramePr>
        <p:xfrm>
          <a:off x="838200" y="1616075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{1EE1D51B-67C6-4659-ACAD-171406E61F87}</a:tableStyleId>
              </a:tblPr>
              <a:tblGrid>
                <a:gridCol w="149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8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Date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Author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Reviewer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v-SE" sz="1800"/>
                        <a:t>Reviser </a:t>
                      </a: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3" name="Google Shape;33;p31"/>
          <p:cNvSpPr txBox="1"/>
          <p:nvPr/>
        </p:nvSpPr>
        <p:spPr>
          <a:xfrm>
            <a:off x="838200" y="5397500"/>
            <a:ext cx="10515600" cy="851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sv-SE" sz="1800" i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correctly reference this work, please use the following:</a:t>
            </a:r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35" name="Google Shape;35;p31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3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2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body" idx="2"/>
          </p:nvPr>
        </p:nvSpPr>
        <p:spPr>
          <a:xfrm>
            <a:off x="1935480" y="1051561"/>
            <a:ext cx="941832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42" name="Google Shape;42;p32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3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3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4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4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34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5"/>
          <p:cNvSpPr txBox="1">
            <a:spLocks noGrp="1"/>
          </p:cNvSpPr>
          <p:nvPr>
            <p:ph type="body" idx="1"/>
          </p:nvPr>
        </p:nvSpPr>
        <p:spPr>
          <a:xfrm>
            <a:off x="838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5"/>
          <p:cNvSpPr txBox="1">
            <a:spLocks noGrp="1"/>
          </p:cNvSpPr>
          <p:nvPr>
            <p:ph type="body" idx="2"/>
          </p:nvPr>
        </p:nvSpPr>
        <p:spPr>
          <a:xfrm>
            <a:off x="6172200" y="1618488"/>
            <a:ext cx="5181600" cy="457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title"/>
          </p:nvPr>
        </p:nvSpPr>
        <p:spPr>
          <a:xfrm>
            <a:off x="1935480" y="382053"/>
            <a:ext cx="9418320" cy="669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3"/>
          </p:nvPr>
        </p:nvSpPr>
        <p:spPr>
          <a:xfrm>
            <a:off x="1935480" y="1051561"/>
            <a:ext cx="9418320" cy="398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070"/>
              </a:buClr>
              <a:buSzPts val="2800"/>
              <a:buNone/>
              <a:defRPr b="1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body" idx="1"/>
          </p:nvPr>
        </p:nvSpPr>
        <p:spPr>
          <a:xfrm>
            <a:off x="839788" y="1618488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body" idx="2"/>
          </p:nvPr>
        </p:nvSpPr>
        <p:spPr>
          <a:xfrm>
            <a:off x="839788" y="2609087"/>
            <a:ext cx="5157787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36"/>
          <p:cNvSpPr txBox="1">
            <a:spLocks noGrp="1"/>
          </p:cNvSpPr>
          <p:nvPr>
            <p:ph type="body" idx="3"/>
          </p:nvPr>
        </p:nvSpPr>
        <p:spPr>
          <a:xfrm>
            <a:off x="6172200" y="1618488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body" idx="4"/>
          </p:nvPr>
        </p:nvSpPr>
        <p:spPr>
          <a:xfrm>
            <a:off x="6172200" y="2609087"/>
            <a:ext cx="5183188" cy="3580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title"/>
          </p:nvPr>
        </p:nvSpPr>
        <p:spPr>
          <a:xfrm>
            <a:off x="1935480" y="354521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72" name="Google Shape;72;p36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36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7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7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77" name="Google Shape;77;p37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37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8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9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4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9"/>
          <p:cNvSpPr txBox="1">
            <a:spLocks noGrp="1"/>
          </p:cNvSpPr>
          <p:nvPr>
            <p:ph type="body" idx="1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6" name="Google Shape;86;p39"/>
          <p:cNvSpPr txBox="1">
            <a:spLocks noGrp="1"/>
          </p:cNvSpPr>
          <p:nvPr>
            <p:ph type="body" idx="2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39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>
  <p:cSld name="Picture with Ca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0"/>
          <p:cNvSpPr txBox="1">
            <a:spLocks noGrp="1"/>
          </p:cNvSpPr>
          <p:nvPr>
            <p:ph type="title"/>
          </p:nvPr>
        </p:nvSpPr>
        <p:spPr>
          <a:xfrm>
            <a:off x="838200" y="1618488"/>
            <a:ext cx="3932237" cy="1426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0"/>
          <p:cNvSpPr>
            <a:spLocks noGrp="1"/>
          </p:cNvSpPr>
          <p:nvPr>
            <p:ph type="pic" idx="2"/>
          </p:nvPr>
        </p:nvSpPr>
        <p:spPr>
          <a:xfrm>
            <a:off x="5183188" y="1618488"/>
            <a:ext cx="6172200" cy="4515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40"/>
          <p:cNvSpPr txBox="1">
            <a:spLocks noGrp="1"/>
          </p:cNvSpPr>
          <p:nvPr>
            <p:ph type="body" idx="1"/>
          </p:nvPr>
        </p:nvSpPr>
        <p:spPr>
          <a:xfrm>
            <a:off x="839788" y="3162300"/>
            <a:ext cx="3932237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1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1"/>
          <p:cNvSpPr txBox="1">
            <a:spLocks noGrp="1"/>
          </p:cNvSpPr>
          <p:nvPr>
            <p:ph type="body" idx="1"/>
          </p:nvPr>
        </p:nvSpPr>
        <p:spPr>
          <a:xfrm rot="5400000">
            <a:off x="3820633" y="-1366284"/>
            <a:ext cx="4550734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41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01" name="Google Shape;101;p41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2" name="Google Shape;102;p41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42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07" name="Google Shape;107;p42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8" name="Google Shape;108;p42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3"/>
          <p:cNvSpPr txBox="1">
            <a:spLocks noGrp="1"/>
          </p:cNvSpPr>
          <p:nvPr>
            <p:ph type="ctrTitle"/>
          </p:nvPr>
        </p:nvSpPr>
        <p:spPr>
          <a:xfrm>
            <a:off x="838200" y="1858963"/>
            <a:ext cx="10515600" cy="1883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3"/>
          <p:cNvSpPr txBox="1">
            <a:spLocks noGrp="1"/>
          </p:cNvSpPr>
          <p:nvPr>
            <p:ph type="subTitle" idx="1"/>
          </p:nvPr>
        </p:nvSpPr>
        <p:spPr>
          <a:xfrm>
            <a:off x="1524000" y="3880884"/>
            <a:ext cx="9144000" cy="188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12" name="Google Shape;112;p43"/>
          <p:cNvSpPr>
            <a:spLocks noGrp="1"/>
          </p:cNvSpPr>
          <p:nvPr>
            <p:ph type="pic" idx="2"/>
          </p:nvPr>
        </p:nvSpPr>
        <p:spPr>
          <a:xfrm>
            <a:off x="11006139" y="6054725"/>
            <a:ext cx="347661" cy="223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43"/>
          <p:cNvSpPr txBox="1">
            <a:spLocks noGrp="1"/>
          </p:cNvSpPr>
          <p:nvPr>
            <p:ph type="body" idx="3"/>
          </p:nvPr>
        </p:nvSpPr>
        <p:spPr>
          <a:xfrm>
            <a:off x="838200" y="6054725"/>
            <a:ext cx="10515600" cy="202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1pPr>
            <a:lvl2pPr marL="914400" lvl="1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2pPr>
            <a:lvl3pPr marL="1371600" lvl="2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4pPr>
            <a:lvl5pPr marL="2286000" lvl="4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4" name="Google Shape;114;p4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v-SE"/>
              <a:t>‹#›</a:t>
            </a:fld>
            <a:endParaRPr/>
          </a:p>
        </p:txBody>
      </p:sp>
      <p:sp>
        <p:nvSpPr>
          <p:cNvPr id="115" name="Google Shape;115;p43"/>
          <p:cNvSpPr txBox="1">
            <a:spLocks noGrp="1"/>
          </p:cNvSpPr>
          <p:nvPr>
            <p:ph type="dt" idx="10"/>
          </p:nvPr>
        </p:nvSpPr>
        <p:spPr>
          <a:xfrm>
            <a:off x="838199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43"/>
          <p:cNvSpPr txBox="1">
            <a:spLocks noGrp="1"/>
          </p:cNvSpPr>
          <p:nvPr>
            <p:ph type="ftr" idx="11"/>
          </p:nvPr>
        </p:nvSpPr>
        <p:spPr>
          <a:xfrm>
            <a:off x="2525268" y="6356349"/>
            <a:ext cx="714146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69000">
              <a:srgbClr val="FDFDFD"/>
            </a:gs>
            <a:gs pos="100000">
              <a:srgbClr val="E7E6E6">
                <a:alpha val="49803"/>
              </a:srgbClr>
            </a:gs>
          </a:gsLst>
          <a:lin ang="18900000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1935480" y="364808"/>
            <a:ext cx="94183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2" name="Google Shape;12;p28"/>
          <p:cNvCxnSpPr/>
          <p:nvPr/>
        </p:nvCxnSpPr>
        <p:spPr>
          <a:xfrm>
            <a:off x="838200" y="6323905"/>
            <a:ext cx="10515600" cy="0"/>
          </a:xfrm>
          <a:prstGeom prst="straightConnector1">
            <a:avLst/>
          </a:prstGeom>
          <a:noFill/>
          <a:ln w="19050" cap="flat" cmpd="sng">
            <a:solidFill>
              <a:srgbClr val="D0CEC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3" name="Google Shape;13;p28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235457" y="331676"/>
            <a:ext cx="1118343" cy="438912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pic>
        <p:nvPicPr>
          <p:cNvPr id="14" name="Google Shape;14;p28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10504458" y="844271"/>
            <a:ext cx="580339" cy="64008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c.europa.eu/clima/policies/strategies/2020_e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"/>
          <p:cNvSpPr txBox="1">
            <a:spLocks noGrp="1"/>
          </p:cNvSpPr>
          <p:nvPr>
            <p:ph type="body" idx="1"/>
          </p:nvPr>
        </p:nvSpPr>
        <p:spPr>
          <a:xfrm>
            <a:off x="838200" y="1616149"/>
            <a:ext cx="10515600" cy="4550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sv-SE"/>
              <a:t>Commonly policies formulate targets as share that need to be achieved by a certain time. E.g.: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457200" lvl="0" indent="-4572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sv-SE"/>
              <a:t>EU: 2020 climate &amp; energy package</a:t>
            </a:r>
            <a:endParaRPr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sv-SE"/>
              <a:t>20% cut in greenhouse gas emissions (from 1990 levels)</a:t>
            </a:r>
            <a:endParaRPr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sv-SE"/>
              <a:t>20% of EU energy from renewables</a:t>
            </a:r>
            <a:endParaRPr/>
          </a:p>
          <a:p>
            <a:pPr marL="1143000" lvl="1" indent="-457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sv-SE"/>
              <a:t>20% improvement in energy efficiency</a:t>
            </a:r>
            <a:endParaRPr/>
          </a:p>
          <a:p>
            <a:pPr marL="1143000" lvl="1" indent="-3048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sv-SE" sz="1600" b="1"/>
              <a:t>Source:</a:t>
            </a:r>
            <a:r>
              <a:rPr lang="sv-SE" b="1"/>
              <a:t> </a:t>
            </a:r>
            <a:r>
              <a:rPr lang="sv-SE" sz="1600"/>
              <a:t>EC, </a:t>
            </a:r>
            <a:r>
              <a:rPr lang="sv-SE" sz="1600" u="sng">
                <a:solidFill>
                  <a:schemeClr val="hlink"/>
                </a:solidFill>
                <a:hlinkClick r:id="rId3"/>
              </a:rPr>
              <a:t>https://ec.europa.eu/clima/policies/strategies/2020_en</a:t>
            </a:r>
            <a:r>
              <a:rPr lang="sv-SE" sz="1600"/>
              <a:t>. Accessed: 2019-01-20</a:t>
            </a:r>
            <a:endParaRPr b="1"/>
          </a:p>
        </p:txBody>
      </p:sp>
      <p:sp>
        <p:nvSpPr>
          <p:cNvPr id="245" name="Google Shape;245;p3"/>
          <p:cNvSpPr txBox="1">
            <a:spLocks noGrp="1"/>
          </p:cNvSpPr>
          <p:nvPr>
            <p:ph type="title"/>
          </p:nvPr>
        </p:nvSpPr>
        <p:spPr>
          <a:xfrm>
            <a:off x="1935480" y="342841"/>
            <a:ext cx="9418320" cy="1116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sv-SE"/>
              <a:t>Need to represent RE targets in models</a:t>
            </a:r>
            <a:endParaRPr/>
          </a:p>
        </p:txBody>
      </p:sp>
      <p:sp>
        <p:nvSpPr>
          <p:cNvPr id="246" name="Google Shape;246;p3"/>
          <p:cNvSpPr txBox="1">
            <a:spLocks noGrp="1"/>
          </p:cNvSpPr>
          <p:nvPr>
            <p:ph type="sldNum" idx="12"/>
          </p:nvPr>
        </p:nvSpPr>
        <p:spPr>
          <a:xfrm>
            <a:off x="10165080" y="6356350"/>
            <a:ext cx="11887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sv-SE"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KTH-OpTIMUS-DFID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KTH-OpTIMUS-DFID</vt:lpstr>
      <vt:lpstr>Need to represent RE targets in models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Need to represent RE targets in models</dc:title>
  <dc:creator>Ioannis Pappis</dc:creator>
  <cp:lastModifiedBy>Francesco Gardumi</cp:lastModifiedBy>
  <cp:revision>1</cp:revision>
  <dcterms:created xsi:type="dcterms:W3CDTF">2017-06-07T13:22:49Z</dcterms:created>
  <dcterms:modified xsi:type="dcterms:W3CDTF">2020-04-03T11:16:15Z</dcterms:modified>
</cp:coreProperties>
</file>