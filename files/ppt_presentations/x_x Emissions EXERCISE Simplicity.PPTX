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0"/>
  </p:notesMasterIdLst>
  <p:handoutMasterIdLst>
    <p:handoutMasterId r:id="rId11"/>
  </p:handoutMasterIdLst>
  <p:sldIdLst>
    <p:sldId id="273" r:id="rId2"/>
    <p:sldId id="264" r:id="rId3"/>
    <p:sldId id="263" r:id="rId4"/>
    <p:sldId id="265" r:id="rId5"/>
    <p:sldId id="266" r:id="rId6"/>
    <p:sldId id="268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1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9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130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 of operation is not needed.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09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8686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74432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3200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74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3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46697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917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902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823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0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87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8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840125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an emission (e.g. CO</a:t>
            </a:r>
            <a:r>
              <a:rPr lang="en-US" baseline="-25000" dirty="0"/>
              <a:t>2</a:t>
            </a:r>
            <a:r>
              <a:rPr lang="en-US" dirty="0"/>
              <a:t>) to be considered in the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an emissions penalty (e.g. carbon tax)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emission ratios for each technology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Set up an emissions target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Account for emissions not captured by the defined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2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first step is to decide which type of emissions we are interested in. In this example, we will look at </a:t>
            </a:r>
            <a:r>
              <a:rPr lang="en-US" b="1" dirty="0"/>
              <a:t>carbon dioxide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new item in the set Emission called </a:t>
            </a:r>
            <a:r>
              <a:rPr lang="en-US" b="1" dirty="0"/>
              <a:t>CO2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61" t="15689" r="827" b="44707"/>
          <a:stretch/>
        </p:blipFill>
        <p:spPr>
          <a:xfrm>
            <a:off x="1758462" y="2578531"/>
            <a:ext cx="8651630" cy="2625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emissions</a:t>
            </a:r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55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following parameters can be taken into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EmissionActivityRatio</a:t>
            </a:r>
            <a:r>
              <a:rPr lang="en-US" i="1" dirty="0"/>
              <a:t>: </a:t>
            </a:r>
            <a:r>
              <a:rPr lang="en-US" dirty="0"/>
              <a:t>defines the rate of emission by each technology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EmissionsPenalty</a:t>
            </a:r>
            <a:r>
              <a:rPr lang="en-US" dirty="0"/>
              <a:t>: defines the cost per unit of emission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AnnualExogenousEmission</a:t>
            </a:r>
            <a:r>
              <a:rPr lang="en-US" dirty="0"/>
              <a:t>: defines annual level of emissions not captured by the considered system, but that should be accounted for.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AnnualEmissionLimit</a:t>
            </a:r>
            <a:r>
              <a:rPr lang="en-US" dirty="0"/>
              <a:t>: sets an annual upper limit on the total emissions of a particular pollutant.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ModelPeriodExogenousEmission</a:t>
            </a:r>
            <a:r>
              <a:rPr lang="en-US" dirty="0"/>
              <a:t>: defines model period level of emissions not captured by the considered system, but that should be accounted for.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ModelPeriodEmissionLimit</a:t>
            </a:r>
            <a:r>
              <a:rPr lang="en-US" dirty="0"/>
              <a:t>: sets an upper limit on the model period on the total emissions of a particular pollutant.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emissions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93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GasExtraction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 err="1"/>
              <a:t>GasImport</a:t>
            </a:r>
            <a:r>
              <a:rPr lang="en-US" b="1" dirty="0"/>
              <a:t> </a:t>
            </a:r>
            <a:r>
              <a:rPr lang="en-US" dirty="0"/>
              <a:t>technologies,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EmissionActivityRatio</a:t>
            </a:r>
            <a:r>
              <a:rPr lang="en-US" i="1" dirty="0"/>
              <a:t>: </a:t>
            </a:r>
            <a:r>
              <a:rPr lang="en-US" dirty="0"/>
              <a:t>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537803"/>
              </p:ext>
            </p:extLst>
          </p:nvPr>
        </p:nvGraphicFramePr>
        <p:xfrm>
          <a:off x="2503715" y="2790413"/>
          <a:ext cx="7053942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1742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Emission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60" y="3600143"/>
            <a:ext cx="7769340" cy="2332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emissions</a:t>
            </a:r>
            <a:endParaRPr lang="fr-FR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18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CO2 </a:t>
            </a:r>
            <a:r>
              <a:rPr lang="en-US" dirty="0"/>
              <a:t>emission,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EmissionsPenalty</a:t>
            </a:r>
            <a:r>
              <a:rPr lang="en-US" i="1" dirty="0"/>
              <a:t>: </a:t>
            </a:r>
            <a:r>
              <a:rPr lang="en-US" dirty="0"/>
              <a:t>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561636"/>
              </p:ext>
            </p:extLst>
          </p:nvPr>
        </p:nvGraphicFramePr>
        <p:xfrm>
          <a:off x="2650670" y="2709042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2333" t="30415" r="41533" b="34148"/>
          <a:stretch/>
        </p:blipFill>
        <p:spPr>
          <a:xfrm>
            <a:off x="4354888" y="3376707"/>
            <a:ext cx="6488958" cy="2803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emissions</a:t>
            </a:r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4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CO2 </a:t>
            </a:r>
            <a:r>
              <a:rPr lang="en-US" dirty="0"/>
              <a:t>emission,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AnnualEmissionLimit</a:t>
            </a:r>
            <a:r>
              <a:rPr lang="en-US" i="1" dirty="0"/>
              <a:t>: </a:t>
            </a:r>
            <a:r>
              <a:rPr lang="en-US" dirty="0"/>
              <a:t>Insert the following values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131085"/>
              </p:ext>
            </p:extLst>
          </p:nvPr>
        </p:nvGraphicFramePr>
        <p:xfrm>
          <a:off x="2650670" y="2801430"/>
          <a:ext cx="7070274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emissions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71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assume that there is exogenous </a:t>
            </a:r>
            <a:r>
              <a:rPr lang="en-US" b="1" dirty="0"/>
              <a:t>CO2</a:t>
            </a:r>
            <a:r>
              <a:rPr lang="en-US" dirty="0"/>
              <a:t> emissions in agriculture and forestry that need to be accounted for.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AnnualExogenousEmission</a:t>
            </a:r>
            <a:r>
              <a:rPr lang="en-US" i="1" dirty="0"/>
              <a:t>: </a:t>
            </a:r>
            <a:r>
              <a:rPr lang="en-US" dirty="0"/>
              <a:t>Insert the following values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CO2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Exogenous emissions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54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75" t="16087" r="1454" b="5652"/>
          <a:stretch/>
        </p:blipFill>
        <p:spPr>
          <a:xfrm>
            <a:off x="838200" y="1519870"/>
            <a:ext cx="10350500" cy="47326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5924" r="18939" b="5797"/>
          <a:stretch/>
        </p:blipFill>
        <p:spPr>
          <a:xfrm>
            <a:off x="4362450" y="2389175"/>
            <a:ext cx="6991350" cy="3872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model and check the results!</a:t>
            </a:r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83236" y="3244334"/>
            <a:ext cx="262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Changelog</a:t>
            </a:r>
            <a:r>
              <a:rPr lang="fr-FR" dirty="0"/>
              <a:t> and Attribution</a:t>
            </a:r>
          </a:p>
        </p:txBody>
      </p:sp>
    </p:spTree>
    <p:extLst>
      <p:ext uri="{BB962C8B-B14F-4D97-AF65-F5344CB8AC3E}">
        <p14:creationId xmlns:p14="http://schemas.microsoft.com/office/powerpoint/2010/main" val="4614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563</Words>
  <Application>Microsoft Office PowerPoint</Application>
  <PresentationFormat>Widescreen</PresentationFormat>
  <Paragraphs>285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KTH-OpTIMUS-DFID</vt:lpstr>
      <vt:lpstr>Exercise - Learning Objectives</vt:lpstr>
      <vt:lpstr>Defining emissions</vt:lpstr>
      <vt:lpstr>Representing emissions</vt:lpstr>
      <vt:lpstr>Representing emissions</vt:lpstr>
      <vt:lpstr>Representing emissions</vt:lpstr>
      <vt:lpstr>Representing emissions</vt:lpstr>
      <vt:lpstr>Exogenous emissions</vt:lpstr>
      <vt:lpstr>Run the model and check the results!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2020-04-02T17:06:10Z</dcterms:modified>
</cp:coreProperties>
</file>