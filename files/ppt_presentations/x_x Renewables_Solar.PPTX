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65" r:id="rId2"/>
    <p:sldId id="266" r:id="rId3"/>
    <p:sldId id="267" r:id="rId4"/>
    <p:sldId id="268" r:id="rId5"/>
    <p:sldId id="269" r:id="rId6"/>
    <p:sldId id="27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oundtripDataSignature="AMtx7miVP+v8xZticl0H1V5/aaqy0+lvsw==" r:id="rId55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ga Kubulens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206DAB-3555-4C46-A72D-0963664602DE}">
  <a:tblStyle styleId="{1A206DAB-3555-4C46-A72D-0963664602DE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2CE0E53-0276-4775-8B6D-C34DD5AAE4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D9BFFD-CBA3-412F-AA53-2597C49C5950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57" Type="http://schemas.openxmlformats.org/officeDocument/2006/relationships/presProps" Target="presProps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5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sv-SE"/>
              <a:t>Typical characteristics of solar power</a:t>
            </a:r>
            <a:endParaRPr/>
          </a:p>
        </p:txBody>
      </p:sp>
      <p:sp>
        <p:nvSpPr>
          <p:cNvPr id="316" name="Google Shape;31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sv-SE"/>
              <a:t>Image source: https://www.ucsusa.org/clean-energy/renewable-energy/concentrating-solar-power-plants#.WyLj3YozaUk</a:t>
            </a:r>
            <a:endParaRPr/>
          </a:p>
        </p:txBody>
      </p:sp>
      <p:sp>
        <p:nvSpPr>
          <p:cNvPr id="325" name="Google Shape;32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sv-SE"/>
              <a:t>Image source: http://www.incoreinsightlytics.com/selection-of-solar-power-developers-for-2000-mw-grid-connected-solar-pv-power-plants/</a:t>
            </a:r>
            <a:endParaRPr/>
          </a:p>
        </p:txBody>
      </p:sp>
      <p:sp>
        <p:nvSpPr>
          <p:cNvPr id="336" name="Google Shape;33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0" name="Google Shape;30;p4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oogle Shape;40;p5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Google Shape;41;p5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body" idx="2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3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5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5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5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5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7" name="Google Shape;87;p5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5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5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5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6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6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6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1" name="Google Shape;111;p6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6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6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47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4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5">
            <a:alphaModFix/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8200" y="456647"/>
            <a:ext cx="1294256" cy="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734628" y="364808"/>
            <a:ext cx="619172" cy="61917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47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Renewable energy source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Variable/Intermittent production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Seasonal/daily/hourly variations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O&amp;M costs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Moderate to high investment cost (but fast decrease)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Energy output is site specific</a:t>
            </a:r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  <p:sp>
        <p:nvSpPr>
          <p:cNvPr id="320" name="Google Shape;320;p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Solar power</a:t>
            </a:r>
            <a:endParaRPr/>
          </a:p>
        </p:txBody>
      </p:sp>
      <p:sp>
        <p:nvSpPr>
          <p:cNvPr id="321" name="Google Shape;32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  <p:sp>
        <p:nvSpPr>
          <p:cNvPr id="328" name="Google Shape;328;p10"/>
          <p:cNvSpPr txBox="1"/>
          <p:nvPr/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Solar-thermally generated electricity:</a:t>
            </a:r>
            <a:endParaRPr/>
          </a:p>
          <a:p>
            <a:pPr marL="1143000" marR="0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 collectors to gather solar radiation to produce temperatures high enough to drive steam turbines to produce electric power.</a:t>
            </a:r>
            <a:endParaRPr/>
          </a:p>
          <a:p>
            <a:pPr marL="685800" marR="0" lvl="1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sv-SE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example, a turbine fed from parabolic through collectors might take steam at 750 K and eject heat into atmosphere at 300 K will have a ideal thermal (Carnot) efficiency of about 60%. Realistic overall conversion (system) efficiency of about 35% is feasible.</a:t>
            </a:r>
            <a:endParaRPr/>
          </a:p>
        </p:txBody>
      </p:sp>
      <p:pic>
        <p:nvPicPr>
          <p:cNvPr id="329" name="Google Shape;329;p10" descr="concentrating solar power parabolic troughs"/>
          <p:cNvPicPr preferRelativeResize="0"/>
          <p:nvPr/>
        </p:nvPicPr>
        <p:blipFill rotWithShape="1">
          <a:blip r:embed="rId3">
            <a:alphaModFix/>
          </a:blip>
          <a:srcRect t="24819"/>
          <a:stretch/>
        </p:blipFill>
        <p:spPr>
          <a:xfrm>
            <a:off x="1181426" y="4370832"/>
            <a:ext cx="5212296" cy="179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0" descr="photo of concentrating solar power technologies offer utility-scale power production, as described in the article tex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6947" y="3904488"/>
            <a:ext cx="4616853" cy="207805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0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Solar power technologies</a:t>
            </a:r>
            <a:endParaRPr/>
          </a:p>
        </p:txBody>
      </p:sp>
      <p:sp>
        <p:nvSpPr>
          <p:cNvPr id="332" name="Google Shape;33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838200" y="2048256"/>
            <a:ext cx="6275832" cy="4118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Photovoltaic energy:</a:t>
            </a:r>
            <a:endParaRPr/>
          </a:p>
          <a:p>
            <a:pPr marL="1143000" marR="0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conversion of sun’s rays to electricity.</a:t>
            </a:r>
            <a:endParaRPr/>
          </a:p>
          <a:p>
            <a:pPr marL="685800" marR="0" lvl="1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sv-SE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efficiency (the ratio of the maximum power output and the incident radiation flux) of the best single-junction silicon solar cells has now reached 46% in laboratory test conditions.</a:t>
            </a:r>
            <a:endParaRPr/>
          </a:p>
          <a:p>
            <a:pPr marL="685800" marR="0" lvl="1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sv-SE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best silicon commercially available PV modules have an efficiency of about 20%.</a:t>
            </a:r>
            <a:endParaRPr/>
          </a:p>
        </p:txBody>
      </p:sp>
      <p:pic>
        <p:nvPicPr>
          <p:cNvPr id="340" name="Google Shape;340;p11" descr="http://www.incoreinsightlytics.com/wp-content/uploads/2017/04/Solar-PV-Plant-1-696x466.jpg"/>
          <p:cNvPicPr preferRelativeResize="0"/>
          <p:nvPr/>
        </p:nvPicPr>
        <p:blipFill rotWithShape="1">
          <a:blip r:embed="rId3">
            <a:alphaModFix/>
          </a:blip>
          <a:srcRect l="4551" t="5040" r="6622" b="616"/>
          <a:stretch/>
        </p:blipFill>
        <p:spPr>
          <a:xfrm>
            <a:off x="7381244" y="2048256"/>
            <a:ext cx="3631505" cy="258243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Solar power technologies</a:t>
            </a:r>
            <a:endParaRPr/>
          </a:p>
        </p:txBody>
      </p:sp>
      <p:sp>
        <p:nvSpPr>
          <p:cNvPr id="342" name="Google Shape;3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47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CSP may be built with energy/heat storage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PV also can have storage (batteries)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Modeling of the storage for solar energy depends on the design of the facility, can be done in two ways: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Adjusted production curves of solar plant (usually enough for long-term modelling)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sv-S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Storage as an additional element in the model (similar to hydro storage)</a:t>
            </a:r>
            <a:endParaRPr/>
          </a:p>
        </p:txBody>
      </p:sp>
      <p:sp>
        <p:nvSpPr>
          <p:cNvPr id="349" name="Google Shape;349;p1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  <p:sp>
        <p:nvSpPr>
          <p:cNvPr id="350" name="Google Shape;350;p12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Solar with storage</a:t>
            </a:r>
            <a:endParaRPr/>
          </a:p>
        </p:txBody>
      </p:sp>
      <p:sp>
        <p:nvSpPr>
          <p:cNvPr id="351" name="Google Shape;3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5</a:t>
            </a:fld>
            <a:endParaRPr/>
          </a:p>
        </p:txBody>
      </p:sp>
      <p:graphicFrame>
        <p:nvGraphicFramePr>
          <p:cNvPr id="358" name="Google Shape;358;p13"/>
          <p:cNvGraphicFramePr/>
          <p:nvPr/>
        </p:nvGraphicFramePr>
        <p:xfrm>
          <a:off x="6857432" y="1372628"/>
          <a:ext cx="4948475" cy="5730380"/>
        </p:xfrm>
        <a:graphic>
          <a:graphicData uri="http://schemas.openxmlformats.org/drawingml/2006/table">
            <a:tbl>
              <a:tblPr>
                <a:noFill/>
                <a:tableStyleId>{02CE0E53-0276-4775-8B6D-C34DD5AAE4E7}</a:tableStyleId>
              </a:tblPr>
              <a:tblGrid>
                <a:gridCol w="295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Key characteristics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i="1"/>
                        <a:t>Utility PV</a:t>
                      </a:r>
                      <a:endParaRPr sz="1800" b="1" i="1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Capital cost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1700-2100 $/kW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FOM cost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1% of capital / year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VOM cost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0 $/GJ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Life-cycle CO2 emission factor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12-25 gCO2/kWh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Avg. capacity factor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13%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Lifetime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25 years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i="1"/>
                        <a:t>CSP (no storage)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Capital cost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4500-8000 $/kW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FOM cost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25-35 $/kW/a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VOM cost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0 $/GJ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Efficiency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13-15%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Avg. capacity factor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25-28%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59" name="Google Shape;359;p13"/>
          <p:cNvSpPr txBox="1"/>
          <p:nvPr/>
        </p:nvSpPr>
        <p:spPr>
          <a:xfrm>
            <a:off x="838201" y="1652293"/>
            <a:ext cx="5786119" cy="4814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exact same (group of) solar power unit(s) is installed in different locations, the parameter that changes is the </a:t>
            </a: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CapacityFactor.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countries with good solar resources, PV has reached the so called </a:t>
            </a: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grid-parity</a:t>
            </a: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In others, not yet competitive. 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 diffused commercial PV techs are wafer-based crystalline silicon and thin film. The latter is cheap (the production chain is similar to the one of LCD) but less efficient.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CSP not yet competitive, but potential if market increases.</a:t>
            </a:r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PV and CSP</a:t>
            </a:r>
            <a:endParaRPr/>
          </a:p>
        </p:txBody>
      </p:sp>
      <p:sp>
        <p:nvSpPr>
          <p:cNvPr id="361" name="Google Shape;3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6</a:t>
            </a:fld>
            <a:endParaRPr/>
          </a:p>
        </p:txBody>
      </p:sp>
      <p:sp>
        <p:nvSpPr>
          <p:cNvPr id="367" name="Google Shape;367;p14"/>
          <p:cNvSpPr txBox="1"/>
          <p:nvPr/>
        </p:nvSpPr>
        <p:spPr>
          <a:xfrm>
            <a:off x="838201" y="1652293"/>
            <a:ext cx="5937503" cy="4814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exact same (group of) solar power unit(s) is installed in different locations, the parameter that changes is the </a:t>
            </a: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CapacityFactor</a:t>
            </a: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countries with good solar resources, PV has reached the so called </a:t>
            </a:r>
            <a:r>
              <a:rPr lang="sv-SE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grid-parity</a:t>
            </a: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In others, not yet competitive. 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 diffused commercial PV techs are wafer-based crystalline silicon and thin film. The latter is cheap (the production chain is similar to the one of LCD) but less efficient.</a:t>
            </a:r>
            <a:endParaRPr/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sv-SE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CSP not yet competitive, but potential if market increases.</a:t>
            </a:r>
            <a:endParaRPr/>
          </a:p>
        </p:txBody>
      </p:sp>
      <p:graphicFrame>
        <p:nvGraphicFramePr>
          <p:cNvPr id="368" name="Google Shape;368;p14"/>
          <p:cNvGraphicFramePr/>
          <p:nvPr/>
        </p:nvGraphicFramePr>
        <p:xfrm>
          <a:off x="7039779" y="1909557"/>
          <a:ext cx="4120000" cy="3505280"/>
        </p:xfrm>
        <a:graphic>
          <a:graphicData uri="http://schemas.openxmlformats.org/drawingml/2006/table">
            <a:tbl>
              <a:tblPr>
                <a:noFill/>
                <a:tableStyleId>{02CE0E53-0276-4775-8B6D-C34DD5AAE4E7}</a:tableStyleId>
              </a:tblPr>
              <a:tblGrid>
                <a:gridCol w="20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Key characteristics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i="1"/>
                        <a:t>Residential PV</a:t>
                      </a:r>
                      <a:endParaRPr sz="1800" b="1" i="1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Capital cost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2200-4500 $/kW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FOM cost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1% of capital/year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VOM cost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0 $/GJ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Life-cycle CO2 emission factor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12-25 gCO2/kWh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Avg. capacity factor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13%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Lifetime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25 years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9" name="Google Shape;369;p1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PV and CSP</a:t>
            </a:r>
            <a:endParaRPr/>
          </a:p>
        </p:txBody>
      </p:sp>
      <p:sp>
        <p:nvSpPr>
          <p:cNvPr id="370" name="Google Shape;37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Widescreen</PresentationFormat>
  <Paragraphs>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KTH-OpTIMUS-DFID</vt:lpstr>
      <vt:lpstr>Solar power</vt:lpstr>
      <vt:lpstr>Solar power technologies</vt:lpstr>
      <vt:lpstr>Solar power technologies</vt:lpstr>
      <vt:lpstr>Solar with storage</vt:lpstr>
      <vt:lpstr>PV and CSP</vt:lpstr>
      <vt:lpstr>PV and CSP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power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2020-04-03T11:39:53Z</dcterms:modified>
</cp:coreProperties>
</file>