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5"/>
  </p:notesMasterIdLst>
  <p:handoutMasterIdLst>
    <p:handoutMasterId r:id="rId6"/>
  </p:handoutMasterIdLst>
  <p:sldIdLst>
    <p:sldId id="274" r:id="rId2"/>
    <p:sldId id="275" r:id="rId3"/>
    <p:sldId id="27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nis Pappis" initials="IP" lastIdx="1" clrIdx="0">
    <p:extLst>
      <p:ext uri="{19B8F6BF-5375-455C-9EA6-DF929625EA0E}">
        <p15:presenceInfo xmlns:p15="http://schemas.microsoft.com/office/powerpoint/2012/main" userId="S-1-5-21-4270984560-2697355171-1338322823-71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9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130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https://www.epa.gov/sites/production/files/2015-07/documents/emission-factors_2014.pdf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11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04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8686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744322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32007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74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53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46697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917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9029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29823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0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87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58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840125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13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35223101630111X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Emissions can be </a:t>
            </a:r>
            <a:r>
              <a:rPr lang="en-US" b="1" dirty="0"/>
              <a:t>fuel-dependent</a:t>
            </a:r>
            <a:r>
              <a:rPr lang="en-US" dirty="0"/>
              <a:t>: CO</a:t>
            </a:r>
            <a:r>
              <a:rPr lang="en-US" baseline="-25000" dirty="0"/>
              <a:t>2</a:t>
            </a:r>
            <a:r>
              <a:rPr lang="en-US" dirty="0"/>
              <a:t> emissions can be estimated fairly accurately based on the total amount of fuels combusted and the averaged carbon content of the fuels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2940639" y="3110119"/>
            <a:ext cx="6310722" cy="1098612"/>
            <a:chOff x="1877786" y="3110119"/>
            <a:chExt cx="6310722" cy="1098612"/>
          </a:xfrm>
        </p:grpSpPr>
        <p:pic>
          <p:nvPicPr>
            <p:cNvPr id="7" name="Picture 6" descr="A picture containing truffle, indoor, sitting, rock&#10;&#10;Description generated with very high confidence">
              <a:extLst>
                <a:ext uri="{FF2B5EF4-FFF2-40B4-BE49-F238E27FC236}">
                  <a16:creationId xmlns:a16="http://schemas.microsoft.com/office/drawing/2014/main" id="{0EB35B95-BBB7-4441-B6E0-1331088AA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6328" y="3110119"/>
              <a:ext cx="1564126" cy="1098612"/>
            </a:xfrm>
            <a:prstGeom prst="rect">
              <a:avLst/>
            </a:prstGeom>
          </p:spPr>
        </p:pic>
        <p:sp>
          <p:nvSpPr>
            <p:cNvPr id="8" name="Arrow: Right 12">
              <a:extLst>
                <a:ext uri="{FF2B5EF4-FFF2-40B4-BE49-F238E27FC236}">
                  <a16:creationId xmlns:a16="http://schemas.microsoft.com/office/drawing/2014/main" id="{AD9A33F8-D9F2-4920-A9C4-8D181E9AA669}"/>
                </a:ext>
              </a:extLst>
            </p:cNvPr>
            <p:cNvSpPr/>
            <p:nvPr/>
          </p:nvSpPr>
          <p:spPr>
            <a:xfrm>
              <a:off x="5390454" y="3607869"/>
              <a:ext cx="776280" cy="11625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77786" y="3342831"/>
              <a:ext cx="20330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 </a:t>
              </a:r>
              <a:r>
                <a:rPr lang="en-US" sz="2000" b="1" dirty="0" err="1"/>
                <a:t>tonne</a:t>
              </a:r>
              <a:r>
                <a:rPr lang="en-US" sz="2000" b="1" dirty="0"/>
                <a:t> of bituminous coal</a:t>
              </a:r>
              <a:endParaRPr lang="sv-SE" sz="20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04853" y="3474759"/>
              <a:ext cx="18836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2,563 kg of CO</a:t>
              </a:r>
              <a:r>
                <a:rPr lang="en-US" sz="2000" b="1" baseline="-25000" dirty="0"/>
                <a:t>2</a:t>
              </a:r>
              <a:endParaRPr lang="sv-SE" sz="2000" b="1" baseline="-25000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703851" y="4355470"/>
            <a:ext cx="4906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Since 1 </a:t>
            </a:r>
            <a:r>
              <a:rPr lang="en-US" sz="2400" dirty="0" err="1">
                <a:solidFill>
                  <a:srgbClr val="FF0000"/>
                </a:solidFill>
              </a:rPr>
              <a:t>tonne</a:t>
            </a:r>
            <a:r>
              <a:rPr lang="en-US" sz="2400" dirty="0">
                <a:solidFill>
                  <a:srgbClr val="FF0000"/>
                </a:solidFill>
              </a:rPr>
              <a:t> of coal gives 28.5 GJ </a:t>
            </a:r>
            <a:endParaRPr lang="sv-SE" sz="2400" dirty="0">
              <a:solidFill>
                <a:srgbClr val="FF0000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993356" y="5091317"/>
            <a:ext cx="6009340" cy="1098612"/>
            <a:chOff x="1877786" y="3110119"/>
            <a:chExt cx="6009340" cy="1098612"/>
          </a:xfrm>
        </p:grpSpPr>
        <p:pic>
          <p:nvPicPr>
            <p:cNvPr id="14" name="Picture 13" descr="A picture containing truffle, indoor, sitting, rock&#10;&#10;Description generated with very high confidence">
              <a:extLst>
                <a:ext uri="{FF2B5EF4-FFF2-40B4-BE49-F238E27FC236}">
                  <a16:creationId xmlns:a16="http://schemas.microsoft.com/office/drawing/2014/main" id="{0EB35B95-BBB7-4441-B6E0-1331088AA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6328" y="3110119"/>
              <a:ext cx="1564126" cy="1098612"/>
            </a:xfrm>
            <a:prstGeom prst="rect">
              <a:avLst/>
            </a:prstGeom>
          </p:spPr>
        </p:pic>
        <p:sp>
          <p:nvSpPr>
            <p:cNvPr id="15" name="Arrow: Right 12">
              <a:extLst>
                <a:ext uri="{FF2B5EF4-FFF2-40B4-BE49-F238E27FC236}">
                  <a16:creationId xmlns:a16="http://schemas.microsoft.com/office/drawing/2014/main" id="{AD9A33F8-D9F2-4920-A9C4-8D181E9AA669}"/>
                </a:ext>
              </a:extLst>
            </p:cNvPr>
            <p:cNvSpPr/>
            <p:nvPr/>
          </p:nvSpPr>
          <p:spPr>
            <a:xfrm>
              <a:off x="5390454" y="3607869"/>
              <a:ext cx="776280" cy="11625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77786" y="3342831"/>
              <a:ext cx="20330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1 PJ of bituminous coal</a:t>
              </a:r>
              <a:endParaRPr lang="sv-SE" sz="2000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04853" y="3474759"/>
              <a:ext cx="15822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88 </a:t>
              </a:r>
              <a:r>
                <a:rPr lang="en-US" sz="2000" b="1" dirty="0" err="1"/>
                <a:t>kt</a:t>
              </a:r>
              <a:r>
                <a:rPr lang="en-US" sz="2000" b="1" dirty="0"/>
                <a:t> of CO</a:t>
              </a:r>
              <a:r>
                <a:rPr lang="en-US" sz="2000" b="1" baseline="-25000" dirty="0"/>
                <a:t>2</a:t>
              </a:r>
              <a:endParaRPr lang="sv-SE" sz="2000" b="1" baseline="-25000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 Representation </a:t>
            </a:r>
            <a:br>
              <a:rPr lang="en-US" dirty="0"/>
            </a:br>
            <a:r>
              <a:rPr lang="en-US" dirty="0"/>
              <a:t>in Energy System Models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42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ars.els-cdn.com/content/image/1-s2.0-S135223101630111X-fx1_lr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195" y="2860358"/>
            <a:ext cx="3999610" cy="343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Emissions can be</a:t>
            </a:r>
            <a:r>
              <a:rPr lang="el-GR" dirty="0"/>
              <a:t> </a:t>
            </a:r>
            <a:r>
              <a:rPr lang="en-US" b="1" dirty="0"/>
              <a:t>technology-dependent</a:t>
            </a:r>
            <a:r>
              <a:rPr lang="en-US" dirty="0"/>
              <a:t>: Emission factors for NO</a:t>
            </a:r>
            <a:r>
              <a:rPr lang="en-US" baseline="-25000" dirty="0"/>
              <a:t>x</a:t>
            </a:r>
            <a:r>
              <a:rPr lang="en-US" dirty="0"/>
              <a:t> depend on the combustion technology and operating conditions and vary significantly, both between individual installations and over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386595" y="4699635"/>
            <a:ext cx="2967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Source: </a:t>
            </a:r>
            <a:r>
              <a:rPr lang="sv-SE" dirty="0">
                <a:hlinkClick r:id="rId3"/>
              </a:rPr>
              <a:t>Ma et al., 2016. </a:t>
            </a:r>
            <a:r>
              <a:rPr lang="en-US" dirty="0">
                <a:hlinkClick r:id="rId3"/>
              </a:rPr>
              <a:t>Characteristics of NOx emission from Chinese coal-fired power plants equipped with new technologies</a:t>
            </a:r>
            <a:endParaRPr lang="sv-S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 Representation </a:t>
            </a:r>
            <a:br>
              <a:rPr lang="en-US" dirty="0"/>
            </a:br>
            <a:r>
              <a:rPr lang="en-US" dirty="0"/>
              <a:t>in Energy System Models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03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Emissions can be</a:t>
            </a:r>
            <a:r>
              <a:rPr lang="el-GR" dirty="0"/>
              <a:t> </a:t>
            </a:r>
            <a:r>
              <a:rPr lang="en-US" b="1" dirty="0"/>
              <a:t>technology-dependent</a:t>
            </a:r>
            <a:r>
              <a:rPr lang="en-US" dirty="0"/>
              <a:t>: Emission factors for NO</a:t>
            </a:r>
            <a:r>
              <a:rPr lang="en-US" baseline="-25000" dirty="0"/>
              <a:t>x</a:t>
            </a:r>
            <a:r>
              <a:rPr lang="en-US" dirty="0"/>
              <a:t> depend on the combustion technology and operating conditions and vary significantly, both between individual installations and over 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765090" y="3601332"/>
            <a:ext cx="666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Depending on the technology and existence of potential pollution abatement technologies</a:t>
            </a:r>
            <a:endParaRPr lang="sv-SE" sz="2400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223667" y="4611716"/>
            <a:ext cx="5744666" cy="1119414"/>
            <a:chOff x="2865935" y="5096305"/>
            <a:chExt cx="5744666" cy="1119414"/>
          </a:xfrm>
        </p:grpSpPr>
        <p:grpSp>
          <p:nvGrpSpPr>
            <p:cNvPr id="8" name="Group 7"/>
            <p:cNvGrpSpPr/>
            <p:nvPr/>
          </p:nvGrpSpPr>
          <p:grpSpPr>
            <a:xfrm>
              <a:off x="2865935" y="5324029"/>
              <a:ext cx="5744666" cy="707886"/>
              <a:chOff x="1877786" y="3342831"/>
              <a:chExt cx="5744666" cy="707886"/>
            </a:xfrm>
          </p:grpSpPr>
          <p:sp>
            <p:nvSpPr>
              <p:cNvPr id="10" name="Arrow: Right 12">
                <a:extLst>
                  <a:ext uri="{FF2B5EF4-FFF2-40B4-BE49-F238E27FC236}">
                    <a16:creationId xmlns:a16="http://schemas.microsoft.com/office/drawing/2014/main" id="{AD9A33F8-D9F2-4920-A9C4-8D181E9AA669}"/>
                  </a:ext>
                </a:extLst>
              </p:cNvPr>
              <p:cNvSpPr/>
              <p:nvPr/>
            </p:nvSpPr>
            <p:spPr>
              <a:xfrm>
                <a:off x="5390454" y="3607869"/>
                <a:ext cx="776280" cy="116257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877786" y="3342831"/>
                <a:ext cx="203306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1 kWh of electricity</a:t>
                </a:r>
                <a:endParaRPr lang="sv-SE" sz="2000" b="1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304854" y="3474759"/>
                <a:ext cx="13175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X</a:t>
                </a:r>
                <a:r>
                  <a:rPr lang="en-US" sz="2000" b="1" dirty="0"/>
                  <a:t> g of NO</a:t>
                </a:r>
                <a:r>
                  <a:rPr lang="en-US" sz="2000" b="1" baseline="-25000" dirty="0"/>
                  <a:t>x</a:t>
                </a:r>
                <a:endParaRPr lang="sv-SE" sz="2000" b="1" baseline="-25000" dirty="0"/>
              </a:p>
            </p:txBody>
          </p:sp>
        </p:grpSp>
        <p:pic>
          <p:nvPicPr>
            <p:cNvPr id="14" name="Picture 13" descr="A factory with tall grass&#10;&#10;Description generated with high confidence">
              <a:extLst>
                <a:ext uri="{FF2B5EF4-FFF2-40B4-BE49-F238E27FC236}">
                  <a16:creationId xmlns:a16="http://schemas.microsoft.com/office/drawing/2014/main" id="{FF7A50E7-E9BE-453B-9FB4-B80AC22A6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2051" y="5096305"/>
              <a:ext cx="1988433" cy="1119414"/>
            </a:xfrm>
            <a:prstGeom prst="rect">
              <a:avLst/>
            </a:prstGeom>
          </p:spPr>
        </p:pic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Emission Representation </a:t>
            </a:r>
            <a:br>
              <a:rPr lang="en-US" dirty="0"/>
            </a:br>
            <a:r>
              <a:rPr lang="en-US" dirty="0"/>
              <a:t>in Energy System Models</a:t>
            </a:r>
            <a:endParaRPr lang="fr-F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45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7144</TotalTime>
  <Words>181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KTH-OpTIMUS-DFID</vt:lpstr>
      <vt:lpstr>Emission Representation  in Energy System Models</vt:lpstr>
      <vt:lpstr>Emission Representation  in Energy System Models</vt:lpstr>
      <vt:lpstr>Emission Representation  in Energy System Models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2020-04-02T17:05:06Z</dcterms:modified>
</cp:coreProperties>
</file>